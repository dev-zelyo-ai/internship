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Merriweather" charset="1" panose="00000500000000000000"/>
      <p:regular r:id="rId25"/>
    </p:embeddedFont>
    <p:embeddedFont>
      <p:font typeface="Merriweather Bold Italics" charset="1" panose="00000800000000000000"/>
      <p:regular r:id="rId26"/>
    </p:embeddedFont>
    <p:embeddedFont>
      <p:font typeface="Impact" charset="1" panose="020B0806030902050204"/>
      <p:regular r:id="rId27"/>
    </p:embeddedFont>
    <p:embeddedFont>
      <p:font typeface="Merriweather Bold" charset="1" panose="00000800000000000000"/>
      <p:regular r:id="rId31"/>
    </p:embeddedFont>
    <p:embeddedFont>
      <p:font typeface="Merriweather Italics" charset="1" panose="00000500000000000000"/>
      <p:regular r:id="rId36"/>
    </p:embeddedFont>
    <p:embeddedFont>
      <p:font typeface="Times New Roman MT Condensed Italics" charset="1" panose="02030506070405090303"/>
      <p:regular r:id="rId44"/>
    </p:embeddedFont>
    <p:embeddedFont>
      <p:font typeface="Shrikhand" charset="1" panose="02000000000000000000"/>
      <p:regular r:id="rId45"/>
    </p:embeddedFont>
    <p:embeddedFont>
      <p:font typeface="Times New Roman MT Condensed" charset="1" panose="02030506070405020303"/>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notesMasters/notesMaster1.xml" Type="http://schemas.openxmlformats.org/officeDocument/2006/relationships/notesMaster"/><Relationship Id="rId29" Target="theme/theme2.xml" Type="http://schemas.openxmlformats.org/officeDocument/2006/relationships/theme"/><Relationship Id="rId3" Target="viewProps.xml" Type="http://schemas.openxmlformats.org/officeDocument/2006/relationships/viewProps"/><Relationship Id="rId30" Target="notesSlides/notesSlide1.xml" Type="http://schemas.openxmlformats.org/officeDocument/2006/relationships/notesSlide"/><Relationship Id="rId31" Target="fonts/font31.fntdata" Type="http://schemas.openxmlformats.org/officeDocument/2006/relationships/font"/><Relationship Id="rId32" Target="notesSlides/notesSlide2.xml" Type="http://schemas.openxmlformats.org/officeDocument/2006/relationships/notesSlide"/><Relationship Id="rId33" Target="notesSlides/notesSlide3.xml" Type="http://schemas.openxmlformats.org/officeDocument/2006/relationships/notesSlide"/><Relationship Id="rId34" Target="notesSlides/notesSlide4.xml" Type="http://schemas.openxmlformats.org/officeDocument/2006/relationships/notesSlide"/><Relationship Id="rId35" Target="notesSlides/notesSlide5.xml" Type="http://schemas.openxmlformats.org/officeDocument/2006/relationships/notesSlide"/><Relationship Id="rId36" Target="fonts/font36.fntdata" Type="http://schemas.openxmlformats.org/officeDocument/2006/relationships/font"/><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theme/theme1.xml" Type="http://schemas.openxmlformats.org/officeDocument/2006/relationships/theme"/><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About Rescape</a:t>
            </a:r>
          </a:p>
          <a:p>
            <a:r>
              <a:rPr lang="en-US"/>
              <a:t>Rescape Technologies, established in 2021 in Goa, India, is positioned as a fintech infrastructure company focused on bridging traditional finance with cutting-edge blockchain and AI technologies. Their vision centers on building a more secure, efficient, and accessible financial ecosystem</a:t>
            </a:r>
          </a:p>
          <a:p>
            <a:r>
              <a:rPr lang="en-US"/>
              <a:t/>
            </a:r>
          </a:p>
          <a:p>
            <a:r>
              <a:rPr lang="en-US"/>
              <a:t>The Four Core Innovation Areas:</a:t>
            </a:r>
          </a:p>
          <a:p>
            <a:r>
              <a:rPr lang="en-US"/>
              <a:t>1. Blockchain Integration APIs</a:t>
            </a:r>
          </a:p>
          <a:p>
            <a:r>
              <a:rPr lang="en-US"/>
              <a:t>These serve as the critical bridge connecting legacy banking systems with modern blockchain networks. Think of them as translators that allow traditional banks to communicate with cryptocurrency networks seamlessly. Real-world applications include JPMorgan's JPM Coin for institutional transfers and HSBC's blockchain-based trade finance solutions.</a:t>
            </a:r>
          </a:p>
          <a:p>
            <a:r>
              <a:rPr lang="en-US"/>
              <a:t/>
            </a:r>
          </a:p>
          <a:p>
            <a:r>
              <a:rPr lang="en-US"/>
              <a:t>2. Blockchain On-Ramping/Off-Ramping</a:t>
            </a:r>
          </a:p>
          <a:p>
            <a:r>
              <a:rPr lang="en-US"/>
              <a:t>This represents the entry and exit points for cryptocurrency adoption. On-ramping converts traditional currency (like rupees or dollars) into cryptocurrency, while off-ramping does the reverse. Companies like Coinbase process over 150 cryptocurrencies across 100+ countries, while Indian platforms like OneSafe offer zero gas fees for local users.</a:t>
            </a:r>
          </a:p>
          <a:p>
            <a:r>
              <a:rPr lang="en-US"/>
              <a:t/>
            </a:r>
          </a:p>
          <a:p>
            <a:r>
              <a:rPr lang="en-US"/>
              <a:t>3. AI-Powered Fraud Detection</a:t>
            </a:r>
          </a:p>
          <a:p>
            <a:r>
              <a:rPr lang="en-US"/>
              <a:t>Modern fraud detection has evolved from simple rule-based systems to sophisticated AI models that can analyze millions of transactions in real-time. These systems can reduce fraud losses by up to 50% according to McKinsey research, while processing transactions in under 100 milliseconds compared to traditional methods that take minutes or hours.</a:t>
            </a:r>
          </a:p>
          <a:p>
            <a:r>
              <a:rPr lang="en-US"/>
              <a:t/>
            </a:r>
          </a:p>
          <a:p>
            <a:r>
              <a:rPr lang="en-US"/>
              <a:t>4. AI-Driven Financial Forensic Analysis</a:t>
            </a:r>
          </a:p>
          <a:p>
            <a:r>
              <a:rPr lang="en-US"/>
              <a:t>This involves using machine learning and blockchain analytics to investigate financial crimes. Tools can trace cryptocurrency transactions across multiple blockchains, identify money laundering patterns, and provide evidence for legal proceedings. Companies like Chainalysis and Elliptic have helped law enforcement recover billions in stolen cryptocurrency.</a:t>
            </a:r>
          </a:p>
          <a:p>
            <a:r>
              <a:rPr lang="en-US"/>
              <a:t/>
            </a:r>
          </a:p>
          <a:p>
            <a:r>
              <a:rPr lang="en-US"/>
              <a:t>Integration and Business Value</a:t>
            </a:r>
          </a:p>
          <a:p>
            <a:r>
              <a:rPr lang="en-US"/>
              <a:t>The power of Rescape's approach lies in combining these four technologies into a unified platform. This creates synergies where blockchain APIs provide the infrastructure, on/off-ramping enables accessibility, AI fraud detection ensures security, and forensic analysis maintains compliance - all working together to create a comprehensive fintech ecosystem.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Traditional Banking Pain Points (Explained)</a:t>
            </a:r>
          </a:p>
          <a:p>
            <a:r>
              <a:rPr lang="en-US"/>
              <a:t>1. Long Wait Times</a:t>
            </a:r>
          </a:p>
          <a:p>
            <a:r>
              <a:rPr lang="en-US"/>
              <a:t>Branch visits often involve waiting in queues, waiting for staff, or waiting for manual approvals.</a:t>
            </a:r>
          </a:p>
          <a:p>
            <a:r>
              <a:rPr lang="en-US"/>
              <a:t/>
            </a:r>
          </a:p>
          <a:p>
            <a:r>
              <a:rPr lang="en-US"/>
              <a:t>Example: Opening a new account or processing a loan in a legacy bank may take several days of in-person visits and follow-ups, resulting in customer frustration.</a:t>
            </a:r>
          </a:p>
          <a:p>
            <a:r>
              <a:rPr lang="en-US"/>
              <a:t/>
            </a:r>
          </a:p>
          <a:p>
            <a:r>
              <a:rPr lang="en-US"/>
              <a:t>2. Paperwork Overload</a:t>
            </a:r>
          </a:p>
          <a:p>
            <a:r>
              <a:rPr lang="en-US"/>
              <a:t>Traditional banks rely heavily on stacks of physical forms, signatures, and document verification for even basic services.</a:t>
            </a:r>
          </a:p>
          <a:p>
            <a:r>
              <a:rPr lang="en-US"/>
              <a:t/>
            </a:r>
          </a:p>
          <a:p>
            <a:r>
              <a:rPr lang="en-US"/>
              <a:t>Example: Applying for a credit card, changing an address, or initiating a large transfer may require filling out multiple paper forms and visiting a branch repeatedly, making the experience tedious.</a:t>
            </a:r>
          </a:p>
          <a:p>
            <a:r>
              <a:rPr lang="en-US"/>
              <a:t/>
            </a:r>
          </a:p>
          <a:p>
            <a:r>
              <a:rPr lang="en-US"/>
              <a:t>3. Geographic Dependence</a:t>
            </a:r>
          </a:p>
          <a:p>
            <a:r>
              <a:rPr lang="en-US"/>
              <a:t>Services or certain facilities are only available locally or at specific branches. Customers must visit a physical location for key transactions.</a:t>
            </a:r>
          </a:p>
          <a:p>
            <a:r>
              <a:rPr lang="en-US"/>
              <a:t/>
            </a:r>
          </a:p>
          <a:p>
            <a:r>
              <a:rPr lang="en-US"/>
              <a:t>Example: Moving to a new city might require closing and opening accounts or visiting a branch for signature verification; rural and remote customers are especially affected by limited accessibility.</a:t>
            </a:r>
          </a:p>
          <a:p>
            <a:r>
              <a:rPr lang="en-US"/>
              <a:t/>
            </a:r>
          </a:p>
          <a:p>
            <a:r>
              <a:rPr lang="en-US"/>
              <a:t>4. Location Dependency</a:t>
            </a:r>
          </a:p>
          <a:p>
            <a:r>
              <a:rPr lang="en-US"/>
              <a:t>Physical presence is mandatory for major transactions (KYC, notarization, or in-person problem resolution).</a:t>
            </a:r>
          </a:p>
          <a:p>
            <a:r>
              <a:rPr lang="en-US"/>
              <a:t/>
            </a:r>
          </a:p>
          <a:p>
            <a:r>
              <a:rPr lang="en-US"/>
              <a:t>Example: If an account is frozen or flagged, the resolution may require appearing at a branch, regardless of urgency or distance, delaying access to money.</a:t>
            </a:r>
          </a:p>
          <a:p>
            <a:r>
              <a:rPr lang="en-US"/>
              <a:t/>
            </a:r>
          </a:p>
          <a:p>
            <a:r>
              <a:rPr lang="en-US"/>
              <a:t>5. Limited Banking Hours</a:t>
            </a:r>
          </a:p>
          <a:p>
            <a:r>
              <a:rPr lang="en-US"/>
              <a:t>Legacy banking operates only during business hours, with no support on weekends or holidays.</a:t>
            </a:r>
          </a:p>
          <a:p>
            <a:r>
              <a:rPr lang="en-US"/>
              <a:t/>
            </a:r>
          </a:p>
          <a:p>
            <a:r>
              <a:rPr lang="en-US"/>
              <a:t>Example: Urgent fund transfers, stop payments, or loan processing are halted after hours or during holidays, creating bottlenecks for businesses and individuals who need flexible access.</a:t>
            </a:r>
          </a:p>
          <a:p>
            <a:r>
              <a:rPr lang="en-US"/>
              <a:t/>
            </a:r>
          </a:p>
          <a:p>
            <a:r>
              <a:rPr lang="en-US"/>
              <a:t>6. High Fees</a:t>
            </a:r>
          </a:p>
          <a:p>
            <a:r>
              <a:rPr lang="en-US"/>
              <a:t>Traditional banks often charge various maintenance, transfer, and miscellaneous fees, many of which are hidden or poorly disclosed.</a:t>
            </a:r>
          </a:p>
          <a:p>
            <a:r>
              <a:rPr lang="en-US"/>
              <a:t/>
            </a:r>
          </a:p>
          <a:p>
            <a:r>
              <a:rPr lang="en-US"/>
              <a:t>Example: ATM withdrawal charges, account maintenance, monthly minimum balance penalties, and international transfer fees can add substantial cost for everyday users.</a:t>
            </a:r>
          </a:p>
          <a:p>
            <a:r>
              <a:rPr lang="en-US"/>
              <a:t/>
            </a:r>
          </a:p>
          <a:p>
            <a:r>
              <a:rPr lang="en-US"/>
              <a:t>Engaging Questions for the Audience</a:t>
            </a:r>
          </a:p>
          <a:p>
            <a:r>
              <a:rPr lang="en-US"/>
              <a:t>“How many have waited in line or filled out endless forms to accomplish something that should be instant?”</a:t>
            </a:r>
          </a:p>
          <a:p>
            <a:r>
              <a:rPr lang="en-US"/>
              <a:t/>
            </a:r>
          </a:p>
          <a:p>
            <a:r>
              <a:rPr lang="en-US"/>
              <a:t>“Should managing money in 2025 take longer than sending a WhatsApp message or a UPI payment?”</a:t>
            </a:r>
          </a:p>
          <a:p>
            <a:r>
              <a:rPr lang="en-US"/>
              <a:t/>
            </a:r>
          </a:p>
          <a:p>
            <a:r>
              <a:rPr lang="en-US"/>
              <a:t>Example: Real-World Scenario</a:t>
            </a:r>
          </a:p>
          <a:p>
            <a:r>
              <a:rPr lang="en-US"/>
              <a:t>A user applies for a savings account at a neo bank:</a:t>
            </a:r>
          </a:p>
          <a:p>
            <a:r>
              <a:rPr lang="en-US"/>
              <a:t/>
            </a:r>
          </a:p>
          <a:p>
            <a:r>
              <a:rPr lang="en-US"/>
              <a:t>They complete onboarding and e-KYC through an app in 10 minutes.</a:t>
            </a:r>
          </a:p>
          <a:p>
            <a:r>
              <a:rPr lang="en-US"/>
              <a:t/>
            </a:r>
          </a:p>
          <a:p>
            <a:r>
              <a:rPr lang="en-US"/>
              <a:t>No paperwork, no need to visit any branch.</a:t>
            </a:r>
          </a:p>
          <a:p>
            <a:r>
              <a:rPr lang="en-US"/>
              <a:t/>
            </a:r>
          </a:p>
          <a:p>
            <a:r>
              <a:rPr lang="en-US"/>
              <a:t>The account is ready instantly, with debit card integrated into their mobile wallet.</a:t>
            </a:r>
          </a:p>
          <a:p>
            <a:r>
              <a:rPr lang="en-US"/>
              <a:t/>
            </a:r>
          </a:p>
          <a:p>
            <a:r>
              <a:rPr lang="en-US"/>
              <a:t>They get instant transaction alerts, customizable spending limits, bill payments, and can chat with support 24/7 from home.</a:t>
            </a:r>
          </a:p>
          <a:p>
            <a:r>
              <a:rPr lang="en-US"/>
              <a:t/>
            </a:r>
          </a:p>
          <a:p>
            <a:r>
              <a:rPr lang="en-US"/>
              <a:t>In contrast, a traditional bank customer spends hours filling forms, producing documents in person, and waiting days for activation.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Traditional Banking System (Left Side)</a:t>
            </a:r>
          </a:p>
          <a:p>
            <a:r>
              <a:rPr lang="en-US"/>
              <a:t>User Experience Flow:</a:t>
            </a:r>
          </a:p>
          <a:p>
            <a:r>
              <a:rPr lang="en-US"/>
              <a:t>User Initiates the Process:</a:t>
            </a:r>
          </a:p>
          <a:p>
            <a:r>
              <a:rPr lang="en-US"/>
              <a:t/>
            </a:r>
          </a:p>
          <a:p>
            <a:r>
              <a:rPr lang="en-US"/>
              <a:t>Customers must go to a bank branch to open an account, apply for a loan, or conduct other financial operations.</a:t>
            </a:r>
          </a:p>
          <a:p>
            <a:r>
              <a:rPr lang="en-US"/>
              <a:t/>
            </a:r>
          </a:p>
          <a:p>
            <a:r>
              <a:rPr lang="en-US"/>
              <a:t>This often involves waiting in line and working around bank operating hours.</a:t>
            </a:r>
          </a:p>
          <a:p>
            <a:r>
              <a:rPr lang="en-US"/>
              <a:t/>
            </a:r>
          </a:p>
          <a:p>
            <a:r>
              <a:rPr lang="en-US"/>
              <a:t>In-Person Visit Required:</a:t>
            </a:r>
          </a:p>
          <a:p>
            <a:r>
              <a:rPr lang="en-US"/>
              <a:t/>
            </a:r>
          </a:p>
          <a:p>
            <a:r>
              <a:rPr lang="en-US"/>
              <a:t>Physical presence is mandatory; identity verification, paperwork, and in-person signatures are part of the onboarding or transaction process.</a:t>
            </a:r>
          </a:p>
          <a:p>
            <a:r>
              <a:rPr lang="en-US"/>
              <a:t/>
            </a:r>
          </a:p>
          <a:p>
            <a:r>
              <a:rPr lang="en-US"/>
              <a:t>Legacy Core Banking System:</a:t>
            </a:r>
          </a:p>
          <a:p>
            <a:r>
              <a:rPr lang="en-US"/>
              <a:t/>
            </a:r>
          </a:p>
          <a:p>
            <a:r>
              <a:rPr lang="en-US"/>
              <a:t>Staff process documentation by hand: reviewing physical forms, manually entering data into the bank’s legacy IT systems.</a:t>
            </a:r>
          </a:p>
          <a:p>
            <a:r>
              <a:rPr lang="en-US"/>
              <a:t/>
            </a:r>
          </a:p>
          <a:p>
            <a:r>
              <a:rPr lang="en-US"/>
              <a:t>Prone to errors, duplications, and slow turnarounds due to dependency on batch processing and manual checks.</a:t>
            </a:r>
          </a:p>
          <a:p>
            <a:r>
              <a:rPr lang="en-US"/>
              <a:t/>
            </a:r>
          </a:p>
          <a:p>
            <a:r>
              <a:rPr lang="en-US"/>
              <a:t>Services Provided (Loans, Payments, Deposits):</a:t>
            </a:r>
          </a:p>
          <a:p>
            <a:r>
              <a:rPr lang="en-US"/>
              <a:t/>
            </a:r>
          </a:p>
          <a:p>
            <a:r>
              <a:rPr lang="en-US"/>
              <a:t>Once processed, users may receive banking services but typically only after several hours or days—particularly for new account approvals, loan disbursements, or large deposits.</a:t>
            </a:r>
          </a:p>
          <a:p>
            <a:r>
              <a:rPr lang="en-US"/>
              <a:t/>
            </a:r>
          </a:p>
          <a:p>
            <a:r>
              <a:rPr lang="en-US"/>
              <a:t>Total Process Time:</a:t>
            </a:r>
          </a:p>
          <a:p>
            <a:r>
              <a:rPr lang="en-US"/>
              <a:t/>
            </a:r>
          </a:p>
          <a:p>
            <a:r>
              <a:rPr lang="en-US"/>
              <a:t>Each operation (like loan approval) commonly takes 1–2 days or even longer, as manual audits, compliance reviews, and inter-department approvals introduce friction.</a:t>
            </a:r>
          </a:p>
          <a:p>
            <a:r>
              <a:rPr lang="en-US"/>
              <a:t/>
            </a:r>
          </a:p>
          <a:p>
            <a:r>
              <a:rPr lang="en-US"/>
              <a:t>Example:</a:t>
            </a:r>
          </a:p>
          <a:p>
            <a:r>
              <a:rPr lang="en-US"/>
              <a:t>A customer applying for a savings account is required to visit a branch, complete physical forms, present documents, and wait 2 days before the account becomes active and usable.</a:t>
            </a:r>
          </a:p>
          <a:p>
            <a:r>
              <a:rPr lang="en-US"/>
              <a:t/>
            </a:r>
          </a:p>
          <a:p>
            <a:r>
              <a:rPr lang="en-US"/>
              <a:t>Neo-Banking System (Right Side)</a:t>
            </a:r>
          </a:p>
          <a:p>
            <a:r>
              <a:rPr lang="en-US"/>
              <a:t>User Experience Flow:</a:t>
            </a:r>
          </a:p>
          <a:p>
            <a:r>
              <a:rPr lang="en-US"/>
              <a:t>User Initiates the Process:</a:t>
            </a:r>
          </a:p>
          <a:p>
            <a:r>
              <a:rPr lang="en-US"/>
              <a:t/>
            </a:r>
          </a:p>
          <a:p>
            <a:r>
              <a:rPr lang="en-US"/>
              <a:t>Begins anytime, anywhere, by downloading the neo bank’s mobile app or accessing the web portal.</a:t>
            </a:r>
          </a:p>
          <a:p>
            <a:r>
              <a:rPr lang="en-US"/>
              <a:t/>
            </a:r>
          </a:p>
          <a:p>
            <a:r>
              <a:rPr lang="en-US"/>
              <a:t>No need to travel or wait in queues.</a:t>
            </a:r>
          </a:p>
          <a:p>
            <a:r>
              <a:rPr lang="en-US"/>
              <a:t/>
            </a:r>
          </a:p>
          <a:p>
            <a:r>
              <a:rPr lang="en-US"/>
              <a:t>Mobile Interface App:</a:t>
            </a:r>
          </a:p>
          <a:p>
            <a:r>
              <a:rPr lang="en-US"/>
              <a:t/>
            </a:r>
          </a:p>
          <a:p>
            <a:r>
              <a:rPr lang="en-US"/>
              <a:t>Intuitive, user-friendly dashboard enables customers to upload documents, complete e-KYC, and submit requests in minutes.</a:t>
            </a:r>
          </a:p>
          <a:p>
            <a:r>
              <a:rPr lang="en-US"/>
              <a:t/>
            </a:r>
          </a:p>
          <a:p>
            <a:r>
              <a:rPr lang="en-US"/>
              <a:t>Digital onboarding uses automated compliance checks, document verification, and even facial/biometric authentication.</a:t>
            </a:r>
          </a:p>
          <a:p>
            <a:r>
              <a:rPr lang="en-US"/>
              <a:t/>
            </a:r>
          </a:p>
          <a:p>
            <a:r>
              <a:rPr lang="en-US"/>
              <a:t>Partner Bank / Fintech Infra:</a:t>
            </a:r>
          </a:p>
          <a:p>
            <a:r>
              <a:rPr lang="en-US"/>
              <a:t/>
            </a:r>
          </a:p>
          <a:p>
            <a:r>
              <a:rPr lang="en-US"/>
              <a:t>Neo banks seamlessly connect with licensed partner banks’ core systems using modern APIs.</a:t>
            </a:r>
          </a:p>
          <a:p>
            <a:r>
              <a:rPr lang="en-US"/>
              <a:t/>
            </a:r>
          </a:p>
          <a:p>
            <a:r>
              <a:rPr lang="en-US"/>
              <a:t>All standard offerings (loans, deposits, payments, investments) are delivered through an integrated, largely automated digital stack.</a:t>
            </a:r>
          </a:p>
          <a:p>
            <a:r>
              <a:rPr lang="en-US"/>
              <a:t/>
            </a:r>
          </a:p>
          <a:p>
            <a:r>
              <a:rPr lang="en-US"/>
              <a:t>Services Provided (Loans, Payments, Deposits):</a:t>
            </a:r>
          </a:p>
          <a:p>
            <a:r>
              <a:rPr lang="en-US"/>
              <a:t/>
            </a:r>
          </a:p>
          <a:p>
            <a:r>
              <a:rPr lang="en-US"/>
              <a:t>Services are enabled instantly or within seconds—for example, loans disbursed to a digital wallet after automated eligibility checks, or savings accounts instantly active after successful e-KYC.</a:t>
            </a:r>
          </a:p>
          <a:p>
            <a:r>
              <a:rPr lang="en-US"/>
              <a:t/>
            </a:r>
          </a:p>
          <a:p>
            <a:r>
              <a:rPr lang="en-US"/>
              <a:t>Total Process Time:</a:t>
            </a:r>
          </a:p>
          <a:p>
            <a:r>
              <a:rPr lang="en-US"/>
              <a:t/>
            </a:r>
          </a:p>
          <a:p>
            <a:r>
              <a:rPr lang="en-US"/>
              <a:t>The entire customer journey, from registration to service completion, is completed instantly—significantly improving convenience and reducing operational delays.</a:t>
            </a:r>
          </a:p>
          <a:p>
            <a:r>
              <a:rPr lang="en-US"/>
              <a:t/>
            </a:r>
          </a:p>
          <a:p>
            <a:r>
              <a:rPr lang="en-US"/>
              <a:t>Example:</a:t>
            </a:r>
          </a:p>
          <a:p>
            <a:r>
              <a:rPr lang="en-US"/>
              <a:t>A user signs up with a neo bank during lunch break, completes online verification in 10 minutes, and can immediately deposit, transfer, or receive funds—all without speaking to staff or filling out a single form.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Traditional Banking System (Left Side)</a:t>
            </a:r>
          </a:p>
          <a:p>
            <a:r>
              <a:rPr lang="en-US"/>
              <a:t>User Experience Flow:</a:t>
            </a:r>
          </a:p>
          <a:p>
            <a:r>
              <a:rPr lang="en-US"/>
              <a:t>User Initiates the Process:</a:t>
            </a:r>
          </a:p>
          <a:p>
            <a:r>
              <a:rPr lang="en-US"/>
              <a:t/>
            </a:r>
          </a:p>
          <a:p>
            <a:r>
              <a:rPr lang="en-US"/>
              <a:t>Customers must go to a bank branch to open an account, apply for a loan, or conduct other financial operations.</a:t>
            </a:r>
          </a:p>
          <a:p>
            <a:r>
              <a:rPr lang="en-US"/>
              <a:t/>
            </a:r>
          </a:p>
          <a:p>
            <a:r>
              <a:rPr lang="en-US"/>
              <a:t>This often involves waiting in line and working around bank operating hours.</a:t>
            </a:r>
          </a:p>
          <a:p>
            <a:r>
              <a:rPr lang="en-US"/>
              <a:t/>
            </a:r>
          </a:p>
          <a:p>
            <a:r>
              <a:rPr lang="en-US"/>
              <a:t>In-Person Visit Required:</a:t>
            </a:r>
          </a:p>
          <a:p>
            <a:r>
              <a:rPr lang="en-US"/>
              <a:t/>
            </a:r>
          </a:p>
          <a:p>
            <a:r>
              <a:rPr lang="en-US"/>
              <a:t>Physical presence is mandatory; identity verification, paperwork, and in-person signatures are part of the onboarding or transaction process.</a:t>
            </a:r>
          </a:p>
          <a:p>
            <a:r>
              <a:rPr lang="en-US"/>
              <a:t/>
            </a:r>
          </a:p>
          <a:p>
            <a:r>
              <a:rPr lang="en-US"/>
              <a:t>Legacy Core Banking System:</a:t>
            </a:r>
          </a:p>
          <a:p>
            <a:r>
              <a:rPr lang="en-US"/>
              <a:t/>
            </a:r>
          </a:p>
          <a:p>
            <a:r>
              <a:rPr lang="en-US"/>
              <a:t>Staff process documentation by hand: reviewing physical forms, manually entering data into the bank’s legacy IT systems.</a:t>
            </a:r>
          </a:p>
          <a:p>
            <a:r>
              <a:rPr lang="en-US"/>
              <a:t/>
            </a:r>
          </a:p>
          <a:p>
            <a:r>
              <a:rPr lang="en-US"/>
              <a:t>Prone to errors, duplications, and slow turnarounds due to dependency on batch processing and manual checks.</a:t>
            </a:r>
          </a:p>
          <a:p>
            <a:r>
              <a:rPr lang="en-US"/>
              <a:t/>
            </a:r>
          </a:p>
          <a:p>
            <a:r>
              <a:rPr lang="en-US"/>
              <a:t>Services Provided (Loans, Payments, Deposits):</a:t>
            </a:r>
          </a:p>
          <a:p>
            <a:r>
              <a:rPr lang="en-US"/>
              <a:t/>
            </a:r>
          </a:p>
          <a:p>
            <a:r>
              <a:rPr lang="en-US"/>
              <a:t>Once processed, users may receive banking services but typically only after several hours or days—particularly for new account approvals, loan disbursements, or large deposits.</a:t>
            </a:r>
          </a:p>
          <a:p>
            <a:r>
              <a:rPr lang="en-US"/>
              <a:t/>
            </a:r>
          </a:p>
          <a:p>
            <a:r>
              <a:rPr lang="en-US"/>
              <a:t>Total Process Time:</a:t>
            </a:r>
          </a:p>
          <a:p>
            <a:r>
              <a:rPr lang="en-US"/>
              <a:t/>
            </a:r>
          </a:p>
          <a:p>
            <a:r>
              <a:rPr lang="en-US"/>
              <a:t>Each operation (like loan approval) commonly takes 1–2 days or even longer, as manual audits, compliance reviews, and inter-department approvals introduce friction.</a:t>
            </a:r>
          </a:p>
          <a:p>
            <a:r>
              <a:rPr lang="en-US"/>
              <a:t/>
            </a:r>
          </a:p>
          <a:p>
            <a:r>
              <a:rPr lang="en-US"/>
              <a:t>Example:</a:t>
            </a:r>
          </a:p>
          <a:p>
            <a:r>
              <a:rPr lang="en-US"/>
              <a:t>A customer applying for a savings account is required to visit a branch, complete physical forms, present documents, and wait 2 days before the account becomes active and usable.</a:t>
            </a:r>
          </a:p>
          <a:p>
            <a:r>
              <a:rPr lang="en-US"/>
              <a:t/>
            </a:r>
          </a:p>
          <a:p>
            <a:r>
              <a:rPr lang="en-US"/>
              <a:t>Neo-Banking System (Right Side)</a:t>
            </a:r>
          </a:p>
          <a:p>
            <a:r>
              <a:rPr lang="en-US"/>
              <a:t>User Experience Flow:</a:t>
            </a:r>
          </a:p>
          <a:p>
            <a:r>
              <a:rPr lang="en-US"/>
              <a:t>User Initiates the Process:</a:t>
            </a:r>
          </a:p>
          <a:p>
            <a:r>
              <a:rPr lang="en-US"/>
              <a:t/>
            </a:r>
          </a:p>
          <a:p>
            <a:r>
              <a:rPr lang="en-US"/>
              <a:t>Begins anytime, anywhere, by downloading the neo bank’s mobile app or accessing the web portal.</a:t>
            </a:r>
          </a:p>
          <a:p>
            <a:r>
              <a:rPr lang="en-US"/>
              <a:t/>
            </a:r>
          </a:p>
          <a:p>
            <a:r>
              <a:rPr lang="en-US"/>
              <a:t>No need to travel or wait in queues.</a:t>
            </a:r>
          </a:p>
          <a:p>
            <a:r>
              <a:rPr lang="en-US"/>
              <a:t/>
            </a:r>
          </a:p>
          <a:p>
            <a:r>
              <a:rPr lang="en-US"/>
              <a:t>Mobile Interface App:</a:t>
            </a:r>
          </a:p>
          <a:p>
            <a:r>
              <a:rPr lang="en-US"/>
              <a:t/>
            </a:r>
          </a:p>
          <a:p>
            <a:r>
              <a:rPr lang="en-US"/>
              <a:t>Intuitive, user-friendly dashboard enables customers to upload documents, complete e-KYC, and submit requests in minutes.</a:t>
            </a:r>
          </a:p>
          <a:p>
            <a:r>
              <a:rPr lang="en-US"/>
              <a:t/>
            </a:r>
          </a:p>
          <a:p>
            <a:r>
              <a:rPr lang="en-US"/>
              <a:t>Digital onboarding uses automated compliance checks, document verification, and even facial/biometric authentication.</a:t>
            </a:r>
          </a:p>
          <a:p>
            <a:r>
              <a:rPr lang="en-US"/>
              <a:t/>
            </a:r>
          </a:p>
          <a:p>
            <a:r>
              <a:rPr lang="en-US"/>
              <a:t>Partner Bank / Fintech Infra:</a:t>
            </a:r>
          </a:p>
          <a:p>
            <a:r>
              <a:rPr lang="en-US"/>
              <a:t/>
            </a:r>
          </a:p>
          <a:p>
            <a:r>
              <a:rPr lang="en-US"/>
              <a:t>Neo banks seamlessly connect with licensed partner banks’ core systems using modern APIs.</a:t>
            </a:r>
          </a:p>
          <a:p>
            <a:r>
              <a:rPr lang="en-US"/>
              <a:t/>
            </a:r>
          </a:p>
          <a:p>
            <a:r>
              <a:rPr lang="en-US"/>
              <a:t>All standard offerings (loans, deposits, payments, investments) are delivered through an integrated, largely automated digital stack.</a:t>
            </a:r>
          </a:p>
          <a:p>
            <a:r>
              <a:rPr lang="en-US"/>
              <a:t/>
            </a:r>
          </a:p>
          <a:p>
            <a:r>
              <a:rPr lang="en-US"/>
              <a:t>Services Provided (Loans, Payments, Deposits):</a:t>
            </a:r>
          </a:p>
          <a:p>
            <a:r>
              <a:rPr lang="en-US"/>
              <a:t/>
            </a:r>
          </a:p>
          <a:p>
            <a:r>
              <a:rPr lang="en-US"/>
              <a:t>Services are enabled instantly or within seconds—for example, loans disbursed to a digital wallet after automated eligibility checks, or savings accounts instantly active after successful e-KYC.</a:t>
            </a:r>
          </a:p>
          <a:p>
            <a:r>
              <a:rPr lang="en-US"/>
              <a:t/>
            </a:r>
          </a:p>
          <a:p>
            <a:r>
              <a:rPr lang="en-US"/>
              <a:t>Total Process Time:</a:t>
            </a:r>
          </a:p>
          <a:p>
            <a:r>
              <a:rPr lang="en-US"/>
              <a:t/>
            </a:r>
          </a:p>
          <a:p>
            <a:r>
              <a:rPr lang="en-US"/>
              <a:t>The entire customer journey, from registration to service completion, is completed instantly—significantly improving convenience and reducing operational delays.</a:t>
            </a:r>
          </a:p>
          <a:p>
            <a:r>
              <a:rPr lang="en-US"/>
              <a:t/>
            </a:r>
          </a:p>
          <a:p>
            <a:r>
              <a:rPr lang="en-US"/>
              <a:t>Example:</a:t>
            </a:r>
          </a:p>
          <a:p>
            <a:r>
              <a:rPr lang="en-US"/>
              <a:t>A user signs up with a neo bank during lunch break, completes online verification in 10 minutes, and can immediately deposit, transfer, or receive funds—all without speaking to staff or filling out a single form.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Physical Branch Required vs. 100% Digital</a:t>
            </a:r>
          </a:p>
          <a:p>
            <a:r>
              <a:rPr lang="en-US"/>
              <a:t>Traditional Banking: Requires customers to visit a physical branch for most core services—account opening, KYC, cheque deposits, issue resolution, and more. This means users are limited by geography, branch hours, and availability of staff.</a:t>
            </a:r>
          </a:p>
          <a:p>
            <a:r>
              <a:rPr lang="en-US"/>
              <a:t/>
            </a:r>
          </a:p>
          <a:p>
            <a:r>
              <a:rPr lang="en-US"/>
              <a:t>Neo Banking: Entirely online; every service (onboarding, fund transfer, investments, KYC updates) is accessible via desktop or mobile app, anywhere, anytime.</a:t>
            </a:r>
          </a:p>
          <a:p>
            <a:r>
              <a:rPr lang="en-US"/>
              <a:t/>
            </a:r>
          </a:p>
          <a:p>
            <a:r>
              <a:rPr lang="en-US"/>
              <a:t>Example: A working parent can open a new savings account from home via a neo bank app late at night, instead of taking time off to visit a branch during business hours.</a:t>
            </a:r>
          </a:p>
          <a:p>
            <a:r>
              <a:rPr lang="en-US"/>
              <a:t/>
            </a:r>
          </a:p>
          <a:p>
            <a:r>
              <a:rPr lang="en-US"/>
              <a:t>2. Account Opening Takes Days with Paperwork vs. Instant Online Account Opening</a:t>
            </a:r>
          </a:p>
          <a:p>
            <a:r>
              <a:rPr lang="en-US"/>
              <a:t>Traditional Banking: Initiating an account often requires extensive paperwork, physical document checks, and in-person validation, causing days of delays before an account is activated.</a:t>
            </a:r>
          </a:p>
          <a:p>
            <a:r>
              <a:rPr lang="en-US"/>
              <a:t/>
            </a:r>
          </a:p>
          <a:p>
            <a:r>
              <a:rPr lang="en-US"/>
              <a:t>Neo Banking: Digital onboarding is instantaneous, with e-KYC, document upload, and verification done in minutes using biometrics or verified API connections.</a:t>
            </a:r>
          </a:p>
          <a:p>
            <a:r>
              <a:rPr lang="en-US"/>
              <a:t/>
            </a:r>
          </a:p>
          <a:p>
            <a:r>
              <a:rPr lang="en-US"/>
              <a:t>Example: A student who needs a new account for a scholarship deposit receives their IBAN, debit card, and app login instantly after a quick video KYC process with a neo bank (no physical forms needed).</a:t>
            </a:r>
          </a:p>
          <a:p>
            <a:r>
              <a:rPr lang="en-US"/>
              <a:t/>
            </a:r>
          </a:p>
          <a:p>
            <a:r>
              <a:rPr lang="en-US"/>
              <a:t>3. Fees and Charges are Higher vs. Fees and Charges are Lower/Almost Zero</a:t>
            </a:r>
          </a:p>
          <a:p>
            <a:r>
              <a:rPr lang="en-US"/>
              <a:t>Traditional Banking: Monthly maintenance, ATM, transfer, and hidden service fees add up, eating away at customer savings—especially for those with low balances.</a:t>
            </a:r>
          </a:p>
          <a:p>
            <a:r>
              <a:rPr lang="en-US"/>
              <a:t/>
            </a:r>
          </a:p>
          <a:p>
            <a:r>
              <a:rPr lang="en-US"/>
              <a:t>Neo Banking: Streamlined tech operations and lack of physical branches allow most neo banks to offer fee-free models or very transparent, low-cost alternatives.</a:t>
            </a:r>
          </a:p>
          <a:p>
            <a:r>
              <a:rPr lang="en-US"/>
              <a:t/>
            </a:r>
          </a:p>
          <a:p>
            <a:r>
              <a:rPr lang="en-US"/>
              <a:t>Example: A freelancer is charged $0 by their neo bank for receiving international payments, compared to a $15 incoming wire fee at a traditional bank.</a:t>
            </a:r>
          </a:p>
          <a:p>
            <a:r>
              <a:rPr lang="en-US"/>
              <a:t/>
            </a:r>
          </a:p>
          <a:p>
            <a:r>
              <a:rPr lang="en-US"/>
              <a:t>4. Customer Service is In Person/Call vs. 24/7 Support via Chat/AI</a:t>
            </a:r>
          </a:p>
          <a:p>
            <a:r>
              <a:rPr lang="en-US"/>
              <a:t>Traditional Banking: Helpdesk queries, transaction disputes, and most support must occur in person at the branch, or over the phone during working hours, leading to long waits and follow-ups.</a:t>
            </a:r>
          </a:p>
          <a:p>
            <a:r>
              <a:rPr lang="en-US"/>
              <a:t/>
            </a:r>
          </a:p>
          <a:p>
            <a:r>
              <a:rPr lang="en-US"/>
              <a:t>Neo Banking: Automated chatbots, in-app messaging, and AI-powered support provide instant, always-on assistance for everything from card blocks to budgeting tips.</a:t>
            </a:r>
          </a:p>
          <a:p>
            <a:r>
              <a:rPr lang="en-US"/>
              <a:t/>
            </a:r>
          </a:p>
          <a:p>
            <a:r>
              <a:rPr lang="en-US"/>
              <a:t>Example: Late at night, a traveller in another country can block a lost card and chat with support within seconds through the neo banking app, while a traditional bank user would have to wait till the call center opens.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Pain Points in Traditional Systems (QUESTIONS → RESULTS)</a:t>
            </a:r>
          </a:p>
          <a:p>
            <a:r>
              <a:rPr lang="en-US"/>
              <a:t>1. Transfer Delays: “Why do international transfers take DAYS?”</a:t>
            </a:r>
          </a:p>
          <a:p>
            <a:r>
              <a:rPr lang="en-US"/>
              <a:t>Problem: Traditional cross-border payments (SWIFT, wire transfers) often take 1–5 business days due to multiple intermediaries (correspondent banks) involved in processing, approval, and settlement.</a:t>
            </a:r>
          </a:p>
          <a:p>
            <a:r>
              <a:rPr lang="en-US"/>
              <a:t/>
            </a:r>
          </a:p>
          <a:p>
            <a:r>
              <a:rPr lang="en-US"/>
              <a:t>Example: Sending $1,000 from India to the US involves routing through several banks, each adding delay.</a:t>
            </a:r>
          </a:p>
          <a:p>
            <a:r>
              <a:rPr lang="en-US"/>
              <a:t/>
            </a:r>
          </a:p>
          <a:p>
            <a:r>
              <a:rPr lang="en-US"/>
              <a:t>2. High Fees: “Why are cross-border payments so EXPENSIVE?”</a:t>
            </a:r>
          </a:p>
          <a:p>
            <a:r>
              <a:rPr lang="en-US"/>
              <a:t>Problem: Each intermediary adds fees (transaction, conversion, handling), resulting in $25–$50+ per transaction. Some fees may be hidden as currency conversion markups or compliance charges.</a:t>
            </a:r>
          </a:p>
          <a:p>
            <a:r>
              <a:rPr lang="en-US"/>
              <a:t/>
            </a:r>
          </a:p>
          <a:p>
            <a:r>
              <a:rPr lang="en-US"/>
              <a:t>Example: A migrant worker remitting $500 may lose $30+ to fees along the route.</a:t>
            </a:r>
          </a:p>
          <a:p>
            <a:r>
              <a:rPr lang="en-US"/>
              <a:t/>
            </a:r>
          </a:p>
          <a:p>
            <a:r>
              <a:rPr lang="en-US"/>
              <a:t>3. Lack of Transparency: “Where is my money right now during a transfer?”</a:t>
            </a:r>
          </a:p>
          <a:p>
            <a:r>
              <a:rPr lang="en-US"/>
              <a:t>Problem: Users rarely have real-time tracking as payments move through opaque bank networks. Both sender and receiver rely on periodic, delayed bank notifications.</a:t>
            </a:r>
          </a:p>
          <a:p>
            <a:r>
              <a:rPr lang="en-US"/>
              <a:t/>
            </a:r>
          </a:p>
          <a:p>
            <a:r>
              <a:rPr lang="en-US"/>
              <a:t>Example: A business awaiting payment to release goods gets anxious due to vague “in-process” updates with no precise status.</a:t>
            </a:r>
          </a:p>
          <a:p>
            <a:r>
              <a:rPr lang="en-US"/>
              <a:t/>
            </a:r>
          </a:p>
          <a:p>
            <a:r>
              <a:rPr lang="en-US"/>
              <a:t>4. Operational Drag: “How do banks manage all those currencies?”</a:t>
            </a:r>
          </a:p>
          <a:p>
            <a:r>
              <a:rPr lang="en-US"/>
              <a:t>Problem: Banks must keep large amounts of money (“pre-funded” or Nostro accounts) locked up worldwide to guarantee liquidity for foreign payouts. This ties up capital, hurts efficiency, and makes reconciliation complex.</a:t>
            </a:r>
          </a:p>
          <a:p>
            <a:r>
              <a:rPr lang="en-US"/>
              <a:t/>
            </a:r>
          </a:p>
          <a:p>
            <a:r>
              <a:rPr lang="en-US"/>
              <a:t>Example: Bank holds $2M in various currencies across partner banks just to ensure fast payouts, earning no interest on these idle funds.</a:t>
            </a:r>
          </a:p>
          <a:p>
            <a:r>
              <a:rPr lang="en-US"/>
              <a:t/>
            </a:r>
          </a:p>
          <a:p>
            <a:r>
              <a:rPr lang="en-US"/>
              <a:t>How Blockchain Solves These Problems</a:t>
            </a:r>
          </a:p>
          <a:p>
            <a:r>
              <a:rPr lang="en-US"/>
              <a:t>1. Near-Instant Settlement</a:t>
            </a:r>
          </a:p>
          <a:p>
            <a:r>
              <a:rPr lang="en-US"/>
              <a:t>Blockchain enables peer-to-peer settlement, cutting out intermediaries and allowing funds to move in seconds or minutes, 24/7. Unlike SWIFT, there are no “banking hours” or international holidays.</a:t>
            </a:r>
          </a:p>
          <a:p>
            <a:r>
              <a:rPr lang="en-US"/>
              <a:t/>
            </a:r>
          </a:p>
          <a:p>
            <a:r>
              <a:rPr lang="en-US"/>
              <a:t>Example: Using Ripple/XRP, a transfer from India to the US completes in under 5 minutes regardless of time zone.</a:t>
            </a:r>
          </a:p>
          <a:p>
            <a:r>
              <a:rPr lang="en-US"/>
              <a:t/>
            </a:r>
          </a:p>
          <a:p>
            <a:r>
              <a:rPr lang="en-US"/>
              <a:t>2. Significant Cost Reduction</a:t>
            </a:r>
          </a:p>
          <a:p>
            <a:r>
              <a:rPr lang="en-US"/>
              <a:t>By eliminating multiple banks, blockchain cuts transaction fees dramatically—often to just a few cents or less than $1 (plus minor network fees).</a:t>
            </a:r>
          </a:p>
          <a:p>
            <a:r>
              <a:rPr lang="en-US"/>
              <a:t/>
            </a:r>
          </a:p>
          <a:p>
            <a:r>
              <a:rPr lang="en-US"/>
              <a:t>Example: Remittance platforms using stablecoins let diaspora workers send money home for $1, vs. $40+ with traditional routes.</a:t>
            </a:r>
          </a:p>
          <a:p>
            <a:r>
              <a:rPr lang="en-US"/>
              <a:t/>
            </a:r>
          </a:p>
          <a:p>
            <a:r>
              <a:rPr lang="en-US"/>
              <a:t>3. End-to-End Transparency</a:t>
            </a:r>
          </a:p>
          <a:p>
            <a:r>
              <a:rPr lang="en-US"/>
              <a:t>Every transaction is recorded on a transparent, immutable ledger. Both parties can track payment status in real time, reducing errors, fraud, and anxiety for senders/receivers.</a:t>
            </a:r>
          </a:p>
          <a:p>
            <a:r>
              <a:rPr lang="en-US"/>
              <a:t/>
            </a:r>
          </a:p>
          <a:p>
            <a:r>
              <a:rPr lang="en-US"/>
              <a:t>Example: The sender tracks progress on a blockchain explorer, seeing exactly when funds arrive at the recipient wallet.</a:t>
            </a:r>
          </a:p>
          <a:p>
            <a:r>
              <a:rPr lang="en-US"/>
              <a:t/>
            </a:r>
          </a:p>
          <a:p>
            <a:r>
              <a:rPr lang="en-US"/>
              <a:t>4. No Need for Nostro Accounts</a:t>
            </a:r>
          </a:p>
          <a:p>
            <a:r>
              <a:rPr lang="en-US"/>
              <a:t>Digital assets/cryptocurrencies enable on-demand conversion, so banks don’t have to tie up capital globally. Smart contracts can also automate currency swaps.</a:t>
            </a:r>
          </a:p>
          <a:p>
            <a:r>
              <a:rPr lang="en-US"/>
              <a:t/>
            </a:r>
          </a:p>
          <a:p>
            <a:r>
              <a:rPr lang="en-US"/>
              <a:t>Example: Using USDC or USDT, banks convert instantly at the point of transfer, dramatically improving working capital efficiency.</a:t>
            </a:r>
          </a:p>
          <a:p>
            <a:r>
              <a:rPr lang="en-US"/>
              <a:t/>
            </a:r>
          </a:p>
          <a:p>
            <a:r>
              <a:rPr lang="en-US"/>
              <a:t>5. Programmability and 24/7 Availability</a:t>
            </a:r>
          </a:p>
          <a:p>
            <a:r>
              <a:rPr lang="en-US"/>
              <a:t>Smart contracts can automate compliance, payouts, and reporting, reducing operational drag and making transfers available at all hours.</a:t>
            </a:r>
          </a:p>
          <a:p>
            <a:r>
              <a:rPr lang="en-US"/>
              <a:t/>
            </a:r>
          </a:p>
          <a:p>
            <a:r>
              <a:rPr lang="en-US"/>
              <a:t>Example: An insurance payout triggered by blockchain proof of delivery reduces delay and manual intervention.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Traditional Payment System – Detailed Workflow and Explanation</a:t>
            </a:r>
          </a:p>
          <a:p>
            <a:r>
              <a:rPr lang="en-US"/>
              <a:t>Step 1: Sender Bank Initiates Payment</a:t>
            </a:r>
          </a:p>
          <a:p>
            <a:r>
              <a:rPr lang="en-US"/>
              <a:t>The sender bank starts the international transfer on behalf of its customer.</a:t>
            </a:r>
          </a:p>
          <a:p>
            <a:r>
              <a:rPr lang="en-US"/>
              <a:t/>
            </a:r>
          </a:p>
          <a:p>
            <a:r>
              <a:rPr lang="en-US"/>
              <a:t>It debits the sender’s account in the local currency and generates an instruction to transfer funds to the beneficiary overseas.</a:t>
            </a:r>
          </a:p>
          <a:p>
            <a:r>
              <a:rPr lang="en-US"/>
              <a:t/>
            </a:r>
          </a:p>
          <a:p>
            <a:r>
              <a:rPr lang="en-US"/>
              <a:t>Step 2: Routing via Correspondent Banks and SWIFT Messaging</a:t>
            </a:r>
          </a:p>
          <a:p>
            <a:r>
              <a:rPr lang="en-US"/>
              <a:t>The payment is routed through multiple correspondent banks. For example:</a:t>
            </a:r>
          </a:p>
          <a:p>
            <a:r>
              <a:rPr lang="en-US"/>
              <a:t/>
            </a:r>
          </a:p>
          <a:p>
            <a:r>
              <a:rPr lang="en-US"/>
              <a:t>Correspondent Bank A holds USD accounts and acts as a bridge between the sender's currency and US dollar transactions.</a:t>
            </a:r>
          </a:p>
          <a:p>
            <a:r>
              <a:rPr lang="en-US"/>
              <a:t/>
            </a:r>
          </a:p>
          <a:p>
            <a:r>
              <a:rPr lang="en-US"/>
              <a:t>Correspondent Bank B holds EUR accounts and handles Euro transactions and conversions.</a:t>
            </a:r>
          </a:p>
          <a:p>
            <a:r>
              <a:rPr lang="en-US"/>
              <a:t/>
            </a:r>
          </a:p>
          <a:p>
            <a:r>
              <a:rPr lang="en-US"/>
              <a:t>These correspondent banks communicate instructions with the SWIFT messaging system, which is primarily a secure message relay, not a settlement layer.</a:t>
            </a:r>
          </a:p>
          <a:p>
            <a:r>
              <a:rPr lang="en-US"/>
              <a:t/>
            </a:r>
          </a:p>
          <a:p>
            <a:r>
              <a:rPr lang="en-US"/>
              <a:t>Each intermediary introduces latency and fees:</a:t>
            </a:r>
          </a:p>
          <a:p>
            <a:r>
              <a:rPr lang="en-US"/>
              <a:t/>
            </a:r>
          </a:p>
          <a:p>
            <a:r>
              <a:rPr lang="en-US"/>
              <a:t>Funds typically move in batches, processed during banking hours.</a:t>
            </a:r>
          </a:p>
          <a:p>
            <a:r>
              <a:rPr lang="en-US"/>
              <a:t/>
            </a:r>
          </a:p>
          <a:p>
            <a:r>
              <a:rPr lang="en-US"/>
              <a:t>Settlement and currency conversion are done via manual reconciliation among the banks.</a:t>
            </a:r>
          </a:p>
          <a:p>
            <a:r>
              <a:rPr lang="en-US"/>
              <a:t/>
            </a:r>
          </a:p>
          <a:p>
            <a:r>
              <a:rPr lang="en-US"/>
              <a:t>Settlement finality is delayed until all counterparties confirm receipt and accounts are reconciled.</a:t>
            </a:r>
          </a:p>
          <a:p>
            <a:r>
              <a:rPr lang="en-US"/>
              <a:t/>
            </a:r>
          </a:p>
          <a:p>
            <a:r>
              <a:rPr lang="en-US"/>
              <a:t>Step 3: Intermediary Bank(s)</a:t>
            </a:r>
          </a:p>
          <a:p>
            <a:r>
              <a:rPr lang="en-US"/>
              <a:t>Additional intermediary banks may further process or convert currency depending on the route, increasing complexity.</a:t>
            </a:r>
          </a:p>
          <a:p>
            <a:r>
              <a:rPr lang="en-US"/>
              <a:t/>
            </a:r>
          </a:p>
          <a:p>
            <a:r>
              <a:rPr lang="en-US"/>
              <a:t>Step 4: Receiver Bank Credits Beneficiary</a:t>
            </a:r>
          </a:p>
          <a:p>
            <a:r>
              <a:rPr lang="en-US"/>
              <a:t>After all clearing processes, the receiver bank receives settlement credit and deposits funds into the recipient's account.</a:t>
            </a:r>
          </a:p>
          <a:p>
            <a:r>
              <a:rPr lang="en-US"/>
              <a:t/>
            </a:r>
          </a:p>
          <a:p>
            <a:r>
              <a:rPr lang="en-US"/>
              <a:t>Due to the layered process and reconciliations, this final step can happen 1 to 5 business days after initiation.</a:t>
            </a:r>
          </a:p>
          <a:p>
            <a:r>
              <a:rPr lang="en-US"/>
              <a:t/>
            </a:r>
          </a:p>
          <a:p>
            <a:r>
              <a:rPr lang="en-US"/>
              <a:t/>
            </a:r>
          </a:p>
          <a:p>
            <a:r>
              <a:rPr lang="en-US"/>
              <a:t/>
            </a:r>
          </a:p>
          <a:p>
            <a:r>
              <a:rPr lang="en-US"/>
              <a:t>Ripple Payment System – Detailed Workflow and Explanation</a:t>
            </a:r>
          </a:p>
          <a:p>
            <a:r>
              <a:rPr lang="en-US"/>
              <a:t>Step 1: Sender Bank Initiates Payment</a:t>
            </a:r>
          </a:p>
          <a:p>
            <a:r>
              <a:rPr lang="en-US"/>
              <a:t>The sender bank still interfaces with its customer the same way but instructs payment via RippleNet rather than legacy correspondent channels.</a:t>
            </a:r>
          </a:p>
          <a:p>
            <a:r>
              <a:rPr lang="en-US"/>
              <a:t/>
            </a:r>
          </a:p>
          <a:p>
            <a:r>
              <a:rPr lang="en-US"/>
              <a:t>Step 2: RippleNet Messaging &amp; Settlements</a:t>
            </a:r>
          </a:p>
          <a:p>
            <a:r>
              <a:rPr lang="en-US"/>
              <a:t>RippleNet is an integrated payment network combining:</a:t>
            </a:r>
          </a:p>
          <a:p>
            <a:r>
              <a:rPr lang="en-US"/>
              <a:t/>
            </a:r>
          </a:p>
          <a:p>
            <a:r>
              <a:rPr lang="en-US"/>
              <a:t>A unified messaging layer for payment instructions and compliance data.</a:t>
            </a:r>
          </a:p>
          <a:p>
            <a:r>
              <a:rPr lang="en-US"/>
              <a:t/>
            </a:r>
          </a:p>
          <a:p>
            <a:r>
              <a:rPr lang="en-US"/>
              <a:t>XRP Ledger, a public decentralized blockchain, which acts as a shared, immutable ledger providing real-time settlement finality across participants.</a:t>
            </a:r>
          </a:p>
          <a:p>
            <a:r>
              <a:rPr lang="en-US"/>
              <a:t/>
            </a:r>
          </a:p>
          <a:p>
            <a:r>
              <a:rPr lang="en-US"/>
              <a:t>Step 3: On-Demand Liquidity (ODL)</a:t>
            </a:r>
          </a:p>
          <a:p>
            <a:r>
              <a:rPr lang="en-US"/>
              <a:t>Rather than holding massive pre-funded Nostro accounts, participants use digital assets such as XRP or other stablecoins as bridge currencies.</a:t>
            </a:r>
          </a:p>
          <a:p>
            <a:r>
              <a:rPr lang="en-US"/>
              <a:t/>
            </a:r>
          </a:p>
          <a:p>
            <a:r>
              <a:rPr lang="en-US"/>
              <a:t>Liquidity is provisioned dynamically and on-demand. When a transaction is initiated, RippleNet sources the required liquidity instantly to complete cross-currency conversion and payment.</a:t>
            </a:r>
          </a:p>
          <a:p>
            <a:r>
              <a:rPr lang="en-US"/>
              <a:t/>
            </a:r>
          </a:p>
          <a:p>
            <a:r>
              <a:rPr lang="en-US"/>
              <a:t>This process drastically reduces the need to lock up capital globally.</a:t>
            </a:r>
          </a:p>
          <a:p>
            <a:r>
              <a:rPr lang="en-US"/>
              <a:t/>
            </a:r>
          </a:p>
          <a:p>
            <a:r>
              <a:rPr lang="en-US"/>
              <a:t>Step 4: Receiver Bank is Credited Instantly</a:t>
            </a:r>
          </a:p>
          <a:p>
            <a:r>
              <a:rPr lang="en-US"/>
              <a:t>Once the XRP Ledger confirms the payment, the receiver bank credits the beneficiary account typically seconds after initiation.</a:t>
            </a:r>
          </a:p>
          <a:p>
            <a:r>
              <a:rPr lang="en-US"/>
              <a:t/>
            </a:r>
          </a:p>
          <a:p>
            <a:r>
              <a:rPr lang="en-US"/>
              <a:t>The distributed ledger provides an auditable, transparent transaction record accessible by all parties, enabling end-to-end tracking with tamper-proof security.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Dimension-by-Dimension Analysis</a:t>
            </a:r>
          </a:p>
          <a:p>
            <a:r>
              <a:rPr lang="en-US"/>
              <a:t>SPEED</a:t>
            </a:r>
          </a:p>
          <a:p>
            <a:r>
              <a:rPr lang="en-US"/>
              <a:t>Traditional Payment System: Transfers generally take 1–5 business days. Delays occur due to multiple intermediaries (correspondent banks), batch processing, banking hours/restrictions, and anti-fraud checks along the route. Cross-border remittance feels slow—for example, an Indian user sending USD to the UK may face three or more days of uncertainty.</a:t>
            </a:r>
          </a:p>
          <a:p>
            <a:r>
              <a:rPr lang="en-US"/>
              <a:t/>
            </a:r>
          </a:p>
          <a:p>
            <a:r>
              <a:rPr lang="en-US"/>
              <a:t>Ripple Payment System: Near-instant settlement, typically completing in 3–5 seconds. RippleNet directly connects financial institutions using distributed ledger technology, thereby removing middlemen and settlement lags. Users can transfer value across borders almost as quickly as sending an email.</a:t>
            </a:r>
          </a:p>
          <a:p>
            <a:r>
              <a:rPr lang="en-US"/>
              <a:t/>
            </a:r>
          </a:p>
          <a:p>
            <a:r>
              <a:rPr lang="en-US"/>
              <a:t>COST</a:t>
            </a:r>
          </a:p>
          <a:p>
            <a:r>
              <a:rPr lang="en-US"/>
              <a:t>Traditional System: Costs are high—often $25–$50+ per transaction—driven by layers of transfer/intermediary/FX fees. Unexpected and hidden charges are common.</a:t>
            </a:r>
          </a:p>
          <a:p>
            <a:r>
              <a:rPr lang="en-US"/>
              <a:t/>
            </a:r>
          </a:p>
          <a:p>
            <a:r>
              <a:rPr lang="en-US"/>
              <a:t>Ripple System: Transaction fees are reduced by up to 95% or more. On average, sending payments via Ripple may cost less than a cent, regardless of amount or destination. This opens new use cases for micro-payments and frequent, global transactions.</a:t>
            </a:r>
          </a:p>
          <a:p>
            <a:r>
              <a:rPr lang="en-US"/>
              <a:t/>
            </a:r>
          </a:p>
          <a:p>
            <a:r>
              <a:rPr lang="en-US"/>
              <a:t>SCALABILITY</a:t>
            </a:r>
          </a:p>
          <a:p>
            <a:r>
              <a:rPr lang="en-US"/>
              <a:t>Traditional System: Can process just 5–7 transactions per second. Growth is constrained by central server architectures and manual verification steps, making the system prone to bottlenecks as volumes rise.</a:t>
            </a:r>
          </a:p>
          <a:p>
            <a:r>
              <a:rPr lang="en-US"/>
              <a:t/>
            </a:r>
          </a:p>
          <a:p>
            <a:r>
              <a:rPr lang="en-US"/>
              <a:t>Ripple System: Processes up to 1,500+ transactions per second on-chain, supporting high-throughput scenarios (remittance, payroll, B2B settlements) without congestion. Ripple’s architecture makes global scaling feasible without significant infrastructure cost.</a:t>
            </a:r>
          </a:p>
          <a:p>
            <a:r>
              <a:rPr lang="en-US"/>
              <a:t/>
            </a:r>
          </a:p>
          <a:p>
            <a:r>
              <a:rPr lang="en-US"/>
              <a:t>TRANSPARENCY</a:t>
            </a:r>
          </a:p>
          <a:p>
            <a:r>
              <a:rPr lang="en-US"/>
              <a:t>Traditional System: Centralized ledgers mean users and even banks often lack real-time visibility into payment status. Funds can disappear into an “in process” void, leading to confusion, customer support calls, and reconciliation headaches.</a:t>
            </a:r>
          </a:p>
          <a:p>
            <a:r>
              <a:rPr lang="en-US"/>
              <a:t/>
            </a:r>
          </a:p>
          <a:p>
            <a:r>
              <a:rPr lang="en-US"/>
              <a:t>Ripple System: The decentralized ledger records every transaction end-to-end. Both sender and receiver have real-time access to payment status and immutable records for auditing. This eliminates the classic “where is my money now?” problem for users, corporates, and regulators.</a:t>
            </a:r>
          </a:p>
          <a:p>
            <a:r>
              <a:rPr lang="en-US"/>
              <a:t/>
            </a:r>
          </a:p>
          <a:p>
            <a:r>
              <a:rPr lang="en-US"/>
              <a:t>Example to Illustrate the Impact</a:t>
            </a:r>
          </a:p>
          <a:p>
            <a:r>
              <a:rPr lang="en-US"/>
              <a:t>Imagine a small business in India that exports software to Germany.</a:t>
            </a:r>
          </a:p>
          <a:p>
            <a:r>
              <a:rPr lang="en-US"/>
              <a:t/>
            </a:r>
          </a:p>
          <a:p>
            <a:r>
              <a:rPr lang="en-US"/>
              <a:t>With SWIFT (Traditional)</a:t>
            </a:r>
          </a:p>
          <a:p>
            <a:r>
              <a:rPr lang="en-US"/>
              <a:t/>
            </a:r>
          </a:p>
          <a:p>
            <a:r>
              <a:rPr lang="en-US"/>
              <a:t>Invoice paid on Monday is received by Thursday.</a:t>
            </a:r>
          </a:p>
          <a:p>
            <a:r>
              <a:rPr lang="en-US"/>
              <a:t/>
            </a:r>
          </a:p>
          <a:p>
            <a:r>
              <a:rPr lang="en-US"/>
              <a:t>$38 in trace and FX fees deducted.</a:t>
            </a:r>
          </a:p>
          <a:p>
            <a:r>
              <a:rPr lang="en-US"/>
              <a:t/>
            </a:r>
          </a:p>
          <a:p>
            <a:r>
              <a:rPr lang="en-US"/>
              <a:t>Vendor gets daily calls: “Funds were sent, but not yet received.”</a:t>
            </a:r>
          </a:p>
          <a:p>
            <a:r>
              <a:rPr lang="en-US"/>
              <a:t/>
            </a:r>
          </a:p>
          <a:p>
            <a:r>
              <a:rPr lang="en-US"/>
              <a:t>With Ripple</a:t>
            </a:r>
          </a:p>
          <a:p>
            <a:r>
              <a:rPr lang="en-US"/>
              <a:t/>
            </a:r>
          </a:p>
          <a:p>
            <a:r>
              <a:rPr lang="en-US"/>
              <a:t>Payment is received and settled in under 5 seconds, at a cost of a few cents.</a:t>
            </a:r>
          </a:p>
          <a:p>
            <a:r>
              <a:rPr lang="en-US"/>
              <a:t/>
            </a:r>
          </a:p>
          <a:p>
            <a:r>
              <a:rPr lang="en-US"/>
              <a:t>Real-time proof of payment available to both parties.</a:t>
            </a:r>
          </a:p>
          <a:p>
            <a:r>
              <a:rPr lang="en-US"/>
              <a:t/>
            </a:r>
          </a:p>
          <a:p>
            <a:r>
              <a:rPr lang="en-US"/>
              <a:t>No delayed deliveries or trust issues; full financial visibility.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Side: Traditional Workflow (Without AI)</a:t>
            </a:r>
          </a:p>
          <a:p>
            <a:r>
              <a:rPr lang="en-US"/>
              <a:t>Flow Explanation:</a:t>
            </a:r>
          </a:p>
          <a:p>
            <a:r>
              <a:rPr lang="en-US"/>
              <a:t>User Initiates Transaction: The process begins with a user action, such as submitting a payment request through digital banking APIs.</a:t>
            </a:r>
          </a:p>
          <a:p>
            <a:r>
              <a:rPr lang="en-US"/>
              <a:t/>
            </a:r>
          </a:p>
          <a:p>
            <a:r>
              <a:rPr lang="en-US"/>
              <a:t>Bank System Processing: Transaction data is passed to the core banking system.</a:t>
            </a:r>
          </a:p>
          <a:p>
            <a:r>
              <a:rPr lang="en-US"/>
              <a:t/>
            </a:r>
          </a:p>
          <a:p>
            <a:r>
              <a:rPr lang="en-US"/>
              <a:t>Manual Review &amp; Rule-Based System:</a:t>
            </a:r>
          </a:p>
          <a:p>
            <a:r>
              <a:rPr lang="en-US"/>
              <a:t/>
            </a:r>
          </a:p>
          <a:p>
            <a:r>
              <a:rPr lang="en-US"/>
              <a:t>Static Rule Engine: Checks fixed, well-defined triggers (e.g., “Flag payments above $10,000,” “Block foreign transactions after midnight”).</a:t>
            </a:r>
          </a:p>
          <a:p>
            <a:r>
              <a:rPr lang="en-US"/>
              <a:t/>
            </a:r>
          </a:p>
          <a:p>
            <a:r>
              <a:rPr lang="en-US"/>
              <a:t>Human Analyst: Any unclear cases are halted for manual investigation, extending approval time significantly.</a:t>
            </a:r>
          </a:p>
          <a:p>
            <a:r>
              <a:rPr lang="en-US"/>
              <a:t/>
            </a:r>
          </a:p>
          <a:p>
            <a:r>
              <a:rPr lang="en-US"/>
              <a:t>Customer Call Verification: The bank might call the customer to confirm the transaction, causing friction and delays.</a:t>
            </a:r>
          </a:p>
          <a:p>
            <a:r>
              <a:rPr lang="en-US"/>
              <a:t/>
            </a:r>
          </a:p>
          <a:p>
            <a:r>
              <a:rPr lang="en-US"/>
              <a:t>Decision Orchestrator: Combines static rule outcome or analyst review into a final approve/deny call.</a:t>
            </a:r>
          </a:p>
          <a:p>
            <a:r>
              <a:rPr lang="en-US"/>
              <a:t/>
            </a:r>
          </a:p>
          <a:p>
            <a:r>
              <a:rPr lang="en-US"/>
              <a:t>Outcome:</a:t>
            </a:r>
          </a:p>
          <a:p>
            <a:r>
              <a:rPr lang="en-US"/>
              <a:t/>
            </a:r>
          </a:p>
          <a:p>
            <a:r>
              <a:rPr lang="en-US"/>
              <a:t>Transaction Successful: Approved by rules or after manual/phone verification (which can be slow).</a:t>
            </a:r>
          </a:p>
          <a:p>
            <a:r>
              <a:rPr lang="en-US"/>
              <a:t/>
            </a:r>
          </a:p>
          <a:p>
            <a:r>
              <a:rPr lang="en-US"/>
              <a:t>Potential Fraud: Suspicious or unresolved cases are flagged, require investigation, or result in rejected transactions.</a:t>
            </a:r>
          </a:p>
          <a:p>
            <a:r>
              <a:rPr lang="en-US"/>
              <a:t/>
            </a:r>
          </a:p>
          <a:p>
            <a:r>
              <a:rPr lang="en-US"/>
              <a:t>Example:</a:t>
            </a:r>
          </a:p>
          <a:p>
            <a:r>
              <a:rPr lang="en-US"/>
              <a:t>A customer tries to pay $2000 while traveling abroad. The static engine flags it due to “foreign location,” holds the payment, and an analyst must call the customer. The process can take hours or longer, frustrating the user and often blocking legitimate activity.</a:t>
            </a:r>
          </a:p>
          <a:p>
            <a:r>
              <a:rPr lang="en-US"/>
              <a:t/>
            </a:r>
          </a:p>
          <a:p>
            <a:r>
              <a:rPr lang="en-US"/>
              <a:t>Right Side: AI-Driven Workflow</a:t>
            </a:r>
          </a:p>
          <a:p>
            <a:r>
              <a:rPr lang="en-US"/>
              <a:t>Flow Explanation:</a:t>
            </a:r>
          </a:p>
          <a:p>
            <a:r>
              <a:rPr lang="en-US"/>
              <a:t>User Initiates Transaction: As before, the process starts with a user’s payment request via APIs.</a:t>
            </a:r>
          </a:p>
          <a:p>
            <a:r>
              <a:rPr lang="en-US"/>
              <a:t/>
            </a:r>
          </a:p>
          <a:p>
            <a:r>
              <a:rPr lang="en-US"/>
              <a:t>Bank System Processing: The request quickly reaches advanced analytics.</a:t>
            </a:r>
          </a:p>
          <a:p>
            <a:r>
              <a:rPr lang="en-US"/>
              <a:t/>
            </a:r>
          </a:p>
          <a:p>
            <a:r>
              <a:rPr lang="en-US"/>
              <a:t>Transaction Analysis Services:</a:t>
            </a:r>
          </a:p>
          <a:p>
            <a:r>
              <a:rPr lang="en-US"/>
              <a:t/>
            </a:r>
          </a:p>
          <a:p>
            <a:r>
              <a:rPr lang="en-US"/>
              <a:t>KYC &amp; Authentication: Automated, real-time identity and device checks.</a:t>
            </a:r>
          </a:p>
          <a:p>
            <a:r>
              <a:rPr lang="en-US"/>
              <a:t/>
            </a:r>
          </a:p>
          <a:p>
            <a:r>
              <a:rPr lang="en-US"/>
              <a:t>Rules Engine &amp; Pattern Analysis: AI reviews hundreds of dynamic variables (behavioral trends, device data, location, transaction history) to determine authenticity.</a:t>
            </a:r>
          </a:p>
          <a:p>
            <a:r>
              <a:rPr lang="en-US"/>
              <a:t/>
            </a:r>
          </a:p>
          <a:p>
            <a:r>
              <a:rPr lang="en-US"/>
              <a:t>Real-Time Log Analysis: Each transaction is logged and cross-referenced instantly to uncover emerging fraud trends.</a:t>
            </a:r>
          </a:p>
          <a:p>
            <a:r>
              <a:rPr lang="en-US"/>
              <a:t/>
            </a:r>
          </a:p>
          <a:p>
            <a:r>
              <a:rPr lang="en-US"/>
              <a:t>Decision Orchestrator: Integrates AI risk scoring to render a fast, explainable approve/reject decision.</a:t>
            </a:r>
          </a:p>
          <a:p>
            <a:r>
              <a:rPr lang="en-US"/>
              <a:t/>
            </a:r>
          </a:p>
          <a:p>
            <a:r>
              <a:rPr lang="en-US"/>
              <a:t>Outcome:</a:t>
            </a:r>
          </a:p>
          <a:p>
            <a:r>
              <a:rPr lang="en-US"/>
              <a:t/>
            </a:r>
          </a:p>
          <a:p>
            <a:r>
              <a:rPr lang="en-US"/>
              <a:t>Transaction Successful: Genuine transactions are identified and approved within milliseconds.</a:t>
            </a:r>
          </a:p>
          <a:p>
            <a:r>
              <a:rPr lang="en-US"/>
              <a:t/>
            </a:r>
          </a:p>
          <a:p>
            <a:r>
              <a:rPr lang="en-US"/>
              <a:t>Transaction Rejected: Fraudulent or high-risk attempts are blocked instantly, often before funds ever leave the account.</a:t>
            </a:r>
          </a:p>
          <a:p>
            <a:r>
              <a:rPr lang="en-US"/>
              <a:t/>
            </a:r>
          </a:p>
          <a:p>
            <a:r>
              <a:rPr lang="en-US"/>
              <a:t>Example:</a:t>
            </a:r>
          </a:p>
          <a:p>
            <a:r>
              <a:rPr lang="en-US"/>
              <a:t>A regular user makes a large purchase on a business trip. AI cross-references their past travel, device use, spending patterns, and even recent flight info to authenticate instantly—so the transaction succeeds in under a second without any manual delay. But if someone tries using the same card an hour later from another country, the system detects the anomaly and rejects the fraud attempt automatically.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Interactive Questions to Start With:</a:t>
            </a:r>
          </a:p>
          <a:p>
            <a:r>
              <a:rPr lang="en-US"/>
              <a:t>"What do you think happens in those few seconds when you swipe your card?"</a:t>
            </a:r>
          </a:p>
          <a:p>
            <a:r>
              <a:rPr lang="en-US"/>
              <a:t/>
            </a:r>
          </a:p>
          <a:p>
            <a:r>
              <a:rPr lang="en-US"/>
              <a:t>Answer: In 100-300 milliseconds, multiple AI systems analyze your transaction, check your behavior patterns, assess risk, and make approval/decline decisions</a:t>
            </a:r>
          </a:p>
          <a:p>
            <a:r>
              <a:rPr lang="en-US"/>
              <a:t/>
            </a:r>
          </a:p>
          <a:p>
            <a:r>
              <a:rPr lang="en-US"/>
              <a:t>"How many of you have ever received a fraud alert from your bank?"</a:t>
            </a:r>
          </a:p>
          <a:p>
            <a:r>
              <a:rPr lang="en-US"/>
              <a:t/>
            </a:r>
          </a:p>
          <a:p>
            <a:r>
              <a:rPr lang="en-US"/>
              <a:t/>
            </a:r>
          </a:p>
          <a:p>
            <a:r>
              <a:rPr lang="en-US"/>
              <a:t>Follow up: "That alert was likely generated by AI systems similar to what we'll discuss today"</a:t>
            </a:r>
          </a:p>
          <a:p>
            <a:r>
              <a:rPr lang="en-US"/>
              <a:t/>
            </a:r>
          </a:p>
          <a:p>
            <a:r>
              <a:rPr lang="en-US"/>
              <a:t>"Can you guess how many fraudulent transactions banks prevent daily?"</a:t>
            </a:r>
          </a:p>
          <a:p>
            <a:r>
              <a:rPr lang="en-US"/>
              <a:t/>
            </a:r>
          </a:p>
          <a:p>
            <a:r>
              <a:rPr lang="en-US"/>
              <a:t>Major banks like JPMorgan Chase process millions of transactions daily and prevent thousands of fraudulent attempts in real-time</a:t>
            </a:r>
          </a:p>
          <a:p>
            <a:r>
              <a:rPr lang="en-US"/>
              <a:t/>
            </a:r>
          </a:p>
          <a:p>
            <a:r>
              <a:rPr lang="en-US"/>
              <a:t>Key Statistics to Share:</a:t>
            </a:r>
          </a:p>
          <a:p>
            <a:r>
              <a:rPr lang="en-US"/>
              <a:t>Over 151,000 cases of credit card fraud were reported in Q1 2025 alone</a:t>
            </a:r>
          </a:p>
          <a:p>
            <a:r>
              <a:rPr lang="en-US"/>
              <a:t/>
            </a:r>
          </a:p>
          <a:p>
            <a:r>
              <a:rPr lang="en-US"/>
              <a:t>25% increase in consumer fraud losses in 2024, totaling $12.5 billion</a:t>
            </a:r>
          </a:p>
          <a:p>
            <a:r>
              <a:rPr lang="en-US"/>
              <a:t/>
            </a:r>
          </a:p>
          <a:p>
            <a:r>
              <a:rPr lang="en-US"/>
              <a:t>60% of financial organizations report increased fraudulent activity in the last 12 months</a:t>
            </a:r>
          </a:p>
          <a:p>
            <a:r>
              <a:rPr lang="en-US"/>
              <a:t/>
            </a:r>
          </a:p>
          <a:p>
            <a:r>
              <a:rPr lang="en-US"/>
              <a:t>AI systems can analyze transactions in milliseconds vs. traditional methods taking minutes or hours</a:t>
            </a:r>
          </a:p>
          <a:p>
            <a:r>
              <a:rPr lang="en-US"/>
              <a:t/>
            </a:r>
          </a:p>
          <a:p>
            <a:r>
              <a:rPr lang="en-US"/>
              <a:t>Case Study A: JPMorgan Chase – 60% Fraud Reduction</a:t>
            </a:r>
          </a:p>
          <a:p>
            <a:r>
              <a:rPr lang="en-US"/>
              <a:t>Background:</a:t>
            </a:r>
          </a:p>
          <a:p>
            <a:r>
              <a:rPr lang="en-US"/>
              <a:t/>
            </a:r>
          </a:p>
          <a:p>
            <a:r>
              <a:rPr lang="en-US"/>
              <a:t>One of the largest banks in the US with millions of daily transactions</a:t>
            </a:r>
          </a:p>
          <a:p>
            <a:r>
              <a:rPr lang="en-US"/>
              <a:t/>
            </a:r>
          </a:p>
          <a:p>
            <a:r>
              <a:rPr lang="en-US"/>
              <a:t>Facing sophisticated card-not-present fraud and account takeover attempts</a:t>
            </a:r>
          </a:p>
          <a:p>
            <a:r>
              <a:rPr lang="en-US"/>
              <a:t/>
            </a:r>
          </a:p>
          <a:p>
            <a:r>
              <a:rPr lang="en-US"/>
              <a:t>Traditional rule-based systems generating too many false positives</a:t>
            </a:r>
          </a:p>
          <a:p>
            <a:r>
              <a:rPr lang="en-US"/>
              <a:t/>
            </a:r>
          </a:p>
          <a:p>
            <a:r>
              <a:rPr lang="en-US"/>
              <a:t>Implementation:</a:t>
            </a:r>
          </a:p>
          <a:p>
            <a:r>
              <a:rPr lang="en-US"/>
              <a:t/>
            </a:r>
          </a:p>
          <a:p>
            <a:r>
              <a:rPr lang="en-US"/>
              <a:t>Deployed machine learning algorithms analyzing transaction patterns and customer behavior</a:t>
            </a:r>
          </a:p>
          <a:p>
            <a:r>
              <a:rPr lang="en-US"/>
              <a:t/>
            </a:r>
          </a:p>
          <a:p>
            <a:r>
              <a:rPr lang="en-US"/>
              <a:t>Integrated behavioral biometrics and device fingerprinting</a:t>
            </a:r>
          </a:p>
          <a:p>
            <a:r>
              <a:rPr lang="en-US"/>
              <a:t/>
            </a:r>
          </a:p>
          <a:p>
            <a:r>
              <a:rPr lang="en-US"/>
              <a:t>Real-time processing of customer's complete transaction history</a:t>
            </a:r>
          </a:p>
          <a:p>
            <a:r>
              <a:rPr lang="en-US"/>
              <a:t/>
            </a:r>
          </a:p>
          <a:p>
            <a:r>
              <a:rPr lang="en-US"/>
              <a:t>Results Achieved:</a:t>
            </a:r>
          </a:p>
          <a:p>
            <a:r>
              <a:rPr lang="en-US"/>
              <a:t/>
            </a:r>
          </a:p>
          <a:p>
            <a:r>
              <a:rPr lang="en-US"/>
              <a:t>60% reduction in credit card fraud within 6 months</a:t>
            </a:r>
          </a:p>
          <a:p>
            <a:r>
              <a:rPr lang="en-US"/>
              <a:t/>
            </a:r>
          </a:p>
          <a:p>
            <a:r>
              <a:rPr lang="en-US"/>
              <a:t>20% reduction in false positives (fewer legitimate transactions blocked)</a:t>
            </a:r>
          </a:p>
          <a:p>
            <a:r>
              <a:rPr lang="en-US"/>
              <a:t/>
            </a:r>
          </a:p>
          <a:p>
            <a:r>
              <a:rPr lang="en-US"/>
              <a:t>Sub-100ms decision making for real-time transaction processing</a:t>
            </a:r>
          </a:p>
          <a:p>
            <a:r>
              <a:rPr lang="en-US"/>
              <a:t/>
            </a:r>
          </a:p>
          <a:p>
            <a:r>
              <a:rPr lang="en-US"/>
              <a:t>Multi-layered approach combining ML algorithms with human review for edge cases</a:t>
            </a:r>
          </a:p>
          <a:p>
            <a:r>
              <a:rPr lang="en-US"/>
              <a:t/>
            </a:r>
          </a:p>
          <a:p>
            <a:r>
              <a:rPr lang="en-US"/>
              <a:t>Technical Details:</a:t>
            </a:r>
          </a:p>
          <a:p>
            <a:r>
              <a:rPr lang="en-US"/>
              <a:t/>
            </a:r>
          </a:p>
          <a:p>
            <a:r>
              <a:rPr lang="en-US"/>
              <a:t>System trained on dataset of millions of transactions (both legitimate and fraudulent)</a:t>
            </a:r>
          </a:p>
          <a:p>
            <a:r>
              <a:rPr lang="en-US"/>
              <a:t/>
            </a:r>
          </a:p>
          <a:p>
            <a:r>
              <a:rPr lang="en-US"/>
              <a:t>Implemented two-factor authentication and device fingerprinting as additional security layers</a:t>
            </a:r>
          </a:p>
          <a:p>
            <a:r>
              <a:rPr lang="en-US"/>
              <a:t/>
            </a:r>
          </a:p>
          <a:p>
            <a:r>
              <a:rPr lang="en-US"/>
              <a:t>Continuous learning system that adapts to new fraud patterns automatically</a:t>
            </a:r>
          </a:p>
          <a:p>
            <a:r>
              <a:rPr lang="en-US"/>
              <a:t/>
            </a:r>
          </a:p>
          <a:p>
            <a:r>
              <a:rPr lang="en-US"/>
              <a:t>Case Study B: DBS Bank – 90% False Positive Reduction</a:t>
            </a:r>
          </a:p>
          <a:p>
            <a:r>
              <a:rPr lang="en-US"/>
              <a:t>Background:</a:t>
            </a:r>
          </a:p>
          <a:p>
            <a:r>
              <a:rPr lang="en-US"/>
              <a:t/>
            </a:r>
          </a:p>
          <a:p>
            <a:r>
              <a:rPr lang="en-US"/>
              <a:t>Leading Asian bank processing over 1.8 million transactions per hour</a:t>
            </a:r>
          </a:p>
          <a:p>
            <a:r>
              <a:rPr lang="en-US"/>
              <a:t/>
            </a:r>
          </a:p>
          <a:p>
            <a:r>
              <a:rPr lang="en-US"/>
              <a:t>High false positive rates causing customer friction and operational costs</a:t>
            </a:r>
          </a:p>
          <a:p>
            <a:r>
              <a:rPr lang="en-US"/>
              <a:t/>
            </a:r>
          </a:p>
          <a:p>
            <a:r>
              <a:rPr lang="en-US"/>
              <a:t>Need for real-time compliance with multiple regulatory frameworks</a:t>
            </a:r>
          </a:p>
          <a:p>
            <a:r>
              <a:rPr lang="en-US"/>
              <a:t/>
            </a:r>
          </a:p>
          <a:p>
            <a:r>
              <a:rPr lang="en-US"/>
              <a:t>AI Implementation:</a:t>
            </a:r>
          </a:p>
          <a:p>
            <a:r>
              <a:rPr lang="en-US"/>
              <a:t/>
            </a:r>
          </a:p>
          <a:p>
            <a:r>
              <a:rPr lang="en-US"/>
              <a:t>Advanced behavioral analysis algorithms</a:t>
            </a:r>
          </a:p>
          <a:p>
            <a:r>
              <a:rPr lang="en-US"/>
              <a:t/>
            </a:r>
          </a:p>
          <a:p>
            <a:r>
              <a:rPr lang="en-US"/>
              <a:t>Cross-border transaction pattern recognition</a:t>
            </a:r>
          </a:p>
          <a:p>
            <a:r>
              <a:rPr lang="en-US"/>
              <a:t/>
            </a:r>
          </a:p>
          <a:p>
            <a:r>
              <a:rPr lang="en-US"/>
              <a:t>Real-time risk scoring system</a:t>
            </a:r>
          </a:p>
          <a:p>
            <a:r>
              <a:rPr lang="en-US"/>
              <a:t/>
            </a:r>
          </a:p>
          <a:p>
            <a:r>
              <a:rPr lang="en-US"/>
              <a:t>Automated compliance reporting</a:t>
            </a:r>
          </a:p>
          <a:p>
            <a:r>
              <a:rPr lang="en-US"/>
              <a:t/>
            </a:r>
          </a:p>
          <a:p>
            <a:r>
              <a:rPr lang="en-US"/>
              <a:t>Measurable Outcomes:</a:t>
            </a:r>
          </a:p>
          <a:p>
            <a:r>
              <a:rPr lang="en-US"/>
              <a:t/>
            </a:r>
          </a:p>
          <a:p>
            <a:r>
              <a:rPr lang="en-US"/>
              <a:t>90% reduction in false positives (dramatic decrease in legitimate transactions flagged)</a:t>
            </a:r>
          </a:p>
          <a:p>
            <a:r>
              <a:rPr lang="en-US"/>
              <a:t/>
            </a:r>
          </a:p>
          <a:p>
            <a:r>
              <a:rPr lang="en-US"/>
              <a:t>60% improvement in detection accuracy for genuine threats</a:t>
            </a:r>
          </a:p>
          <a:p>
            <a:r>
              <a:rPr lang="en-US"/>
              <a:t/>
            </a:r>
          </a:p>
          <a:p>
            <a:r>
              <a:rPr lang="en-US"/>
              <a:t>75% faster investigation times for suspicious activities</a:t>
            </a:r>
          </a:p>
          <a:p>
            <a:r>
              <a:rPr lang="en-US"/>
              <a:t/>
            </a:r>
          </a:p>
          <a:p>
            <a:r>
              <a:rPr lang="en-US"/>
              <a:t>Enhanced regulatory reporting with automated compliance checks</a:t>
            </a:r>
          </a:p>
          <a:p>
            <a:r>
              <a:rPr lang="en-US"/>
              <a:t/>
            </a:r>
          </a:p>
          <a:p>
            <a:r>
              <a:rPr lang="en-US"/>
              <a:t>Case Study C: European Bank AML Success</a:t>
            </a:r>
          </a:p>
          <a:p>
            <a:r>
              <a:rPr lang="en-US"/>
              <a:t>Focus Area: Anti-Money Laundering (AML) Detection</a:t>
            </a:r>
          </a:p>
          <a:p>
            <a:r>
              <a:rPr lang="en-US"/>
              <a:t/>
            </a:r>
          </a:p>
          <a:p>
            <a:r>
              <a:rPr lang="en-US"/>
              <a:t>30% reduction in false positives for AML alerts</a:t>
            </a:r>
          </a:p>
          <a:p>
            <a:r>
              <a:rPr lang="en-US"/>
              <a:t/>
            </a:r>
          </a:p>
          <a:p>
            <a:r>
              <a:rPr lang="en-US"/>
              <a:t>25% increase in identification of genuine suspicious activities</a:t>
            </a:r>
          </a:p>
          <a:p>
            <a:r>
              <a:rPr lang="en-US"/>
              <a:t/>
            </a:r>
          </a:p>
          <a:p>
            <a:r>
              <a:rPr lang="en-US"/>
              <a:t>Processing of vast transactional data to identify money laundering patterns</a:t>
            </a:r>
          </a:p>
          <a:p>
            <a:r>
              <a:rPr lang="en-US"/>
              <a:t/>
            </a:r>
          </a:p>
          <a:p>
            <a:r>
              <a:rPr lang="en-US"/>
              <a:t>Multi-layered approach combining ML with behavioral biometrics</a:t>
            </a:r>
          </a:p>
          <a:p>
            <a:r>
              <a:rPr lang="en-US"/>
              <a:t/>
            </a:r>
          </a:p>
          <a:p>
            <a:r>
              <a:rPr lang="en-US"/>
              <a:t>Section 6: Integration with Rescape's Platform</a:t>
            </a:r>
          </a:p>
          <a:p>
            <a:r>
              <a:rPr lang="en-US"/>
              <a:t>How This Connects to Rescape's Vision:</a:t>
            </a:r>
          </a:p>
          <a:p>
            <a:r>
              <a:rPr lang="en-US"/>
              <a:t>Unified Fraud Detection:</a:t>
            </a:r>
          </a:p>
          <a:p>
            <a:r>
              <a:rPr lang="en-US"/>
              <a:t>Real-time monitoring across all transaction types</a:t>
            </a:r>
          </a:p>
          <a:p>
            <a:r>
              <a:rPr lang="en-US"/>
              <a:t>Integration with blockchain on/off-ramping processes</a:t>
            </a:r>
          </a:p>
          <a:p>
            <a:r>
              <a:rPr lang="en-US"/>
              <a:t>Seamless connection to forensic analysis tools</a:t>
            </a:r>
          </a:p>
          <a:p>
            <a:r>
              <a:rPr lang="en-US"/>
              <a:t>Cross-platform risk assessment</a:t>
            </a:r>
          </a:p>
          <a:p>
            <a:r>
              <a:rPr lang="en-US"/>
              <a:t/>
            </a:r>
          </a:p>
          <a:p>
            <a:r>
              <a:rPr lang="en-US"/>
              <a:t>API-First Architecture:</a:t>
            </a:r>
          </a:p>
          <a:p>
            <a:r>
              <a:rPr lang="en-US"/>
              <a:t>Easy integration with existing banking systems</a:t>
            </a:r>
          </a:p>
          <a:p>
            <a:r>
              <a:rPr lang="en-US"/>
              <a:t>RESTful APIs for real-time fraud scoring</a:t>
            </a:r>
          </a:p>
          <a:p>
            <a:r>
              <a:rPr lang="en-US"/>
              <a:t>Webhook notifications for immediate alerts</a:t>
            </a:r>
          </a:p>
          <a:p>
            <a:r>
              <a:rPr lang="en-US"/>
              <a:t>Scalable cloud-native deployment</a:t>
            </a:r>
          </a:p>
          <a:p>
            <a:r>
              <a:rPr lang="en-US"/>
              <a:t/>
            </a:r>
          </a:p>
          <a:p>
            <a:r>
              <a:rPr lang="en-US"/>
              <a:t>Compliance and Reporting:</a:t>
            </a:r>
          </a:p>
          <a:p>
            <a:r>
              <a:rPr lang="en-US"/>
              <a:t>Automated regulatory compliance (BSA, AML, KYC)</a:t>
            </a:r>
          </a:p>
          <a:p>
            <a:r>
              <a:rPr lang="en-US"/>
              <a:t>Real-time suspicious activity reporting</a:t>
            </a:r>
          </a:p>
          <a:p>
            <a:r>
              <a:rPr lang="en-US"/>
              <a:t>Audit trail generation</a:t>
            </a:r>
          </a:p>
          <a:p>
            <a:r>
              <a:rPr lang="en-US"/>
              <a:t>Multi-jurisdiction regulatory support</a:t>
            </a:r>
          </a:p>
          <a:p>
            <a:r>
              <a:rPr lang="en-US"/>
              <a:t/>
            </a:r>
          </a:p>
          <a:p>
            <a:r>
              <a:rPr lang="en-US"/>
              <a:t>Section 7: Anticipated Questions and Answers</a:t>
            </a:r>
          </a:p>
          <a:p>
            <a:r>
              <a:rPr lang="en-US"/>
              <a:t>Q: How does the system handle false positives?</a:t>
            </a:r>
          </a:p>
          <a:p>
            <a:r>
              <a:rPr lang="en-US"/>
              <a:t>A: Modern AI systems achieve 90% reduction in false positives through:</a:t>
            </a:r>
          </a:p>
          <a:p>
            <a:r>
              <a:rPr lang="en-US"/>
              <a:t/>
            </a:r>
          </a:p>
          <a:p>
            <a:r>
              <a:rPr lang="en-US"/>
              <a:t>Continuous learning from feedback loops</a:t>
            </a:r>
          </a:p>
          <a:p>
            <a:r>
              <a:rPr lang="en-US"/>
              <a:t/>
            </a:r>
          </a:p>
          <a:p>
            <a:r>
              <a:rPr lang="en-US"/>
              <a:t>Multi-layered decision making (not just binary approve/decline)</a:t>
            </a:r>
          </a:p>
          <a:p>
            <a:r>
              <a:rPr lang="en-US"/>
              <a:t/>
            </a:r>
          </a:p>
          <a:p>
            <a:r>
              <a:rPr lang="en-US"/>
              <a:t>Contextual analysis considering user behavior patterns</a:t>
            </a:r>
          </a:p>
          <a:p>
            <a:r>
              <a:rPr lang="en-US"/>
              <a:t/>
            </a:r>
          </a:p>
          <a:p>
            <a:r>
              <a:rPr lang="en-US"/>
              <a:t>Step-up authentication instead of immediate blocking</a:t>
            </a:r>
          </a:p>
          <a:p>
            <a:r>
              <a:rPr lang="en-US"/>
              <a:t/>
            </a:r>
          </a:p>
          <a:p>
            <a:r>
              <a:rPr lang="en-US"/>
              <a:t>Q: What about privacy and data protection?</a:t>
            </a:r>
          </a:p>
          <a:p>
            <a:r>
              <a:rPr lang="en-US"/>
              <a:t>A:</a:t>
            </a:r>
          </a:p>
          <a:p>
            <a:r>
              <a:rPr lang="en-US"/>
              <a:t>All systems comply with GDPR, CCPA, and other privacy regulations</a:t>
            </a:r>
          </a:p>
          <a:p>
            <a:r>
              <a:rPr lang="en-US"/>
              <a:t/>
            </a:r>
          </a:p>
          <a:p>
            <a:r>
              <a:rPr lang="en-US"/>
              <a:t>Data anonymization and masking in feature stores</a:t>
            </a:r>
          </a:p>
          <a:p>
            <a:r>
              <a:rPr lang="en-US"/>
              <a:t/>
            </a:r>
          </a:p>
          <a:p>
            <a:r>
              <a:rPr lang="en-US"/>
              <a:t>Federated learning techniques preserve customer privacy</a:t>
            </a:r>
          </a:p>
          <a:p>
            <a:r>
              <a:rPr lang="en-US"/>
              <a:t/>
            </a:r>
          </a:p>
          <a:p>
            <a:r>
              <a:rPr lang="en-US"/>
              <a:t>Minimal data retention policies with automatic purging</a:t>
            </a:r>
          </a:p>
          <a:p>
            <a:r>
              <a:rPr lang="en-US"/>
              <a:t/>
            </a:r>
          </a:p>
          <a:p>
            <a:r>
              <a:rPr lang="en-US"/>
              <a:t>Q: How quickly can this be implemented?</a:t>
            </a:r>
          </a:p>
          <a:p>
            <a:r>
              <a:rPr lang="en-US"/>
              <a:t>A:</a:t>
            </a:r>
          </a:p>
          <a:p>
            <a:r>
              <a:rPr lang="en-US"/>
              <a:t/>
            </a:r>
          </a:p>
          <a:p>
            <a:r>
              <a:rPr lang="en-US"/>
              <a:t>Typical implementation: 3-6 months for full deployment</a:t>
            </a:r>
          </a:p>
          <a:p>
            <a:r>
              <a:rPr lang="en-US"/>
              <a:t/>
            </a:r>
          </a:p>
          <a:p>
            <a:r>
              <a:rPr lang="en-US"/>
              <a:t>Proof of concept: 2-4 weeks</a:t>
            </a:r>
          </a:p>
          <a:p>
            <a:r>
              <a:rPr lang="en-US"/>
              <a:t/>
            </a:r>
          </a:p>
          <a:p>
            <a:r>
              <a:rPr lang="en-US"/>
              <a:t>Initial results visible within first month</a:t>
            </a:r>
          </a:p>
          <a:p>
            <a:r>
              <a:rPr lang="en-US"/>
              <a:t/>
            </a:r>
          </a:p>
          <a:p>
            <a:r>
              <a:rPr lang="en-US"/>
              <a:t>Full optimization achieved within 6-12 months</a:t>
            </a:r>
          </a:p>
          <a:p>
            <a:r>
              <a:rPr lang="en-US"/>
              <a:t/>
            </a:r>
          </a:p>
          <a:p>
            <a:r>
              <a:rPr lang="en-US"/>
              <a:t>Q: What happens if fraudsters adapt to the AI?</a:t>
            </a:r>
          </a:p>
          <a:p>
            <a:r>
              <a:rPr lang="en-US"/>
              <a:t>A:</a:t>
            </a:r>
          </a:p>
          <a:p>
            <a:r>
              <a:rPr lang="en-US"/>
              <a:t/>
            </a:r>
          </a:p>
          <a:p>
            <a:r>
              <a:rPr lang="en-US"/>
              <a:t>Continuous learning systems automatically adapt to new patterns</a:t>
            </a:r>
          </a:p>
          <a:p>
            <a:r>
              <a:rPr lang="en-US"/>
              <a:t/>
            </a:r>
          </a:p>
          <a:p>
            <a:r>
              <a:rPr lang="en-US"/>
              <a:t>Ensemble methods make t harder for fraudsters to game the system</a:t>
            </a:r>
          </a:p>
          <a:p>
            <a:r>
              <a:rPr lang="en-US"/>
              <a:t/>
            </a:r>
          </a:p>
          <a:p>
            <a:r>
              <a:rPr lang="en-US"/>
              <a:t>Regular model retraining with latest fraud data</a:t>
            </a:r>
          </a:p>
          <a:p>
            <a:r>
              <a:rPr lang="en-US"/>
              <a:t/>
            </a:r>
          </a:p>
          <a:p>
            <a:r>
              <a:rPr lang="en-US"/>
              <a:t>Human-in-the-loop for complex edge cases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Manual Rule-Based Systems vs. Intelligent Anomaly Detection</a:t>
            </a:r>
          </a:p>
          <a:p>
            <a:r>
              <a:rPr lang="en-US"/>
              <a:t>Traditional systems operate on basic, fixed rules (such as flagging all transactions above a set amount). These rules are static, easy for fraudsters to circumvent, and fail to keep up with evolving attack strategies.</a:t>
            </a:r>
          </a:p>
          <a:p>
            <a:r>
              <a:rPr lang="en-US"/>
              <a:t/>
            </a:r>
          </a:p>
          <a:p>
            <a:r>
              <a:rPr lang="en-US"/>
              <a:t>AI-based systems leverage machine learning to recognize complex and dynamic fraud patterns across transaction data. For instance, while a rule-based system might only look at transaction amount, an AI solution can analyze behavioral patterns, device fingerprints, and timing to distinguish between genuine outliers and actual fraud attempts, adapting as new tactics emerge.</a:t>
            </a:r>
          </a:p>
          <a:p>
            <a:r>
              <a:rPr lang="en-US"/>
              <a:t/>
            </a:r>
          </a:p>
          <a:p>
            <a:r>
              <a:rPr lang="en-US"/>
              <a:t>Slow &amp; Reactive vs. Real-Time &amp; Proactive</a:t>
            </a:r>
          </a:p>
          <a:p>
            <a:r>
              <a:rPr lang="en-US"/>
              <a:t>Without AI: Fraud is often detected after the fact, relying on slow human review and batch processing that delays intervention and results in financial losses.</a:t>
            </a:r>
          </a:p>
          <a:p>
            <a:r>
              <a:rPr lang="en-US"/>
              <a:t/>
            </a:r>
          </a:p>
          <a:p>
            <a:r>
              <a:rPr lang="en-US"/>
              <a:t>With AI: Machine learning models can score each transaction in under 100 milliseconds, blocking or verifying suspicious activity before money ever leaves the account. For example, a digital wallet using AI can stop a stolen credit card from being drained—even before the thief completes one purchase—by learning real transaction behavior in real time.</a:t>
            </a:r>
          </a:p>
          <a:p>
            <a:r>
              <a:rPr lang="en-US"/>
              <a:t/>
            </a:r>
          </a:p>
          <a:p>
            <a:r>
              <a:rPr lang="en-US"/>
              <a:t>High False Positives vs. Low False Positives</a:t>
            </a:r>
          </a:p>
          <a:p>
            <a:r>
              <a:rPr lang="en-US"/>
              <a:t>Legacy systems tend to block a significant percentage (20–30%) of legitimate transactions, frustrating users and raising support costs.</a:t>
            </a:r>
          </a:p>
          <a:p>
            <a:r>
              <a:rPr lang="en-US"/>
              <a:t/>
            </a:r>
          </a:p>
          <a:p>
            <a:r>
              <a:rPr lang="en-US"/>
              <a:t>AI solutions reduce false positives by up to 90% by analyzing greater context and customer history. For instance, if a long-time customer suddenly spends more than usual while traveling, AI integrates travel data and recent spending to avoid wrongly declining a legitimate purchase—improving trust and satisfaction.</a:t>
            </a:r>
          </a:p>
          <a:p>
            <a:r>
              <a:rPr lang="en-US"/>
              <a:t/>
            </a:r>
          </a:p>
          <a:p>
            <a:r>
              <a:rPr lang="en-US"/>
              <a:t>Limited Scalability vs. Massive Scalability</a:t>
            </a:r>
          </a:p>
          <a:p>
            <a:r>
              <a:rPr lang="en-US"/>
              <a:t>Traditional approaches buckle under high transaction volumes, failing to identify hidden patterns in big datasets. Scaling up means proportionally growing the manual review team and infrastructure.</a:t>
            </a:r>
          </a:p>
          <a:p>
            <a:r>
              <a:rPr lang="en-US"/>
              <a:t/>
            </a:r>
          </a:p>
          <a:p>
            <a:r>
              <a:rPr lang="en-US"/>
              <a:t>AI-powered detection excels as transaction volume increases, processing millions of transactions per second while uncovering subtle, multi-faceted attack patterns. For example, a fintech startup leveraging AI can scale from thousands to millions of transactions almost instantly, keeping fraud detection accuracy high even as business grows.</a:t>
            </a:r>
          </a:p>
          <a:p>
            <a:r>
              <a:rPr lang="en-US"/>
              <a:t/>
            </a:r>
          </a:p>
          <a:p>
            <a:r>
              <a:rPr lang="en-US"/>
              <a:t>Example: Bank Implementation Impact</a:t>
            </a:r>
          </a:p>
          <a:p>
            <a:r>
              <a:rPr lang="en-US"/>
              <a:t>Before AI: A major bank was losing millions to undetected fraud, with thousands of customer complaints monthly due to legitimate transactions being blocked.</a:t>
            </a:r>
          </a:p>
          <a:p>
            <a:r>
              <a:rPr lang="en-US"/>
              <a:t/>
            </a:r>
          </a:p>
          <a:p>
            <a:r>
              <a:rPr lang="en-US"/>
              <a:t>After AI adoption: Fraud detection accuracy improved from 75% to 93%. False positives dropped by 80%, saving $1.2M per year in operational costs and improving NPS (Net Promoter Score) by 35 points.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Side: Traditional Workflow (Without AI)</a:t>
            </a:r>
          </a:p>
          <a:p>
            <a:r>
              <a:rPr lang="en-US"/>
              <a:t>Flow Explanation:</a:t>
            </a:r>
          </a:p>
          <a:p>
            <a:r>
              <a:rPr lang="en-US"/>
              <a:t>User Initiates Transaction: The process begins with a user action, such as submitting a payment request through digital banking APIs.</a:t>
            </a:r>
          </a:p>
          <a:p>
            <a:r>
              <a:rPr lang="en-US"/>
              <a:t/>
            </a:r>
          </a:p>
          <a:p>
            <a:r>
              <a:rPr lang="en-US"/>
              <a:t>Bank System Processing: Transaction data is passed to the core banking system.</a:t>
            </a:r>
          </a:p>
          <a:p>
            <a:r>
              <a:rPr lang="en-US"/>
              <a:t/>
            </a:r>
          </a:p>
          <a:p>
            <a:r>
              <a:rPr lang="en-US"/>
              <a:t>Manual Review &amp; Rule-Based System:</a:t>
            </a:r>
          </a:p>
          <a:p>
            <a:r>
              <a:rPr lang="en-US"/>
              <a:t/>
            </a:r>
          </a:p>
          <a:p>
            <a:r>
              <a:rPr lang="en-US"/>
              <a:t>Static Rule Engine: Checks fixed, well-defined triggers (e.g., “Flag payments above $10,000,” “Block foreign transactions after midnight”).</a:t>
            </a:r>
          </a:p>
          <a:p>
            <a:r>
              <a:rPr lang="en-US"/>
              <a:t/>
            </a:r>
          </a:p>
          <a:p>
            <a:r>
              <a:rPr lang="en-US"/>
              <a:t>Human Analyst: Any unclear cases are halted for manual investigation, extending approval time significantly.</a:t>
            </a:r>
          </a:p>
          <a:p>
            <a:r>
              <a:rPr lang="en-US"/>
              <a:t/>
            </a:r>
          </a:p>
          <a:p>
            <a:r>
              <a:rPr lang="en-US"/>
              <a:t>Customer Call Verification: The bank might call the customer to confirm the transaction, causing friction and delays.</a:t>
            </a:r>
          </a:p>
          <a:p>
            <a:r>
              <a:rPr lang="en-US"/>
              <a:t/>
            </a:r>
          </a:p>
          <a:p>
            <a:r>
              <a:rPr lang="en-US"/>
              <a:t>Decision Orchestrator: Combines static rule outcome or analyst review into a final approve/deny call.</a:t>
            </a:r>
          </a:p>
          <a:p>
            <a:r>
              <a:rPr lang="en-US"/>
              <a:t/>
            </a:r>
          </a:p>
          <a:p>
            <a:r>
              <a:rPr lang="en-US"/>
              <a:t>Outcome:</a:t>
            </a:r>
          </a:p>
          <a:p>
            <a:r>
              <a:rPr lang="en-US"/>
              <a:t/>
            </a:r>
          </a:p>
          <a:p>
            <a:r>
              <a:rPr lang="en-US"/>
              <a:t>Transaction Successful: Approved by rules or after manual/phone verification (which can be slow).</a:t>
            </a:r>
          </a:p>
          <a:p>
            <a:r>
              <a:rPr lang="en-US"/>
              <a:t/>
            </a:r>
          </a:p>
          <a:p>
            <a:r>
              <a:rPr lang="en-US"/>
              <a:t>Potential Fraud: Suspicious or unresolved cases are flagged, require investigation, or result in rejected transactions.</a:t>
            </a:r>
          </a:p>
          <a:p>
            <a:r>
              <a:rPr lang="en-US"/>
              <a:t/>
            </a:r>
          </a:p>
          <a:p>
            <a:r>
              <a:rPr lang="en-US"/>
              <a:t>Example:</a:t>
            </a:r>
          </a:p>
          <a:p>
            <a:r>
              <a:rPr lang="en-US"/>
              <a:t>A customer tries to pay $2000 while traveling abroad. The static engine flags it due to “foreign location,” holds the payment, and an analyst must call the customer. The process can take hours or longer, frustrating the user and often blocking legitimate activity.</a:t>
            </a:r>
          </a:p>
          <a:p>
            <a:r>
              <a:rPr lang="en-US"/>
              <a:t/>
            </a:r>
          </a:p>
          <a:p>
            <a:r>
              <a:rPr lang="en-US"/>
              <a:t>Right Side: AI-Driven Workflow</a:t>
            </a:r>
          </a:p>
          <a:p>
            <a:r>
              <a:rPr lang="en-US"/>
              <a:t>Flow Explanation:</a:t>
            </a:r>
          </a:p>
          <a:p>
            <a:r>
              <a:rPr lang="en-US"/>
              <a:t>User Initiates Transaction: As before, the process starts with a user’s payment request via APIs.</a:t>
            </a:r>
          </a:p>
          <a:p>
            <a:r>
              <a:rPr lang="en-US"/>
              <a:t/>
            </a:r>
          </a:p>
          <a:p>
            <a:r>
              <a:rPr lang="en-US"/>
              <a:t>Bank System Processing: The request quickly reaches advanced analytics.</a:t>
            </a:r>
          </a:p>
          <a:p>
            <a:r>
              <a:rPr lang="en-US"/>
              <a:t/>
            </a:r>
          </a:p>
          <a:p>
            <a:r>
              <a:rPr lang="en-US"/>
              <a:t>Transaction Analysis Services:</a:t>
            </a:r>
          </a:p>
          <a:p>
            <a:r>
              <a:rPr lang="en-US"/>
              <a:t/>
            </a:r>
          </a:p>
          <a:p>
            <a:r>
              <a:rPr lang="en-US"/>
              <a:t>KYC &amp; Authentication: Automated, real-time identity and device checks.</a:t>
            </a:r>
          </a:p>
          <a:p>
            <a:r>
              <a:rPr lang="en-US"/>
              <a:t/>
            </a:r>
          </a:p>
          <a:p>
            <a:r>
              <a:rPr lang="en-US"/>
              <a:t>Rules Engine &amp; Pattern Analysis: AI reviews hundreds of dynamic variables (behavioral trends, device data, location, transaction history) to determine authenticity.</a:t>
            </a:r>
          </a:p>
          <a:p>
            <a:r>
              <a:rPr lang="en-US"/>
              <a:t/>
            </a:r>
          </a:p>
          <a:p>
            <a:r>
              <a:rPr lang="en-US"/>
              <a:t>Real-Time Log Analysis: Each transaction is logged and cross-referenced instantly to uncover emerging fraud trends.</a:t>
            </a:r>
          </a:p>
          <a:p>
            <a:r>
              <a:rPr lang="en-US"/>
              <a:t/>
            </a:r>
          </a:p>
          <a:p>
            <a:r>
              <a:rPr lang="en-US"/>
              <a:t>Decision Orchestrator: Integrates AI risk scoring to render a fast, explainable approve/reject decision.</a:t>
            </a:r>
          </a:p>
          <a:p>
            <a:r>
              <a:rPr lang="en-US"/>
              <a:t/>
            </a:r>
          </a:p>
          <a:p>
            <a:r>
              <a:rPr lang="en-US"/>
              <a:t>Outcome:</a:t>
            </a:r>
          </a:p>
          <a:p>
            <a:r>
              <a:rPr lang="en-US"/>
              <a:t/>
            </a:r>
          </a:p>
          <a:p>
            <a:r>
              <a:rPr lang="en-US"/>
              <a:t>Transaction Successful: Genuine transactions are identified and approved within milliseconds.</a:t>
            </a:r>
          </a:p>
          <a:p>
            <a:r>
              <a:rPr lang="en-US"/>
              <a:t/>
            </a:r>
          </a:p>
          <a:p>
            <a:r>
              <a:rPr lang="en-US"/>
              <a:t>Transaction Rejected: Fraudulent or high-risk attempts are blocked instantly, often before funds ever leave the account.</a:t>
            </a:r>
          </a:p>
          <a:p>
            <a:r>
              <a:rPr lang="en-US"/>
              <a:t/>
            </a:r>
          </a:p>
          <a:p>
            <a:r>
              <a:rPr lang="en-US"/>
              <a:t>Example:</a:t>
            </a:r>
          </a:p>
          <a:p>
            <a:r>
              <a:rPr lang="en-US"/>
              <a:t>A regular user makes a large purchase on a business trip. AI cross-references their past travel, device use, spending patterns, and even recent flight info to authenticate instantly—so the transaction succeeds in under a second without any manual delay. But if someone tries using the same card an hour later from another country, the system detects the anomaly and rejects the fraud attempt automatically.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16.png" Type="http://schemas.openxmlformats.org/officeDocument/2006/relationships/image"/><Relationship Id="rId14" Target="../media/image17.svg" Type="http://schemas.openxmlformats.org/officeDocument/2006/relationships/image"/><Relationship Id="rId15" Target="../media/image18.png" Type="http://schemas.openxmlformats.org/officeDocument/2006/relationships/image"/><Relationship Id="rId16" Target="../media/image19.png" Type="http://schemas.openxmlformats.org/officeDocument/2006/relationships/image"/><Relationship Id="rId17" Target="../media/image4.png" Type="http://schemas.openxmlformats.org/officeDocument/2006/relationships/image"/><Relationship Id="rId18" Target="../media/image20.png" Type="http://schemas.openxmlformats.org/officeDocument/2006/relationships/image"/><Relationship Id="rId19" Target="../media/image21.png" Type="http://schemas.openxmlformats.org/officeDocument/2006/relationships/image"/><Relationship Id="rId2" Target="../notesSlides/notesSlide1.xml" Type="http://schemas.openxmlformats.org/officeDocument/2006/relationships/notesSlide"/><Relationship Id="rId20" Target="../media/image22.svg" Type="http://schemas.openxmlformats.org/officeDocument/2006/relationships/image"/><Relationship Id="rId21" Target="../media/image23.png" Type="http://schemas.openxmlformats.org/officeDocument/2006/relationships/image"/><Relationship Id="rId22" Target="../media/image24.svg" Type="http://schemas.openxmlformats.org/officeDocument/2006/relationships/image"/><Relationship Id="rId3" Target="../media/image1.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36.png" Type="http://schemas.openxmlformats.org/officeDocument/2006/relationships/image"/><Relationship Id="rId13" Target="../media/image37.svg" Type="http://schemas.openxmlformats.org/officeDocument/2006/relationships/image"/><Relationship Id="rId14" Target="../media/image38.png" Type="http://schemas.openxmlformats.org/officeDocument/2006/relationships/image"/><Relationship Id="rId15" Target="../media/image39.svg" Type="http://schemas.openxmlformats.org/officeDocument/2006/relationships/image"/><Relationship Id="rId16" Target="../media/image40.png" Type="http://schemas.openxmlformats.org/officeDocument/2006/relationships/image"/><Relationship Id="rId17" Target="../media/image41.svg" Type="http://schemas.openxmlformats.org/officeDocument/2006/relationships/image"/><Relationship Id="rId18" Target="../media/image42.png" Type="http://schemas.openxmlformats.org/officeDocument/2006/relationships/image"/><Relationship Id="rId19" Target="../media/image43.svg" Type="http://schemas.openxmlformats.org/officeDocument/2006/relationships/image"/><Relationship Id="rId2" Target="../notesSlides/notesSlide3.xml" Type="http://schemas.openxmlformats.org/officeDocument/2006/relationships/notesSlide"/><Relationship Id="rId20" Target="../media/image27.png" Type="http://schemas.openxmlformats.org/officeDocument/2006/relationships/image"/><Relationship Id="rId21" Target="../media/image44.png" Type="http://schemas.openxmlformats.org/officeDocument/2006/relationships/image"/><Relationship Id="rId22" Target="../media/image45.png" Type="http://schemas.openxmlformats.org/officeDocument/2006/relationships/image"/><Relationship Id="rId23" Target="../media/image46.png" Type="http://schemas.openxmlformats.org/officeDocument/2006/relationships/image"/><Relationship Id="rId24" Target="../media/image47.png" Type="http://schemas.openxmlformats.org/officeDocument/2006/relationships/image"/><Relationship Id="rId25" Target="../media/image23.png" Type="http://schemas.openxmlformats.org/officeDocument/2006/relationships/image"/><Relationship Id="rId26" Target="../media/image24.svg" Type="http://schemas.openxmlformats.org/officeDocument/2006/relationships/image"/><Relationship Id="rId27" Target="../media/image48.png" Type="http://schemas.openxmlformats.org/officeDocument/2006/relationships/image"/><Relationship Id="rId28" Target="../media/image49.svg" Type="http://schemas.openxmlformats.org/officeDocument/2006/relationships/image"/><Relationship Id="rId3" Target="../media/image25.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2" Target="../notesSlides/notesSlide4.xml" Type="http://schemas.openxmlformats.org/officeDocument/2006/relationships/notesSlide"/><Relationship Id="rId3" Target="../media/image25.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50.jpeg" Type="http://schemas.openxmlformats.org/officeDocument/2006/relationships/image"/><Relationship Id="rId7" Target="../media/image51.jpeg" Type="http://schemas.openxmlformats.org/officeDocument/2006/relationships/image"/><Relationship Id="rId8" Target="../media/image52.png" Type="http://schemas.openxmlformats.org/officeDocument/2006/relationships/image"/><Relationship Id="rId9" Target="../media/image5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png" Type="http://schemas.openxmlformats.org/officeDocument/2006/relationships/image"/><Relationship Id="rId11" Target="../media/image59.svg" Type="http://schemas.openxmlformats.org/officeDocument/2006/relationships/image"/><Relationship Id="rId12" Target="../media/image60.png" Type="http://schemas.openxmlformats.org/officeDocument/2006/relationships/image"/><Relationship Id="rId13" Target="../media/image61.svg" Type="http://schemas.openxmlformats.org/officeDocument/2006/relationships/image"/><Relationship Id="rId14" Target="../media/image27.png" Type="http://schemas.openxmlformats.org/officeDocument/2006/relationships/image"/><Relationship Id="rId15" Target="../media/image62.png" Type="http://schemas.openxmlformats.org/officeDocument/2006/relationships/image"/><Relationship Id="rId16" Target="../media/image63.svg" Type="http://schemas.openxmlformats.org/officeDocument/2006/relationships/image"/><Relationship Id="rId17" Target="../media/image64.png" Type="http://schemas.openxmlformats.org/officeDocument/2006/relationships/image"/><Relationship Id="rId18" Target="../media/image65.svg" Type="http://schemas.openxmlformats.org/officeDocument/2006/relationships/image"/><Relationship Id="rId2" Target="../notesSlides/notesSlide5.xml" Type="http://schemas.openxmlformats.org/officeDocument/2006/relationships/notesSlide"/><Relationship Id="rId3" Target="../media/image25.png" Type="http://schemas.openxmlformats.org/officeDocument/2006/relationships/image"/><Relationship Id="rId4" Target="../media/image20.png" Type="http://schemas.openxmlformats.org/officeDocument/2006/relationships/image"/><Relationship Id="rId5" Target="../media/image5.png" Type="http://schemas.openxmlformats.org/officeDocument/2006/relationships/image"/><Relationship Id="rId6" Target="../media/image54.pn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 Id="rId9" Target="../media/image5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66.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9.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13" Target="../media/image27.png" Type="http://schemas.openxmlformats.org/officeDocument/2006/relationships/image"/><Relationship Id="rId14" Target="../media/image70.png" Type="http://schemas.openxmlformats.org/officeDocument/2006/relationships/image"/><Relationship Id="rId15" Target="../media/image71.svg" Type="http://schemas.openxmlformats.org/officeDocument/2006/relationships/image"/><Relationship Id="rId16" Target="../media/image72.png" Type="http://schemas.openxmlformats.org/officeDocument/2006/relationships/image"/><Relationship Id="rId17" Target="../media/image45.png" Type="http://schemas.openxmlformats.org/officeDocument/2006/relationships/image"/><Relationship Id="rId18" Target="../media/image73.png" Type="http://schemas.openxmlformats.org/officeDocument/2006/relationships/image"/><Relationship Id="rId19" Target="../media/image74.svg" Type="http://schemas.openxmlformats.org/officeDocument/2006/relationships/image"/><Relationship Id="rId2" Target="../notesSlides/notesSlide7.xml" Type="http://schemas.openxmlformats.org/officeDocument/2006/relationships/notesSlide"/><Relationship Id="rId20" Target="../media/image75.png" Type="http://schemas.openxmlformats.org/officeDocument/2006/relationships/image"/><Relationship Id="rId21" Target="../media/image76.svg" Type="http://schemas.openxmlformats.org/officeDocument/2006/relationships/image"/><Relationship Id="rId3" Target="../media/image1.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67.png" Type="http://schemas.openxmlformats.org/officeDocument/2006/relationships/image"/><Relationship Id="rId9" Target="../media/image6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2.png" Type="http://schemas.openxmlformats.org/officeDocument/2006/relationships/image"/><Relationship Id="rId11" Target="../media/image83.png" Type="http://schemas.openxmlformats.org/officeDocument/2006/relationships/image"/><Relationship Id="rId12" Target="../media/image84.svg" Type="http://schemas.openxmlformats.org/officeDocument/2006/relationships/image"/><Relationship Id="rId13" Target="../media/image85.png" Type="http://schemas.openxmlformats.org/officeDocument/2006/relationships/image"/><Relationship Id="rId14" Target="../media/image86.svg" Type="http://schemas.openxmlformats.org/officeDocument/2006/relationships/image"/><Relationship Id="rId2" Target="../notesSlides/notesSlide8.xml" Type="http://schemas.openxmlformats.org/officeDocument/2006/relationships/notesSlide"/><Relationship Id="rId3" Target="../media/image1.png" Type="http://schemas.openxmlformats.org/officeDocument/2006/relationships/image"/><Relationship Id="rId4" Target="../media/image77.png" Type="http://schemas.openxmlformats.org/officeDocument/2006/relationships/image"/><Relationship Id="rId5" Target="../media/image4.png" Type="http://schemas.openxmlformats.org/officeDocument/2006/relationships/image"/><Relationship Id="rId6" Target="../media/image78.png" Type="http://schemas.openxmlformats.org/officeDocument/2006/relationships/image"/><Relationship Id="rId7" Target="../media/image79.svg" Type="http://schemas.openxmlformats.org/officeDocument/2006/relationships/image"/><Relationship Id="rId8" Target="../media/image80.png" Type="http://schemas.openxmlformats.org/officeDocument/2006/relationships/image"/><Relationship Id="rId9" Target="../media/image8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87.png" Type="http://schemas.openxmlformats.org/officeDocument/2006/relationships/image"/><Relationship Id="rId6" Target="../media/image5.png" Type="http://schemas.openxmlformats.org/officeDocument/2006/relationships/image"/><Relationship Id="rId7"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88.png" Type="http://schemas.openxmlformats.org/officeDocument/2006/relationships/image"/><Relationship Id="rId12" Target="../media/image89.svg" Type="http://schemas.openxmlformats.org/officeDocument/2006/relationships/image"/><Relationship Id="rId13" Target="../media/image90.png" Type="http://schemas.openxmlformats.org/officeDocument/2006/relationships/image"/><Relationship Id="rId14" Target="../media/image91.svg" Type="http://schemas.openxmlformats.org/officeDocument/2006/relationships/image"/><Relationship Id="rId15" Target="../media/image92.png" Type="http://schemas.openxmlformats.org/officeDocument/2006/relationships/image"/><Relationship Id="rId16" Target="../media/image93.svg" Type="http://schemas.openxmlformats.org/officeDocument/2006/relationships/image"/><Relationship Id="rId17" Target="../media/image94.png" Type="http://schemas.openxmlformats.org/officeDocument/2006/relationships/image"/><Relationship Id="rId18" Target="../media/image95.svg" Type="http://schemas.openxmlformats.org/officeDocument/2006/relationships/image"/><Relationship Id="rId19" Target="../media/image96.png" Type="http://schemas.openxmlformats.org/officeDocument/2006/relationships/image"/><Relationship Id="rId2" Target="../notesSlides/notesSlide9.xml" Type="http://schemas.openxmlformats.org/officeDocument/2006/relationships/notesSlide"/><Relationship Id="rId20" Target="../media/image97.png" Type="http://schemas.openxmlformats.org/officeDocument/2006/relationships/image"/><Relationship Id="rId21" Target="../media/image98.svg" Type="http://schemas.openxmlformats.org/officeDocument/2006/relationships/image"/><Relationship Id="rId22" Target="https://www.google.com/search?sca_esv=90bfdfc1a030529e&amp;sxsrf=AE3TifPXJO63PmygSJ2TaAuDmVwb7nedQw%3A1758771551395&amp;q=Decentralized+Autonomous+Organization&amp;sa=X&amp;ved=2ahUKEwjFj7_M_vKPAxUNd2wGHUJpBMIQxccNegQIHRAB&amp;mstk=AUtExfBjyeC9bQwmNYcQ6rPhDhgkZH8EtRYG-SqOi0xfntd2778o8iTuthof52RpzcaaHW1822iG6yvlHjzGCSTK9QaWEjQwUyzd2jgU2DIf52qsOBFerOtGCmPrIUndV_zKL8WVPe6UiVxzF2KGOWkCES1QX0Xx22fzQkm6nrPVeri5fk6SHUImrYApp2d2K-81q_TU9ar6yppHABzO5HwiGtA4UWu-4qA42h7vz5pv8AiqEQIzLNCQteSDcxbhHMZSUE-fdnWcLasG0_ytfZv_Pl1k&amp;csui=3" TargetMode="External" Type="http://schemas.openxmlformats.org/officeDocument/2006/relationships/hyperlink"/><Relationship Id="rId23" Target="../media/image42.png" Type="http://schemas.openxmlformats.org/officeDocument/2006/relationships/image"/><Relationship Id="rId24" Target="../media/image43.svg" Type="http://schemas.openxmlformats.org/officeDocument/2006/relationships/image"/><Relationship Id="rId25" Target="../media/image99.png" Type="http://schemas.openxmlformats.org/officeDocument/2006/relationships/image"/><Relationship Id="rId26" Target="../media/image100.svg" Type="http://schemas.openxmlformats.org/officeDocument/2006/relationships/image"/><Relationship Id="rId3" Target="../media/image1.png" Type="http://schemas.openxmlformats.org/officeDocument/2006/relationships/image"/><Relationship Id="rId4" Target="../media/image4.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8.png" Type="http://schemas.openxmlformats.org/officeDocument/2006/relationships/image"/><Relationship Id="rId11" Target="../media/image109.svg" Type="http://schemas.openxmlformats.org/officeDocument/2006/relationships/image"/><Relationship Id="rId12" Target="../media/image27.png" Type="http://schemas.openxmlformats.org/officeDocument/2006/relationships/image"/><Relationship Id="rId2" Target="../media/image25.png" Type="http://schemas.openxmlformats.org/officeDocument/2006/relationships/image"/><Relationship Id="rId3" Target="../media/image101.png" Type="http://schemas.openxmlformats.org/officeDocument/2006/relationships/image"/><Relationship Id="rId4" Target="../media/image102.png" Type="http://schemas.openxmlformats.org/officeDocument/2006/relationships/image"/><Relationship Id="rId5" Target="../media/image103.svg" Type="http://schemas.openxmlformats.org/officeDocument/2006/relationships/image"/><Relationship Id="rId6" Target="../media/image104.png" Type="http://schemas.openxmlformats.org/officeDocument/2006/relationships/image"/><Relationship Id="rId7" Target="../media/image105.svg" Type="http://schemas.openxmlformats.org/officeDocument/2006/relationships/image"/><Relationship Id="rId8" Target="../media/image106.png" Type="http://schemas.openxmlformats.org/officeDocument/2006/relationships/image"/><Relationship Id="rId9" Target="../media/image10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3.svg" Type="http://schemas.openxmlformats.org/officeDocument/2006/relationships/image"/><Relationship Id="rId11" Target="../media/image5.png" Type="http://schemas.openxmlformats.org/officeDocument/2006/relationships/image"/><Relationship Id="rId12" Target="../media/image4.png" Type="http://schemas.openxmlformats.org/officeDocument/2006/relationships/image"/><Relationship Id="rId2" Target="../notesSlides/notesSlide10.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87.png" Type="http://schemas.openxmlformats.org/officeDocument/2006/relationships/image"/><Relationship Id="rId7" Target="../media/image110.png" Type="http://schemas.openxmlformats.org/officeDocument/2006/relationships/image"/><Relationship Id="rId8" Target="../media/image111.svg" Type="http://schemas.openxmlformats.org/officeDocument/2006/relationships/image"/><Relationship Id="rId9" Target="../media/image1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0.png" Type="http://schemas.openxmlformats.org/officeDocument/2006/relationships/image"/><Relationship Id="rId11" Target="../media/image121.svg" Type="http://schemas.openxmlformats.org/officeDocument/2006/relationships/image"/><Relationship Id="rId12" Target="../media/image122.png" Type="http://schemas.openxmlformats.org/officeDocument/2006/relationships/image"/><Relationship Id="rId13" Target="../media/image123.svg" Type="http://schemas.openxmlformats.org/officeDocument/2006/relationships/image"/><Relationship Id="rId14" Target="../media/image124.png" Type="http://schemas.openxmlformats.org/officeDocument/2006/relationships/image"/><Relationship Id="rId15" Target="../media/image125.svg" Type="http://schemas.openxmlformats.org/officeDocument/2006/relationships/image"/><Relationship Id="rId16" Target="../media/image4.png" Type="http://schemas.openxmlformats.org/officeDocument/2006/relationships/image"/><Relationship Id="rId17" Target="../media/image126.png" Type="http://schemas.openxmlformats.org/officeDocument/2006/relationships/image"/><Relationship Id="rId18" Target="../media/image127.svg" Type="http://schemas.openxmlformats.org/officeDocument/2006/relationships/image"/><Relationship Id="rId19" Target="../media/image128.png" Type="http://schemas.openxmlformats.org/officeDocument/2006/relationships/image"/><Relationship Id="rId2" Target="../notesSlides/notesSlide11.xml" Type="http://schemas.openxmlformats.org/officeDocument/2006/relationships/notesSlide"/><Relationship Id="rId20" Target="../media/image129.svg" Type="http://schemas.openxmlformats.org/officeDocument/2006/relationships/image"/><Relationship Id="rId21" Target="../media/image130.png" Type="http://schemas.openxmlformats.org/officeDocument/2006/relationships/image"/><Relationship Id="rId3" Target="../media/image1.png" Type="http://schemas.openxmlformats.org/officeDocument/2006/relationships/image"/><Relationship Id="rId4" Target="../media/image114.png" Type="http://schemas.openxmlformats.org/officeDocument/2006/relationships/image"/><Relationship Id="rId5" Target="../media/image115.svg" Type="http://schemas.openxmlformats.org/officeDocument/2006/relationships/image"/><Relationship Id="rId6" Target="../media/image116.png" Type="http://schemas.openxmlformats.org/officeDocument/2006/relationships/image"/><Relationship Id="rId7" Target="../media/image117.svg" Type="http://schemas.openxmlformats.org/officeDocument/2006/relationships/image"/><Relationship Id="rId8" Target="../media/image118.png" Type="http://schemas.openxmlformats.org/officeDocument/2006/relationships/image"/><Relationship Id="rId9" Target="../media/image11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131.png" Type="http://schemas.openxmlformats.org/officeDocument/2006/relationships/image"/><Relationship Id="rId12" Target="../media/image132.svg" Type="http://schemas.openxmlformats.org/officeDocument/2006/relationships/image"/><Relationship Id="rId13" Target="../media/image133.png" Type="http://schemas.openxmlformats.org/officeDocument/2006/relationships/image"/><Relationship Id="rId14" Target="../media/image134.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92.png" Type="http://schemas.openxmlformats.org/officeDocument/2006/relationships/image"/><Relationship Id="rId18" Target="../media/image93.svg" Type="http://schemas.openxmlformats.org/officeDocument/2006/relationships/image"/><Relationship Id="rId19" Target="../media/image135.png" Type="http://schemas.openxmlformats.org/officeDocument/2006/relationships/image"/><Relationship Id="rId2" Target="../notesSlides/notesSlide12.xml" Type="http://schemas.openxmlformats.org/officeDocument/2006/relationships/notesSlide"/><Relationship Id="rId20" Target="../media/image136.svg" Type="http://schemas.openxmlformats.org/officeDocument/2006/relationships/image"/><Relationship Id="rId21" Target="../media/image137.png" Type="http://schemas.openxmlformats.org/officeDocument/2006/relationships/image"/><Relationship Id="rId22" Target="../media/image138.svg" Type="http://schemas.openxmlformats.org/officeDocument/2006/relationships/image"/><Relationship Id="rId23" Target="../media/image139.png" Type="http://schemas.openxmlformats.org/officeDocument/2006/relationships/image"/><Relationship Id="rId24" Target="../media/image140.svg" Type="http://schemas.openxmlformats.org/officeDocument/2006/relationships/image"/><Relationship Id="rId25" Target="../media/image141.png" Type="http://schemas.openxmlformats.org/officeDocument/2006/relationships/image"/><Relationship Id="rId26" Target="../media/image142.svg" Type="http://schemas.openxmlformats.org/officeDocument/2006/relationships/image"/><Relationship Id="rId27" Target="../media/image143.png" Type="http://schemas.openxmlformats.org/officeDocument/2006/relationships/image"/><Relationship Id="rId28" Target="../media/image144.svg" Type="http://schemas.openxmlformats.org/officeDocument/2006/relationships/image"/><Relationship Id="rId29" Target="../media/image145.png" Type="http://schemas.openxmlformats.org/officeDocument/2006/relationships/image"/><Relationship Id="rId3" Target="../media/image1.png" Type="http://schemas.openxmlformats.org/officeDocument/2006/relationships/image"/><Relationship Id="rId30" Target="../media/image146.svg" Type="http://schemas.openxmlformats.org/officeDocument/2006/relationships/image"/><Relationship Id="rId31" Target="../media/image147.png" Type="http://schemas.openxmlformats.org/officeDocument/2006/relationships/image"/><Relationship Id="rId32" Target="../media/image148.svg" Type="http://schemas.openxmlformats.org/officeDocument/2006/relationships/image"/><Relationship Id="rId4" Target="../media/image4.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1.png" Type="http://schemas.openxmlformats.org/officeDocument/2006/relationships/image"/><Relationship Id="rId11" Target="../media/image132.svg" Type="http://schemas.openxmlformats.org/officeDocument/2006/relationships/image"/><Relationship Id="rId12" Target="../media/image133.png" Type="http://schemas.openxmlformats.org/officeDocument/2006/relationships/image"/><Relationship Id="rId13" Target="../media/image134.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41.png" Type="http://schemas.openxmlformats.org/officeDocument/2006/relationships/image"/><Relationship Id="rId17" Target="../media/image142.svg" Type="http://schemas.openxmlformats.org/officeDocument/2006/relationships/image"/><Relationship Id="rId18" Target="../media/image135.png" Type="http://schemas.openxmlformats.org/officeDocument/2006/relationships/image"/><Relationship Id="rId19" Target="../media/image136.svg" Type="http://schemas.openxmlformats.org/officeDocument/2006/relationships/image"/><Relationship Id="rId2" Target="../media/image1.png" Type="http://schemas.openxmlformats.org/officeDocument/2006/relationships/image"/><Relationship Id="rId20" Target="../media/image143.png" Type="http://schemas.openxmlformats.org/officeDocument/2006/relationships/image"/><Relationship Id="rId21" Target="../media/image144.svg" Type="http://schemas.openxmlformats.org/officeDocument/2006/relationships/image"/><Relationship Id="rId22" Target="../media/image145.png" Type="http://schemas.openxmlformats.org/officeDocument/2006/relationships/image"/><Relationship Id="rId23" Target="../media/image146.svg" Type="http://schemas.openxmlformats.org/officeDocument/2006/relationships/image"/><Relationship Id="rId24" Target="../media/image137.png" Type="http://schemas.openxmlformats.org/officeDocument/2006/relationships/image"/><Relationship Id="rId25" Target="../media/image138.svg" Type="http://schemas.openxmlformats.org/officeDocument/2006/relationships/image"/><Relationship Id="rId26" Target="../media/image139.png" Type="http://schemas.openxmlformats.org/officeDocument/2006/relationships/image"/><Relationship Id="rId27" Target="../media/image140.svg" Type="http://schemas.openxmlformats.org/officeDocument/2006/relationships/image"/><Relationship Id="rId28" Target="../media/image149.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0.png" Type="http://schemas.openxmlformats.org/officeDocument/2006/relationships/image"/><Relationship Id="rId4" Target="../media/image5.png" Type="http://schemas.openxmlformats.org/officeDocument/2006/relationships/image"/><Relationship Id="rId5"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905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63137"/>
              </a:srgbClr>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3303125" y="0"/>
            <a:ext cx="4984875" cy="10287000"/>
            <a:chOff x="0" y="0"/>
            <a:chExt cx="6646500" cy="13716000"/>
          </a:xfrm>
        </p:grpSpPr>
        <p:sp>
          <p:nvSpPr>
            <p:cNvPr name="Freeform 9" id="9" descr="preencoded.png"/>
            <p:cNvSpPr/>
            <p:nvPr/>
          </p:nvSpPr>
          <p:spPr>
            <a:xfrm flipH="false" flipV="false" rot="0">
              <a:off x="0" y="0"/>
              <a:ext cx="6646500" cy="13716000"/>
            </a:xfrm>
            <a:custGeom>
              <a:avLst/>
              <a:gdLst/>
              <a:ahLst/>
              <a:cxnLst/>
              <a:rect r="r" b="b" t="t" l="l"/>
              <a:pathLst>
                <a:path h="13716000" w="6646500">
                  <a:moveTo>
                    <a:pt x="0" y="0"/>
                  </a:moveTo>
                  <a:lnTo>
                    <a:pt x="6646500" y="0"/>
                  </a:lnTo>
                  <a:lnTo>
                    <a:pt x="6646500" y="13716000"/>
                  </a:lnTo>
                  <a:lnTo>
                    <a:pt x="0" y="13716000"/>
                  </a:lnTo>
                  <a:lnTo>
                    <a:pt x="0" y="0"/>
                  </a:lnTo>
                  <a:close/>
                </a:path>
              </a:pathLst>
            </a:custGeom>
            <a:blipFill>
              <a:blip r:embed="rId5"/>
              <a:stretch>
                <a:fillRect l="-18788" t="0" r="-18788" b="0"/>
              </a:stretch>
            </a:blipFill>
          </p:spPr>
        </p:sp>
      </p:grpSp>
      <p:sp>
        <p:nvSpPr>
          <p:cNvPr name="Freeform 10" id="10"/>
          <p:cNvSpPr/>
          <p:nvPr/>
        </p:nvSpPr>
        <p:spPr>
          <a:xfrm flipH="false" flipV="false" rot="0">
            <a:off x="4939014" y="1028700"/>
            <a:ext cx="3292082" cy="3292082"/>
          </a:xfrm>
          <a:custGeom>
            <a:avLst/>
            <a:gdLst/>
            <a:ahLst/>
            <a:cxnLst/>
            <a:rect r="r" b="b" t="t" l="l"/>
            <a:pathLst>
              <a:path h="3292082" w="3292082">
                <a:moveTo>
                  <a:pt x="0" y="0"/>
                </a:moveTo>
                <a:lnTo>
                  <a:pt x="3292082" y="0"/>
                </a:lnTo>
                <a:lnTo>
                  <a:pt x="3292082" y="3292082"/>
                </a:lnTo>
                <a:lnTo>
                  <a:pt x="0" y="3292082"/>
                </a:lnTo>
                <a:lnTo>
                  <a:pt x="0" y="0"/>
                </a:lnTo>
                <a:close/>
              </a:path>
            </a:pathLst>
          </a:custGeom>
          <a:blipFill>
            <a:blip r:embed="rId6"/>
            <a:stretch>
              <a:fillRect l="0" t="0" r="0" b="0"/>
            </a:stretch>
          </a:blipFill>
        </p:spPr>
      </p:sp>
      <p:sp>
        <p:nvSpPr>
          <p:cNvPr name="Freeform 11" id="11"/>
          <p:cNvSpPr/>
          <p:nvPr/>
        </p:nvSpPr>
        <p:spPr>
          <a:xfrm flipH="false" flipV="false" rot="5400000">
            <a:off x="-1316777" y="-1727996"/>
            <a:ext cx="3216981" cy="3641866"/>
          </a:xfrm>
          <a:custGeom>
            <a:avLst/>
            <a:gdLst/>
            <a:ahLst/>
            <a:cxnLst/>
            <a:rect r="r" b="b" t="t" l="l"/>
            <a:pathLst>
              <a:path h="3641866" w="3216981">
                <a:moveTo>
                  <a:pt x="0" y="0"/>
                </a:moveTo>
                <a:lnTo>
                  <a:pt x="3216981" y="0"/>
                </a:lnTo>
                <a:lnTo>
                  <a:pt x="3216981" y="3641866"/>
                </a:lnTo>
                <a:lnTo>
                  <a:pt x="0" y="3641866"/>
                </a:lnTo>
                <a:lnTo>
                  <a:pt x="0" y="0"/>
                </a:lnTo>
                <a:close/>
              </a:path>
            </a:pathLst>
          </a:custGeom>
          <a:blipFill>
            <a:blip r:embed="rId7"/>
            <a:stretch>
              <a:fillRect l="0" t="0" r="0" b="0"/>
            </a:stretch>
          </a:blipFill>
        </p:spPr>
      </p:sp>
      <p:sp>
        <p:nvSpPr>
          <p:cNvPr name="TextBox 12" id="12"/>
          <p:cNvSpPr txBox="true"/>
          <p:nvPr/>
        </p:nvSpPr>
        <p:spPr>
          <a:xfrm rot="0">
            <a:off x="1939276" y="4551571"/>
            <a:ext cx="8980333" cy="1155283"/>
          </a:xfrm>
          <a:prstGeom prst="rect">
            <a:avLst/>
          </a:prstGeom>
        </p:spPr>
        <p:txBody>
          <a:bodyPr anchor="t" rtlCol="false" tIns="0" lIns="0" bIns="0" rIns="0">
            <a:spAutoFit/>
          </a:bodyPr>
          <a:lstStyle/>
          <a:p>
            <a:pPr algn="l">
              <a:lnSpc>
                <a:spcPts val="9282"/>
              </a:lnSpc>
            </a:pPr>
            <a:r>
              <a:rPr lang="en-US" sz="7441">
                <a:solidFill>
                  <a:srgbClr val="007DFF"/>
                </a:solidFill>
                <a:latin typeface="Merriweather"/>
                <a:ea typeface="Merriweather"/>
                <a:cs typeface="Merriweather"/>
                <a:sym typeface="Merriweather"/>
              </a:rPr>
              <a:t>Code Meets Capital</a:t>
            </a:r>
          </a:p>
        </p:txBody>
      </p:sp>
      <p:sp>
        <p:nvSpPr>
          <p:cNvPr name="TextBox 13" id="13"/>
          <p:cNvSpPr txBox="true"/>
          <p:nvPr/>
        </p:nvSpPr>
        <p:spPr>
          <a:xfrm rot="0">
            <a:off x="611045" y="6249397"/>
            <a:ext cx="11948020" cy="680992"/>
          </a:xfrm>
          <a:prstGeom prst="rect">
            <a:avLst/>
          </a:prstGeom>
        </p:spPr>
        <p:txBody>
          <a:bodyPr anchor="t" rtlCol="false" tIns="0" lIns="0" bIns="0" rIns="0">
            <a:spAutoFit/>
          </a:bodyPr>
          <a:lstStyle/>
          <a:p>
            <a:pPr algn="ctr">
              <a:lnSpc>
                <a:spcPts val="5542"/>
              </a:lnSpc>
            </a:pPr>
            <a:r>
              <a:rPr lang="en-US" b="true" sz="4400" i="true">
                <a:solidFill>
                  <a:srgbClr val="DAECFF"/>
                </a:solidFill>
                <a:latin typeface="Merriweather Bold Italics"/>
                <a:ea typeface="Merriweather Bold Italics"/>
                <a:cs typeface="Merriweather Bold Italics"/>
                <a:sym typeface="Merriweather Bold Italics"/>
              </a:rPr>
              <a:t>How</a:t>
            </a:r>
            <a:r>
              <a:rPr lang="en-US" b="true" sz="4400" i="true">
                <a:solidFill>
                  <a:srgbClr val="DAECFF"/>
                </a:solidFill>
                <a:latin typeface="Merriweather Bold Italics"/>
                <a:ea typeface="Merriweather Bold Italics"/>
                <a:cs typeface="Merriweather Bold Italics"/>
                <a:sym typeface="Merriweather Bold Italics"/>
              </a:rPr>
              <a:t> Technology Has Revolutionized Finance</a:t>
            </a:r>
          </a:p>
        </p:txBody>
      </p:sp>
      <p:sp>
        <p:nvSpPr>
          <p:cNvPr name="Freeform 14" id="14"/>
          <p:cNvSpPr/>
          <p:nvPr/>
        </p:nvSpPr>
        <p:spPr>
          <a:xfrm flipH="false" flipV="false" rot="-1690030">
            <a:off x="10410709" y="8730943"/>
            <a:ext cx="3216981" cy="3641866"/>
          </a:xfrm>
          <a:custGeom>
            <a:avLst/>
            <a:gdLst/>
            <a:ahLst/>
            <a:cxnLst/>
            <a:rect r="r" b="b" t="t" l="l"/>
            <a:pathLst>
              <a:path h="3641866" w="3216981">
                <a:moveTo>
                  <a:pt x="0" y="0"/>
                </a:moveTo>
                <a:lnTo>
                  <a:pt x="3216981" y="0"/>
                </a:lnTo>
                <a:lnTo>
                  <a:pt x="3216981" y="3641866"/>
                </a:lnTo>
                <a:lnTo>
                  <a:pt x="0" y="3641866"/>
                </a:lnTo>
                <a:lnTo>
                  <a:pt x="0" y="0"/>
                </a:lnTo>
                <a:close/>
              </a:path>
            </a:pathLst>
          </a:custGeom>
          <a:blipFill>
            <a:blip r:embed="rId7"/>
            <a:stretch>
              <a:fillRect l="0" t="0" r="0" b="0"/>
            </a:stretch>
          </a:blipFill>
        </p:spPr>
      </p:sp>
      <p:sp>
        <p:nvSpPr>
          <p:cNvPr name="TextBox 15" id="15"/>
          <p:cNvSpPr txBox="true"/>
          <p:nvPr/>
        </p:nvSpPr>
        <p:spPr>
          <a:xfrm rot="0">
            <a:off x="3733935" y="7731278"/>
            <a:ext cx="5429115" cy="1007639"/>
          </a:xfrm>
          <a:prstGeom prst="rect">
            <a:avLst/>
          </a:prstGeom>
        </p:spPr>
        <p:txBody>
          <a:bodyPr anchor="t" rtlCol="false" tIns="0" lIns="0" bIns="0" rIns="0">
            <a:spAutoFit/>
          </a:bodyPr>
          <a:lstStyle/>
          <a:p>
            <a:pPr algn="ctr">
              <a:lnSpc>
                <a:spcPts val="3765"/>
              </a:lnSpc>
            </a:pPr>
            <a:r>
              <a:rPr lang="en-US" sz="3000">
                <a:solidFill>
                  <a:srgbClr val="F5F0F0"/>
                </a:solidFill>
                <a:latin typeface="Impact"/>
                <a:ea typeface="Impact"/>
                <a:cs typeface="Impact"/>
                <a:sym typeface="Impact"/>
              </a:rPr>
              <a:t>Presented By: Mayur Raiturkar</a:t>
            </a:r>
          </a:p>
          <a:p>
            <a:pPr algn="ctr">
              <a:lnSpc>
                <a:spcPts val="3766"/>
              </a:lnSpc>
            </a:pPr>
            <a:r>
              <a:rPr lang="en-US" sz="3000">
                <a:solidFill>
                  <a:srgbClr val="F5F0F0"/>
                </a:solidFill>
                <a:latin typeface="Impact"/>
                <a:ea typeface="Impact"/>
                <a:cs typeface="Impact"/>
                <a:sym typeface="Impact"/>
              </a:rPr>
              <a:t>Founder, CEO at Rescape Technologies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952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52941"/>
              </a:srgbClr>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grpSp>
        <p:nvGrpSpPr>
          <p:cNvPr name="Group 8" id="8"/>
          <p:cNvGrpSpPr/>
          <p:nvPr/>
        </p:nvGrpSpPr>
        <p:grpSpPr>
          <a:xfrm rot="0">
            <a:off x="7937747" y="3948402"/>
            <a:ext cx="9270504" cy="2575471"/>
            <a:chOff x="0" y="0"/>
            <a:chExt cx="12360672" cy="3433962"/>
          </a:xfrm>
        </p:grpSpPr>
        <p:sp>
          <p:nvSpPr>
            <p:cNvPr name="Freeform 9" id="9"/>
            <p:cNvSpPr/>
            <p:nvPr/>
          </p:nvSpPr>
          <p:spPr>
            <a:xfrm flipH="false" flipV="false" rot="0">
              <a:off x="0" y="0"/>
              <a:ext cx="12360783" cy="3433953"/>
            </a:xfrm>
            <a:custGeom>
              <a:avLst/>
              <a:gdLst/>
              <a:ahLst/>
              <a:cxnLst/>
              <a:rect r="r" b="b" t="t" l="l"/>
              <a:pathLst>
                <a:path h="3433953" w="12360783">
                  <a:moveTo>
                    <a:pt x="0" y="172847"/>
                  </a:moveTo>
                  <a:cubicBezTo>
                    <a:pt x="0" y="77343"/>
                    <a:pt x="77343" y="0"/>
                    <a:pt x="172847" y="0"/>
                  </a:cubicBezTo>
                  <a:lnTo>
                    <a:pt x="12187936" y="0"/>
                  </a:lnTo>
                  <a:cubicBezTo>
                    <a:pt x="12283313" y="0"/>
                    <a:pt x="12360783" y="77343"/>
                    <a:pt x="12360783" y="172847"/>
                  </a:cubicBezTo>
                  <a:lnTo>
                    <a:pt x="12360783" y="3261106"/>
                  </a:lnTo>
                  <a:cubicBezTo>
                    <a:pt x="12360783" y="3356483"/>
                    <a:pt x="12283440" y="3433953"/>
                    <a:pt x="12187936" y="3433953"/>
                  </a:cubicBezTo>
                  <a:lnTo>
                    <a:pt x="172847" y="3433953"/>
                  </a:lnTo>
                  <a:cubicBezTo>
                    <a:pt x="77343" y="3433953"/>
                    <a:pt x="0" y="3356610"/>
                    <a:pt x="0" y="3261106"/>
                  </a:cubicBezTo>
                  <a:close/>
                </a:path>
              </a:pathLst>
            </a:custGeom>
            <a:solidFill>
              <a:srgbClr val="022349"/>
            </a:solidFill>
          </p:spPr>
        </p:sp>
      </p:grpSp>
      <p:sp>
        <p:nvSpPr>
          <p:cNvPr name="Freeform 10" id="10"/>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4"/>
            <a:stretch>
              <a:fillRect l="0" t="0" r="0" b="0"/>
            </a:stretch>
          </a:blipFill>
        </p:spPr>
      </p:sp>
      <p:sp>
        <p:nvSpPr>
          <p:cNvPr name="TextBox 11" id="11"/>
          <p:cNvSpPr txBox="true"/>
          <p:nvPr/>
        </p:nvSpPr>
        <p:spPr>
          <a:xfrm rot="0">
            <a:off x="8716267" y="1916790"/>
            <a:ext cx="7713464" cy="944563"/>
          </a:xfrm>
          <a:prstGeom prst="rect">
            <a:avLst/>
          </a:prstGeom>
        </p:spPr>
        <p:txBody>
          <a:bodyPr anchor="t" rtlCol="false" tIns="0" lIns="0" bIns="0" rIns="0">
            <a:spAutoFit/>
          </a:bodyPr>
          <a:lstStyle/>
          <a:p>
            <a:pPr algn="ctr">
              <a:lnSpc>
                <a:spcPts val="7562"/>
              </a:lnSpc>
            </a:pPr>
            <a:r>
              <a:rPr lang="en-US" sz="6062">
                <a:solidFill>
                  <a:srgbClr val="F5F0F0"/>
                </a:solidFill>
                <a:latin typeface="Merriweather"/>
                <a:ea typeface="Merriweather"/>
                <a:cs typeface="Merriweather"/>
                <a:sym typeface="Merriweather"/>
              </a:rPr>
              <a:t>About Me</a:t>
            </a:r>
          </a:p>
        </p:txBody>
      </p:sp>
      <p:sp>
        <p:nvSpPr>
          <p:cNvPr name="TextBox 12" id="12"/>
          <p:cNvSpPr txBox="true"/>
          <p:nvPr/>
        </p:nvSpPr>
        <p:spPr>
          <a:xfrm rot="0">
            <a:off x="8025401" y="4158604"/>
            <a:ext cx="9182850" cy="2078866"/>
          </a:xfrm>
          <a:prstGeom prst="rect">
            <a:avLst/>
          </a:prstGeom>
        </p:spPr>
        <p:txBody>
          <a:bodyPr anchor="t" rtlCol="false" tIns="0" lIns="0" bIns="0" rIns="0">
            <a:spAutoFit/>
          </a:bodyPr>
          <a:lstStyle/>
          <a:p>
            <a:pPr algn="l" marL="464169" indent="-232085" lvl="1">
              <a:lnSpc>
                <a:spcPts val="3310"/>
              </a:lnSpc>
              <a:buFont typeface="Arial"/>
              <a:buChar char="•"/>
            </a:pPr>
            <a:r>
              <a:rPr lang="en-US" sz="2149">
                <a:solidFill>
                  <a:srgbClr val="F5F0F0"/>
                </a:solidFill>
                <a:latin typeface="Merriweather"/>
                <a:ea typeface="Merriweather"/>
                <a:cs typeface="Merriweather"/>
                <a:sym typeface="Merriweather"/>
              </a:rPr>
              <a:t>B.E in Electronics/Telecomm - Goa Engineering College.</a:t>
            </a:r>
          </a:p>
          <a:p>
            <a:pPr algn="l" marL="464169" indent="-232085" lvl="1">
              <a:lnSpc>
                <a:spcPts val="3310"/>
              </a:lnSpc>
              <a:buFont typeface="Arial"/>
              <a:buChar char="•"/>
            </a:pPr>
            <a:r>
              <a:rPr lang="en-US" sz="2149">
                <a:solidFill>
                  <a:srgbClr val="F5F0F0"/>
                </a:solidFill>
                <a:latin typeface="Merriweather"/>
                <a:ea typeface="Merriweather"/>
                <a:cs typeface="Merriweather"/>
                <a:sym typeface="Merriweather"/>
              </a:rPr>
              <a:t>Software Engineer with 8 years of industrial work experience.</a:t>
            </a:r>
          </a:p>
          <a:p>
            <a:pPr algn="l" marL="464169" indent="-232085" lvl="1">
              <a:lnSpc>
                <a:spcPts val="3310"/>
              </a:lnSpc>
              <a:buFont typeface="Arial"/>
              <a:buChar char="•"/>
            </a:pPr>
            <a:r>
              <a:rPr lang="en-US" sz="2149">
                <a:solidFill>
                  <a:srgbClr val="F5F0F0"/>
                </a:solidFill>
                <a:latin typeface="Merriweather"/>
                <a:ea typeface="Merriweather"/>
                <a:cs typeface="Merriweather"/>
                <a:sym typeface="Merriweather"/>
              </a:rPr>
              <a:t>Worked on-site in Goa, Bangalore, Bahrain and Toronto.</a:t>
            </a:r>
          </a:p>
          <a:p>
            <a:pPr algn="l" marL="464169" indent="-232085" lvl="1">
              <a:lnSpc>
                <a:spcPts val="3310"/>
              </a:lnSpc>
              <a:buFont typeface="Arial"/>
              <a:buChar char="•"/>
            </a:pPr>
            <a:r>
              <a:rPr lang="en-US" sz="2149">
                <a:solidFill>
                  <a:srgbClr val="F5F0F0"/>
                </a:solidFill>
                <a:latin typeface="Merriweather"/>
                <a:ea typeface="Merriweather"/>
                <a:cs typeface="Merriweather"/>
                <a:sym typeface="Merriweather"/>
              </a:rPr>
              <a:t>Specialsed in Systems and Site Reliability Engineering.</a:t>
            </a:r>
          </a:p>
          <a:p>
            <a:pPr algn="l" marL="464169" indent="-232085" lvl="1">
              <a:lnSpc>
                <a:spcPts val="3310"/>
              </a:lnSpc>
              <a:buFont typeface="Arial"/>
              <a:buChar char="•"/>
            </a:pPr>
            <a:r>
              <a:rPr lang="en-US" sz="2149">
                <a:solidFill>
                  <a:srgbClr val="F5F0F0"/>
                </a:solidFill>
                <a:latin typeface="Merriweather"/>
                <a:ea typeface="Merriweather"/>
                <a:cs typeface="Merriweather"/>
                <a:sym typeface="Merriweather"/>
              </a:rPr>
              <a:t>Financial Technology and Blockchain ecosystem.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52821" y="0"/>
            <a:ext cx="18393642" cy="10287000"/>
            <a:chOff x="0" y="0"/>
            <a:chExt cx="24384000" cy="13637224"/>
          </a:xfrm>
        </p:grpSpPr>
        <p:sp>
          <p:nvSpPr>
            <p:cNvPr name="Freeform 5" id="5"/>
            <p:cNvSpPr/>
            <p:nvPr/>
          </p:nvSpPr>
          <p:spPr>
            <a:xfrm flipH="false" flipV="false" rot="0">
              <a:off x="0" y="0"/>
              <a:ext cx="24384000" cy="13637223"/>
            </a:xfrm>
            <a:custGeom>
              <a:avLst/>
              <a:gdLst/>
              <a:ahLst/>
              <a:cxnLst/>
              <a:rect r="r" b="b" t="t" l="l"/>
              <a:pathLst>
                <a:path h="13637223" w="24384000">
                  <a:moveTo>
                    <a:pt x="0" y="0"/>
                  </a:moveTo>
                  <a:lnTo>
                    <a:pt x="24384000" y="0"/>
                  </a:lnTo>
                  <a:lnTo>
                    <a:pt x="24384000" y="13637223"/>
                  </a:lnTo>
                  <a:lnTo>
                    <a:pt x="0" y="13637223"/>
                  </a:lnTo>
                  <a:close/>
                </a:path>
              </a:pathLst>
            </a:custGeom>
            <a:solidFill>
              <a:srgbClr val="09151A">
                <a:alpha val="54902"/>
              </a:srgbClr>
            </a:solidFill>
          </p:spPr>
        </p:sp>
      </p:grpSp>
      <p:sp>
        <p:nvSpPr>
          <p:cNvPr name="Freeform 6" id="6"/>
          <p:cNvSpPr/>
          <p:nvPr/>
        </p:nvSpPr>
        <p:spPr>
          <a:xfrm flipH="false" flipV="false" rot="0">
            <a:off x="269033" y="1676617"/>
            <a:ext cx="5167863" cy="3466883"/>
          </a:xfrm>
          <a:custGeom>
            <a:avLst/>
            <a:gdLst/>
            <a:ahLst/>
            <a:cxnLst/>
            <a:rect r="r" b="b" t="t" l="l"/>
            <a:pathLst>
              <a:path h="3466883" w="5167863">
                <a:moveTo>
                  <a:pt x="0" y="0"/>
                </a:moveTo>
                <a:lnTo>
                  <a:pt x="5167863" y="0"/>
                </a:lnTo>
                <a:lnTo>
                  <a:pt x="5167863" y="3466883"/>
                </a:lnTo>
                <a:lnTo>
                  <a:pt x="0" y="3466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703596" y="6263307"/>
            <a:ext cx="5167863" cy="3466883"/>
          </a:xfrm>
          <a:custGeom>
            <a:avLst/>
            <a:gdLst/>
            <a:ahLst/>
            <a:cxnLst/>
            <a:rect r="r" b="b" t="t" l="l"/>
            <a:pathLst>
              <a:path h="3466883" w="5167863">
                <a:moveTo>
                  <a:pt x="0" y="0"/>
                </a:moveTo>
                <a:lnTo>
                  <a:pt x="5167862" y="0"/>
                </a:lnTo>
                <a:lnTo>
                  <a:pt x="5167862" y="3466882"/>
                </a:lnTo>
                <a:lnTo>
                  <a:pt x="0" y="34668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81242" y="6263307"/>
            <a:ext cx="5167863" cy="3466883"/>
          </a:xfrm>
          <a:custGeom>
            <a:avLst/>
            <a:gdLst/>
            <a:ahLst/>
            <a:cxnLst/>
            <a:rect r="r" b="b" t="t" l="l"/>
            <a:pathLst>
              <a:path h="3466883" w="5167863">
                <a:moveTo>
                  <a:pt x="0" y="0"/>
                </a:moveTo>
                <a:lnTo>
                  <a:pt x="5167863" y="0"/>
                </a:lnTo>
                <a:lnTo>
                  <a:pt x="5167863" y="3466882"/>
                </a:lnTo>
                <a:lnTo>
                  <a:pt x="0" y="34668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5703596" y="1736041"/>
            <a:ext cx="5167863" cy="3466883"/>
          </a:xfrm>
          <a:custGeom>
            <a:avLst/>
            <a:gdLst/>
            <a:ahLst/>
            <a:cxnLst/>
            <a:rect r="r" b="b" t="t" l="l"/>
            <a:pathLst>
              <a:path h="3466883" w="5167863">
                <a:moveTo>
                  <a:pt x="0" y="0"/>
                </a:moveTo>
                <a:lnTo>
                  <a:pt x="5167862" y="0"/>
                </a:lnTo>
                <a:lnTo>
                  <a:pt x="5167862" y="3466883"/>
                </a:lnTo>
                <a:lnTo>
                  <a:pt x="0" y="3466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33435" y="3014048"/>
            <a:ext cx="1882747" cy="968499"/>
          </a:xfrm>
          <a:custGeom>
            <a:avLst/>
            <a:gdLst/>
            <a:ahLst/>
            <a:cxnLst/>
            <a:rect r="r" b="b" t="t" l="l"/>
            <a:pathLst>
              <a:path h="968499" w="1882747">
                <a:moveTo>
                  <a:pt x="0" y="0"/>
                </a:moveTo>
                <a:lnTo>
                  <a:pt x="1882747" y="0"/>
                </a:lnTo>
                <a:lnTo>
                  <a:pt x="1882747" y="968500"/>
                </a:lnTo>
                <a:lnTo>
                  <a:pt x="0" y="9685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3616182" y="2867368"/>
            <a:ext cx="1299668" cy="1261859"/>
          </a:xfrm>
          <a:custGeom>
            <a:avLst/>
            <a:gdLst/>
            <a:ahLst/>
            <a:cxnLst/>
            <a:rect r="r" b="b" t="t" l="l"/>
            <a:pathLst>
              <a:path h="1261859" w="1299668">
                <a:moveTo>
                  <a:pt x="0" y="0"/>
                </a:moveTo>
                <a:lnTo>
                  <a:pt x="1299668" y="0"/>
                </a:lnTo>
                <a:lnTo>
                  <a:pt x="1299668" y="1261860"/>
                </a:lnTo>
                <a:lnTo>
                  <a:pt x="0" y="12618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011398" y="2929895"/>
            <a:ext cx="1203948" cy="1079175"/>
          </a:xfrm>
          <a:custGeom>
            <a:avLst/>
            <a:gdLst/>
            <a:ahLst/>
            <a:cxnLst/>
            <a:rect r="r" b="b" t="t" l="l"/>
            <a:pathLst>
              <a:path h="1079175" w="1203948">
                <a:moveTo>
                  <a:pt x="0" y="0"/>
                </a:moveTo>
                <a:lnTo>
                  <a:pt x="1203948" y="0"/>
                </a:lnTo>
                <a:lnTo>
                  <a:pt x="1203948" y="1079175"/>
                </a:lnTo>
                <a:lnTo>
                  <a:pt x="0" y="1079175"/>
                </a:lnTo>
                <a:lnTo>
                  <a:pt x="0" y="0"/>
                </a:lnTo>
                <a:close/>
              </a:path>
            </a:pathLst>
          </a:custGeom>
          <a:blipFill>
            <a:blip r:embed="rId10"/>
            <a:stretch>
              <a:fillRect l="0" t="0" r="0" b="0"/>
            </a:stretch>
          </a:blipFill>
        </p:spPr>
      </p:sp>
      <p:sp>
        <p:nvSpPr>
          <p:cNvPr name="Freeform 13" id="13"/>
          <p:cNvSpPr/>
          <p:nvPr/>
        </p:nvSpPr>
        <p:spPr>
          <a:xfrm flipH="false" flipV="false" rot="0">
            <a:off x="7736372" y="3014048"/>
            <a:ext cx="1102309" cy="394076"/>
          </a:xfrm>
          <a:custGeom>
            <a:avLst/>
            <a:gdLst/>
            <a:ahLst/>
            <a:cxnLst/>
            <a:rect r="r" b="b" t="t" l="l"/>
            <a:pathLst>
              <a:path h="394076" w="1102309">
                <a:moveTo>
                  <a:pt x="0" y="0"/>
                </a:moveTo>
                <a:lnTo>
                  <a:pt x="1102310" y="0"/>
                </a:lnTo>
                <a:lnTo>
                  <a:pt x="1102310" y="394076"/>
                </a:lnTo>
                <a:lnTo>
                  <a:pt x="0" y="3940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7800956" y="3549477"/>
            <a:ext cx="973141" cy="550935"/>
          </a:xfrm>
          <a:custGeom>
            <a:avLst/>
            <a:gdLst/>
            <a:ahLst/>
            <a:cxnLst/>
            <a:rect r="r" b="b" t="t" l="l"/>
            <a:pathLst>
              <a:path h="550935" w="973141">
                <a:moveTo>
                  <a:pt x="0" y="0"/>
                </a:moveTo>
                <a:lnTo>
                  <a:pt x="973142" y="0"/>
                </a:lnTo>
                <a:lnTo>
                  <a:pt x="973142" y="550935"/>
                </a:lnTo>
                <a:lnTo>
                  <a:pt x="0" y="55093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9419707" y="2871500"/>
            <a:ext cx="850963" cy="1228911"/>
          </a:xfrm>
          <a:custGeom>
            <a:avLst/>
            <a:gdLst/>
            <a:ahLst/>
            <a:cxnLst/>
            <a:rect r="r" b="b" t="t" l="l"/>
            <a:pathLst>
              <a:path h="1228911" w="850963">
                <a:moveTo>
                  <a:pt x="0" y="0"/>
                </a:moveTo>
                <a:lnTo>
                  <a:pt x="850963" y="0"/>
                </a:lnTo>
                <a:lnTo>
                  <a:pt x="850963" y="1228912"/>
                </a:lnTo>
                <a:lnTo>
                  <a:pt x="0" y="1228912"/>
                </a:lnTo>
                <a:lnTo>
                  <a:pt x="0" y="0"/>
                </a:lnTo>
                <a:close/>
              </a:path>
            </a:pathLst>
          </a:custGeom>
          <a:blipFill>
            <a:blip r:embed="rId15"/>
            <a:stretch>
              <a:fillRect l="0" t="0" r="0" b="0"/>
            </a:stretch>
          </a:blipFill>
        </p:spPr>
      </p:sp>
      <p:sp>
        <p:nvSpPr>
          <p:cNvPr name="TextBox 16" id="16"/>
          <p:cNvSpPr txBox="true"/>
          <p:nvPr/>
        </p:nvSpPr>
        <p:spPr>
          <a:xfrm rot="0">
            <a:off x="2970750" y="564466"/>
            <a:ext cx="5146018" cy="847725"/>
          </a:xfrm>
          <a:prstGeom prst="rect">
            <a:avLst/>
          </a:prstGeom>
        </p:spPr>
        <p:txBody>
          <a:bodyPr anchor="t" rtlCol="false" tIns="0" lIns="0" bIns="0" rIns="0">
            <a:spAutoFit/>
          </a:bodyPr>
          <a:lstStyle/>
          <a:p>
            <a:pPr algn="l">
              <a:lnSpc>
                <a:spcPts val="6780"/>
              </a:lnSpc>
            </a:pPr>
            <a:r>
              <a:rPr lang="en-US" sz="5400">
                <a:solidFill>
                  <a:srgbClr val="F5F0F0"/>
                </a:solidFill>
                <a:latin typeface="Merriweather"/>
                <a:ea typeface="Merriweather"/>
                <a:cs typeface="Merriweather"/>
                <a:sym typeface="Merriweather"/>
              </a:rPr>
              <a:t> About Rescape</a:t>
            </a:r>
          </a:p>
        </p:txBody>
      </p:sp>
      <p:sp>
        <p:nvSpPr>
          <p:cNvPr name="TextBox 17" id="17"/>
          <p:cNvSpPr txBox="true"/>
          <p:nvPr/>
        </p:nvSpPr>
        <p:spPr>
          <a:xfrm rot="0">
            <a:off x="1440059" y="2204964"/>
            <a:ext cx="3613849"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Blockchain API integration</a:t>
            </a:r>
          </a:p>
        </p:txBody>
      </p:sp>
      <p:sp>
        <p:nvSpPr>
          <p:cNvPr name="TextBox 18" id="18"/>
          <p:cNvSpPr txBox="true"/>
          <p:nvPr/>
        </p:nvSpPr>
        <p:spPr>
          <a:xfrm rot="0">
            <a:off x="2590579" y="2878931"/>
            <a:ext cx="524770"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API</a:t>
            </a:r>
          </a:p>
        </p:txBody>
      </p:sp>
      <p:sp>
        <p:nvSpPr>
          <p:cNvPr name="TextBox 19" id="19"/>
          <p:cNvSpPr txBox="true"/>
          <p:nvPr/>
        </p:nvSpPr>
        <p:spPr>
          <a:xfrm rot="0">
            <a:off x="3985781" y="7917524"/>
            <a:ext cx="280235"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AI</a:t>
            </a:r>
          </a:p>
        </p:txBody>
      </p:sp>
      <p:sp>
        <p:nvSpPr>
          <p:cNvPr name="TextBox 20" id="20"/>
          <p:cNvSpPr txBox="true"/>
          <p:nvPr/>
        </p:nvSpPr>
        <p:spPr>
          <a:xfrm rot="0">
            <a:off x="1858355" y="6679984"/>
            <a:ext cx="1794988"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Neo-Banking  </a:t>
            </a:r>
          </a:p>
        </p:txBody>
      </p:sp>
      <p:sp>
        <p:nvSpPr>
          <p:cNvPr name="TextBox 21" id="21"/>
          <p:cNvSpPr txBox="true"/>
          <p:nvPr/>
        </p:nvSpPr>
        <p:spPr>
          <a:xfrm rot="0">
            <a:off x="6827491" y="6679984"/>
            <a:ext cx="2920073"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Decentralized Finance</a:t>
            </a:r>
          </a:p>
        </p:txBody>
      </p:sp>
      <p:sp>
        <p:nvSpPr>
          <p:cNvPr name="TextBox 22" id="22"/>
          <p:cNvSpPr txBox="true"/>
          <p:nvPr/>
        </p:nvSpPr>
        <p:spPr>
          <a:xfrm rot="0">
            <a:off x="5854025" y="2194110"/>
            <a:ext cx="5017434"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Blockchain On-Ramping/Off-Ramping </a:t>
            </a:r>
          </a:p>
        </p:txBody>
      </p:sp>
      <p:sp>
        <p:nvSpPr>
          <p:cNvPr name="TextBox 23" id="23"/>
          <p:cNvSpPr txBox="true"/>
          <p:nvPr/>
        </p:nvSpPr>
        <p:spPr>
          <a:xfrm rot="0">
            <a:off x="13189748" y="6480312"/>
            <a:ext cx="2869044" cy="518936"/>
          </a:xfrm>
          <a:prstGeom prst="rect">
            <a:avLst/>
          </a:prstGeom>
        </p:spPr>
        <p:txBody>
          <a:bodyPr anchor="t" rtlCol="false" tIns="0" lIns="0" bIns="0" rIns="0">
            <a:spAutoFit/>
          </a:bodyPr>
          <a:lstStyle/>
          <a:p>
            <a:pPr algn="l">
              <a:lnSpc>
                <a:spcPts val="4268"/>
              </a:lnSpc>
            </a:pPr>
            <a:r>
              <a:rPr lang="en-US" b="true" sz="3399" u="sng">
                <a:solidFill>
                  <a:srgbClr val="F5F0F0"/>
                </a:solidFill>
                <a:latin typeface="Merriweather Bold"/>
                <a:ea typeface="Merriweather Bold"/>
                <a:cs typeface="Merriweather Bold"/>
                <a:sym typeface="Merriweather Bold"/>
              </a:rPr>
              <a:t>OUR VISION: </a:t>
            </a:r>
          </a:p>
        </p:txBody>
      </p:sp>
      <p:sp>
        <p:nvSpPr>
          <p:cNvPr name="TextBox 24" id="24"/>
          <p:cNvSpPr txBox="true"/>
          <p:nvPr/>
        </p:nvSpPr>
        <p:spPr>
          <a:xfrm rot="0">
            <a:off x="11392939" y="7255952"/>
            <a:ext cx="6643341" cy="2398931"/>
          </a:xfrm>
          <a:prstGeom prst="rect">
            <a:avLst/>
          </a:prstGeom>
        </p:spPr>
        <p:txBody>
          <a:bodyPr anchor="t" rtlCol="false" tIns="0" lIns="0" bIns="0" rIns="0">
            <a:spAutoFit/>
          </a:bodyPr>
          <a:lstStyle/>
          <a:p>
            <a:pPr algn="ctr">
              <a:lnSpc>
                <a:spcPts val="3975"/>
              </a:lnSpc>
            </a:pPr>
            <a:r>
              <a:rPr lang="en-US" sz="2799" b="true">
                <a:solidFill>
                  <a:srgbClr val="F5F0F0"/>
                </a:solidFill>
                <a:latin typeface="Merriweather Bold"/>
                <a:ea typeface="Merriweather Bold"/>
                <a:cs typeface="Merriweather Bold"/>
                <a:sym typeface="Merriweather Bold"/>
              </a:rPr>
              <a:t>To build a more secure, efficient, and accessible financial world through cutting-edge technology.</a:t>
            </a:r>
          </a:p>
          <a:p>
            <a:pPr algn="l">
              <a:lnSpc>
                <a:spcPts val="3513"/>
              </a:lnSpc>
            </a:pPr>
          </a:p>
          <a:p>
            <a:pPr algn="l">
              <a:lnSpc>
                <a:spcPts val="3515"/>
              </a:lnSpc>
            </a:pPr>
          </a:p>
        </p:txBody>
      </p:sp>
      <p:grpSp>
        <p:nvGrpSpPr>
          <p:cNvPr name="Group 25" id="25"/>
          <p:cNvGrpSpPr/>
          <p:nvPr/>
        </p:nvGrpSpPr>
        <p:grpSpPr>
          <a:xfrm rot="0">
            <a:off x="11141220" y="25526"/>
            <a:ext cx="7146780" cy="5744909"/>
            <a:chOff x="0" y="0"/>
            <a:chExt cx="12683797" cy="10195816"/>
          </a:xfrm>
        </p:grpSpPr>
        <p:sp>
          <p:nvSpPr>
            <p:cNvPr name="Freeform 26" id="26" descr="preencoded.png"/>
            <p:cNvSpPr/>
            <p:nvPr/>
          </p:nvSpPr>
          <p:spPr>
            <a:xfrm flipH="false" flipV="false" rot="0">
              <a:off x="0" y="0"/>
              <a:ext cx="12683797" cy="10195786"/>
            </a:xfrm>
            <a:custGeom>
              <a:avLst/>
              <a:gdLst/>
              <a:ahLst/>
              <a:cxnLst/>
              <a:rect r="r" b="b" t="t" l="l"/>
              <a:pathLst>
                <a:path h="10195786" w="12683797">
                  <a:moveTo>
                    <a:pt x="0" y="0"/>
                  </a:moveTo>
                  <a:lnTo>
                    <a:pt x="12683797" y="0"/>
                  </a:lnTo>
                  <a:lnTo>
                    <a:pt x="12683797" y="10195786"/>
                  </a:lnTo>
                  <a:lnTo>
                    <a:pt x="0" y="10195786"/>
                  </a:lnTo>
                  <a:lnTo>
                    <a:pt x="0" y="0"/>
                  </a:lnTo>
                  <a:close/>
                </a:path>
              </a:pathLst>
            </a:custGeom>
            <a:blipFill>
              <a:blip r:embed="rId16"/>
              <a:stretch>
                <a:fillRect l="0" t="-43301" r="0" b="-43302"/>
              </a:stretch>
            </a:blipFill>
          </p:spPr>
        </p:sp>
      </p:grpSp>
      <p:sp>
        <p:nvSpPr>
          <p:cNvPr name="Freeform 27" id="27"/>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17"/>
            <a:stretch>
              <a:fillRect l="0" t="0" r="0" b="0"/>
            </a:stretch>
          </a:blipFill>
        </p:spPr>
      </p:sp>
      <p:sp>
        <p:nvSpPr>
          <p:cNvPr name="Freeform 28" id="28"/>
          <p:cNvSpPr/>
          <p:nvPr/>
        </p:nvSpPr>
        <p:spPr>
          <a:xfrm flipH="false" flipV="false" rot="0">
            <a:off x="809976" y="7313102"/>
            <a:ext cx="3910395" cy="2081144"/>
          </a:xfrm>
          <a:custGeom>
            <a:avLst/>
            <a:gdLst/>
            <a:ahLst/>
            <a:cxnLst/>
            <a:rect r="r" b="b" t="t" l="l"/>
            <a:pathLst>
              <a:path h="2081144" w="3910395">
                <a:moveTo>
                  <a:pt x="0" y="0"/>
                </a:moveTo>
                <a:lnTo>
                  <a:pt x="3910395" y="0"/>
                </a:lnTo>
                <a:lnTo>
                  <a:pt x="3910395" y="2081144"/>
                </a:lnTo>
                <a:lnTo>
                  <a:pt x="0" y="2081144"/>
                </a:lnTo>
                <a:lnTo>
                  <a:pt x="0" y="0"/>
                </a:lnTo>
                <a:close/>
              </a:path>
            </a:pathLst>
          </a:custGeom>
          <a:blipFill>
            <a:blip r:embed="rId18"/>
            <a:stretch>
              <a:fillRect l="-76000" t="-132662" r="-76372" b="-241536"/>
            </a:stretch>
          </a:blipFill>
        </p:spPr>
      </p:sp>
      <p:sp>
        <p:nvSpPr>
          <p:cNvPr name="Freeform 29" id="29"/>
          <p:cNvSpPr/>
          <p:nvPr/>
        </p:nvSpPr>
        <p:spPr>
          <a:xfrm flipH="false" flipV="false" rot="0">
            <a:off x="7464010" y="7353875"/>
            <a:ext cx="1647034" cy="1765826"/>
          </a:xfrm>
          <a:custGeom>
            <a:avLst/>
            <a:gdLst/>
            <a:ahLst/>
            <a:cxnLst/>
            <a:rect r="r" b="b" t="t" l="l"/>
            <a:pathLst>
              <a:path h="1765826" w="1647034">
                <a:moveTo>
                  <a:pt x="0" y="0"/>
                </a:moveTo>
                <a:lnTo>
                  <a:pt x="1647034" y="0"/>
                </a:lnTo>
                <a:lnTo>
                  <a:pt x="1647034" y="1765826"/>
                </a:lnTo>
                <a:lnTo>
                  <a:pt x="0" y="176582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0" id="30"/>
          <p:cNvSpPr/>
          <p:nvPr/>
        </p:nvSpPr>
        <p:spPr>
          <a:xfrm flipH="false" flipV="false" rot="0">
            <a:off x="809976" y="3003959"/>
            <a:ext cx="1227138" cy="1091037"/>
          </a:xfrm>
          <a:custGeom>
            <a:avLst/>
            <a:gdLst/>
            <a:ahLst/>
            <a:cxnLst/>
            <a:rect r="r" b="b" t="t" l="l"/>
            <a:pathLst>
              <a:path h="1091037" w="1227138">
                <a:moveTo>
                  <a:pt x="0" y="0"/>
                </a:moveTo>
                <a:lnTo>
                  <a:pt x="1227138" y="0"/>
                </a:lnTo>
                <a:lnTo>
                  <a:pt x="1227138" y="1091037"/>
                </a:lnTo>
                <a:lnTo>
                  <a:pt x="0" y="109103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08501" y="-135927"/>
            <a:ext cx="18384834" cy="10422927"/>
            <a:chOff x="0" y="0"/>
            <a:chExt cx="24513112" cy="13897236"/>
          </a:xfrm>
        </p:grpSpPr>
        <p:sp>
          <p:nvSpPr>
            <p:cNvPr name="Freeform 5" id="5"/>
            <p:cNvSpPr/>
            <p:nvPr/>
          </p:nvSpPr>
          <p:spPr>
            <a:xfrm flipH="false" flipV="false" rot="0">
              <a:off x="0" y="0"/>
              <a:ext cx="24513113" cy="13897237"/>
            </a:xfrm>
            <a:custGeom>
              <a:avLst/>
              <a:gdLst/>
              <a:ahLst/>
              <a:cxnLst/>
              <a:rect r="r" b="b" t="t" l="l"/>
              <a:pathLst>
                <a:path h="13897237" w="24513113">
                  <a:moveTo>
                    <a:pt x="0" y="0"/>
                  </a:moveTo>
                  <a:lnTo>
                    <a:pt x="24513113" y="0"/>
                  </a:lnTo>
                  <a:lnTo>
                    <a:pt x="24513113" y="13897237"/>
                  </a:lnTo>
                  <a:lnTo>
                    <a:pt x="0" y="13897237"/>
                  </a:lnTo>
                  <a:close/>
                </a:path>
              </a:pathLst>
            </a:custGeom>
            <a:solidFill>
              <a:srgbClr val="09151A">
                <a:alpha val="60392"/>
              </a:srgbClr>
            </a:solidFill>
          </p:spPr>
        </p:sp>
      </p:grpSp>
      <p:sp>
        <p:nvSpPr>
          <p:cNvPr name="Freeform 6" id="6"/>
          <p:cNvSpPr/>
          <p:nvPr/>
        </p:nvSpPr>
        <p:spPr>
          <a:xfrm flipH="false" flipV="false" rot="0">
            <a:off x="-332267" y="-197715"/>
            <a:ext cx="4086062" cy="10818357"/>
          </a:xfrm>
          <a:custGeom>
            <a:avLst/>
            <a:gdLst/>
            <a:ahLst/>
            <a:cxnLst/>
            <a:rect r="r" b="b" t="t" l="l"/>
            <a:pathLst>
              <a:path h="10818357" w="4086062">
                <a:moveTo>
                  <a:pt x="0" y="0"/>
                </a:moveTo>
                <a:lnTo>
                  <a:pt x="4086062" y="0"/>
                </a:lnTo>
                <a:lnTo>
                  <a:pt x="4086062" y="10818357"/>
                </a:lnTo>
                <a:lnTo>
                  <a:pt x="0" y="10818357"/>
                </a:lnTo>
                <a:lnTo>
                  <a:pt x="0" y="0"/>
                </a:lnTo>
                <a:close/>
              </a:path>
            </a:pathLst>
          </a:custGeom>
          <a:blipFill>
            <a:blip r:embed="rId4"/>
            <a:stretch>
              <a:fillRect l="-79988" t="0" r="-84774" b="0"/>
            </a:stretch>
          </a:blipFill>
        </p:spPr>
      </p:sp>
      <p:sp>
        <p:nvSpPr>
          <p:cNvPr name="Freeform 7" id="7"/>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5"/>
            <a:stretch>
              <a:fillRect l="0" t="0" r="0" b="0"/>
            </a:stretch>
          </a:blipFill>
        </p:spPr>
      </p:sp>
      <p:sp>
        <p:nvSpPr>
          <p:cNvPr name="TextBox 8" id="8"/>
          <p:cNvSpPr txBox="true"/>
          <p:nvPr/>
        </p:nvSpPr>
        <p:spPr>
          <a:xfrm rot="0">
            <a:off x="5431938" y="4144410"/>
            <a:ext cx="9642923" cy="1833679"/>
          </a:xfrm>
          <a:prstGeom prst="rect">
            <a:avLst/>
          </a:prstGeom>
        </p:spPr>
        <p:txBody>
          <a:bodyPr anchor="t" rtlCol="false" tIns="0" lIns="0" bIns="0" rIns="0">
            <a:spAutoFit/>
          </a:bodyPr>
          <a:lstStyle/>
          <a:p>
            <a:pPr algn="ctr">
              <a:lnSpc>
                <a:spcPts val="7296"/>
              </a:lnSpc>
            </a:pPr>
            <a:r>
              <a:rPr lang="en-US" sz="5799" u="sng">
                <a:solidFill>
                  <a:srgbClr val="DAECFF"/>
                </a:solidFill>
                <a:latin typeface="Merriweather"/>
                <a:ea typeface="Merriweather"/>
                <a:cs typeface="Merriweather"/>
                <a:sym typeface="Merriweather"/>
              </a:rPr>
              <a:t>Case Study 1</a:t>
            </a:r>
            <a:r>
              <a:rPr lang="en-US" sz="5799">
                <a:solidFill>
                  <a:srgbClr val="DAECFF"/>
                </a:solidFill>
                <a:latin typeface="Merriweather"/>
                <a:ea typeface="Merriweather"/>
                <a:cs typeface="Merriweather"/>
                <a:sym typeface="Merriweather"/>
              </a:rPr>
              <a:t> :</a:t>
            </a:r>
          </a:p>
          <a:p>
            <a:pPr algn="ctr">
              <a:lnSpc>
                <a:spcPts val="7296"/>
              </a:lnSpc>
            </a:pPr>
            <a:r>
              <a:rPr lang="en-US" sz="5799">
                <a:solidFill>
                  <a:srgbClr val="DAECFF"/>
                </a:solidFill>
                <a:latin typeface="Merriweather"/>
                <a:ea typeface="Merriweather"/>
                <a:cs typeface="Merriweather"/>
                <a:sym typeface="Merriweather"/>
              </a:rPr>
              <a:t> </a:t>
            </a:r>
            <a:r>
              <a:rPr lang="en-US" sz="5799" u="sng">
                <a:solidFill>
                  <a:srgbClr val="DAECFF"/>
                </a:solidFill>
                <a:latin typeface="Merriweather"/>
                <a:ea typeface="Merriweather"/>
                <a:cs typeface="Merriweather"/>
                <a:sym typeface="Merriweather"/>
              </a:rPr>
              <a:t>Neo B</a:t>
            </a:r>
            <a:r>
              <a:rPr lang="en-US" sz="5799" u="sng">
                <a:solidFill>
                  <a:srgbClr val="DAECFF"/>
                </a:solidFill>
                <a:latin typeface="Merriweather"/>
                <a:ea typeface="Merriweather"/>
                <a:cs typeface="Merriweather"/>
                <a:sym typeface="Merriweather"/>
              </a:rPr>
              <a:t>anks</a:t>
            </a:r>
          </a:p>
        </p:txBody>
      </p:sp>
      <p:sp>
        <p:nvSpPr>
          <p:cNvPr name="Freeform 9" id="9"/>
          <p:cNvSpPr/>
          <p:nvPr/>
        </p:nvSpPr>
        <p:spPr>
          <a:xfrm flipH="false" flipV="false" rot="-5400000">
            <a:off x="15287303" y="-501428"/>
            <a:ext cx="3216981" cy="3641866"/>
          </a:xfrm>
          <a:custGeom>
            <a:avLst/>
            <a:gdLst/>
            <a:ahLst/>
            <a:cxnLst/>
            <a:rect r="r" b="b" t="t" l="l"/>
            <a:pathLst>
              <a:path h="3641866" w="3216981">
                <a:moveTo>
                  <a:pt x="0" y="0"/>
                </a:moveTo>
                <a:lnTo>
                  <a:pt x="3216981" y="0"/>
                </a:lnTo>
                <a:lnTo>
                  <a:pt x="3216981" y="3641866"/>
                </a:lnTo>
                <a:lnTo>
                  <a:pt x="0" y="3641866"/>
                </a:lnTo>
                <a:lnTo>
                  <a:pt x="0" y="0"/>
                </a:lnTo>
                <a:close/>
              </a:path>
            </a:pathLst>
          </a:custGeom>
          <a:blipFill>
            <a:blip r:embed="rId6"/>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99991" y="39678"/>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81961"/>
              </a:srgbClr>
            </a:solidFill>
          </p:spPr>
        </p:sp>
      </p:grpSp>
      <p:grpSp>
        <p:nvGrpSpPr>
          <p:cNvPr name="Group 6" id="6"/>
          <p:cNvGrpSpPr/>
          <p:nvPr/>
        </p:nvGrpSpPr>
        <p:grpSpPr>
          <a:xfrm rot="0">
            <a:off x="8511631" y="918358"/>
            <a:ext cx="95535" cy="8966599"/>
            <a:chOff x="0" y="0"/>
            <a:chExt cx="30462" cy="2859045"/>
          </a:xfrm>
        </p:grpSpPr>
        <p:sp>
          <p:nvSpPr>
            <p:cNvPr name="Freeform 7" id="7"/>
            <p:cNvSpPr/>
            <p:nvPr/>
          </p:nvSpPr>
          <p:spPr>
            <a:xfrm flipH="false" flipV="false" rot="0">
              <a:off x="0" y="0"/>
              <a:ext cx="30462" cy="2858992"/>
            </a:xfrm>
            <a:custGeom>
              <a:avLst/>
              <a:gdLst/>
              <a:ahLst/>
              <a:cxnLst/>
              <a:rect r="r" b="b" t="t" l="l"/>
              <a:pathLst>
                <a:path h="2858992" w="30462">
                  <a:moveTo>
                    <a:pt x="0" y="73002"/>
                  </a:moveTo>
                  <a:cubicBezTo>
                    <a:pt x="0" y="32729"/>
                    <a:pt x="6828" y="0"/>
                    <a:pt x="15231" y="0"/>
                  </a:cubicBezTo>
                  <a:cubicBezTo>
                    <a:pt x="23633" y="0"/>
                    <a:pt x="30462" y="32729"/>
                    <a:pt x="30462" y="73002"/>
                  </a:cubicBezTo>
                  <a:lnTo>
                    <a:pt x="30462" y="2785990"/>
                  </a:lnTo>
                  <a:cubicBezTo>
                    <a:pt x="30462" y="2826263"/>
                    <a:pt x="23633" y="2858992"/>
                    <a:pt x="15231" y="2858992"/>
                  </a:cubicBezTo>
                  <a:cubicBezTo>
                    <a:pt x="6828" y="2858992"/>
                    <a:pt x="0" y="2826263"/>
                    <a:pt x="0" y="2785990"/>
                  </a:cubicBezTo>
                  <a:close/>
                </a:path>
              </a:pathLst>
            </a:custGeom>
            <a:solidFill>
              <a:srgbClr val="0000FF"/>
            </a:solidFill>
          </p:spPr>
        </p:sp>
      </p:grpSp>
      <p:sp>
        <p:nvSpPr>
          <p:cNvPr name="Freeform 8" id="8"/>
          <p:cNvSpPr/>
          <p:nvPr/>
        </p:nvSpPr>
        <p:spPr>
          <a:xfrm flipH="false" flipV="false" rot="0">
            <a:off x="4719677" y="2245145"/>
            <a:ext cx="857520" cy="857520"/>
          </a:xfrm>
          <a:custGeom>
            <a:avLst/>
            <a:gdLst/>
            <a:ahLst/>
            <a:cxnLst/>
            <a:rect r="r" b="b" t="t" l="l"/>
            <a:pathLst>
              <a:path h="857520" w="857520">
                <a:moveTo>
                  <a:pt x="0" y="0"/>
                </a:moveTo>
                <a:lnTo>
                  <a:pt x="857520" y="0"/>
                </a:lnTo>
                <a:lnTo>
                  <a:pt x="857520" y="857520"/>
                </a:lnTo>
                <a:lnTo>
                  <a:pt x="0" y="8575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2209325" y="2985379"/>
            <a:ext cx="1070395" cy="949504"/>
          </a:xfrm>
          <a:custGeom>
            <a:avLst/>
            <a:gdLst/>
            <a:ahLst/>
            <a:cxnLst/>
            <a:rect r="r" b="b" t="t" l="l"/>
            <a:pathLst>
              <a:path h="949504" w="1070395">
                <a:moveTo>
                  <a:pt x="0" y="0"/>
                </a:moveTo>
                <a:lnTo>
                  <a:pt x="1070395" y="0"/>
                </a:lnTo>
                <a:lnTo>
                  <a:pt x="1070395" y="949504"/>
                </a:lnTo>
                <a:lnTo>
                  <a:pt x="0" y="9495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028700" y="4711312"/>
            <a:ext cx="3275827" cy="2200116"/>
          </a:xfrm>
          <a:custGeom>
            <a:avLst/>
            <a:gdLst/>
            <a:ahLst/>
            <a:cxnLst/>
            <a:rect r="r" b="b" t="t" l="l"/>
            <a:pathLst>
              <a:path h="2200116" w="3275827">
                <a:moveTo>
                  <a:pt x="0" y="0"/>
                </a:moveTo>
                <a:lnTo>
                  <a:pt x="3275827" y="0"/>
                </a:lnTo>
                <a:lnTo>
                  <a:pt x="3275827" y="2200116"/>
                </a:lnTo>
                <a:lnTo>
                  <a:pt x="0" y="22001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1038464" y="7867090"/>
            <a:ext cx="3275827" cy="2200116"/>
          </a:xfrm>
          <a:custGeom>
            <a:avLst/>
            <a:gdLst/>
            <a:ahLst/>
            <a:cxnLst/>
            <a:rect r="r" b="b" t="t" l="l"/>
            <a:pathLst>
              <a:path h="2200116" w="3275827">
                <a:moveTo>
                  <a:pt x="0" y="0"/>
                </a:moveTo>
                <a:lnTo>
                  <a:pt x="3275827" y="0"/>
                </a:lnTo>
                <a:lnTo>
                  <a:pt x="3275827" y="2200116"/>
                </a:lnTo>
                <a:lnTo>
                  <a:pt x="0" y="22001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2" id="12"/>
          <p:cNvSpPr/>
          <p:nvPr/>
        </p:nvSpPr>
        <p:spPr>
          <a:xfrm flipH="false" flipV="false" rot="0">
            <a:off x="1343055" y="5183178"/>
            <a:ext cx="1057098" cy="1160487"/>
          </a:xfrm>
          <a:custGeom>
            <a:avLst/>
            <a:gdLst/>
            <a:ahLst/>
            <a:cxnLst/>
            <a:rect r="r" b="b" t="t" l="l"/>
            <a:pathLst>
              <a:path h="1160487" w="1057098">
                <a:moveTo>
                  <a:pt x="0" y="0"/>
                </a:moveTo>
                <a:lnTo>
                  <a:pt x="1057098" y="0"/>
                </a:lnTo>
                <a:lnTo>
                  <a:pt x="1057098" y="1160487"/>
                </a:lnTo>
                <a:lnTo>
                  <a:pt x="0" y="1160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179563" y="8684076"/>
            <a:ext cx="692041" cy="692041"/>
          </a:xfrm>
          <a:custGeom>
            <a:avLst/>
            <a:gdLst/>
            <a:ahLst/>
            <a:cxnLst/>
            <a:rect r="r" b="b" t="t" l="l"/>
            <a:pathLst>
              <a:path h="692041" w="692041">
                <a:moveTo>
                  <a:pt x="0" y="0"/>
                </a:moveTo>
                <a:lnTo>
                  <a:pt x="692041" y="0"/>
                </a:lnTo>
                <a:lnTo>
                  <a:pt x="692041" y="692041"/>
                </a:lnTo>
                <a:lnTo>
                  <a:pt x="0" y="6920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2126191" y="8758099"/>
            <a:ext cx="833420" cy="543996"/>
          </a:xfrm>
          <a:custGeom>
            <a:avLst/>
            <a:gdLst/>
            <a:ahLst/>
            <a:cxnLst/>
            <a:rect r="r" b="b" t="t" l="l"/>
            <a:pathLst>
              <a:path h="543996" w="833420">
                <a:moveTo>
                  <a:pt x="0" y="0"/>
                </a:moveTo>
                <a:lnTo>
                  <a:pt x="833420" y="0"/>
                </a:lnTo>
                <a:lnTo>
                  <a:pt x="833420" y="543996"/>
                </a:lnTo>
                <a:lnTo>
                  <a:pt x="0" y="54399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3108663" y="8563936"/>
            <a:ext cx="913496" cy="812181"/>
          </a:xfrm>
          <a:custGeom>
            <a:avLst/>
            <a:gdLst/>
            <a:ahLst/>
            <a:cxnLst/>
            <a:rect r="r" b="b" t="t" l="l"/>
            <a:pathLst>
              <a:path h="812181" w="913496">
                <a:moveTo>
                  <a:pt x="0" y="0"/>
                </a:moveTo>
                <a:lnTo>
                  <a:pt x="913496" y="0"/>
                </a:lnTo>
                <a:lnTo>
                  <a:pt x="913496" y="812181"/>
                </a:lnTo>
                <a:lnTo>
                  <a:pt x="0" y="81218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5860841" y="8311097"/>
            <a:ext cx="1962205" cy="1317859"/>
          </a:xfrm>
          <a:custGeom>
            <a:avLst/>
            <a:gdLst/>
            <a:ahLst/>
            <a:cxnLst/>
            <a:rect r="r" b="b" t="t" l="l"/>
            <a:pathLst>
              <a:path h="1317859" w="1962205">
                <a:moveTo>
                  <a:pt x="0" y="0"/>
                </a:moveTo>
                <a:lnTo>
                  <a:pt x="1962205" y="0"/>
                </a:lnTo>
                <a:lnTo>
                  <a:pt x="1962205" y="1317859"/>
                </a:lnTo>
                <a:lnTo>
                  <a:pt x="0" y="13178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7" id="17"/>
          <p:cNvSpPr/>
          <p:nvPr/>
        </p:nvSpPr>
        <p:spPr>
          <a:xfrm flipH="false" flipV="false" rot="0">
            <a:off x="10675029" y="1259543"/>
            <a:ext cx="797611" cy="797611"/>
          </a:xfrm>
          <a:custGeom>
            <a:avLst/>
            <a:gdLst/>
            <a:ahLst/>
            <a:cxnLst/>
            <a:rect r="r" b="b" t="t" l="l"/>
            <a:pathLst>
              <a:path h="797611" w="797611">
                <a:moveTo>
                  <a:pt x="0" y="0"/>
                </a:moveTo>
                <a:lnTo>
                  <a:pt x="797611" y="0"/>
                </a:lnTo>
                <a:lnTo>
                  <a:pt x="797611" y="797611"/>
                </a:lnTo>
                <a:lnTo>
                  <a:pt x="0" y="7976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9663759" y="7862654"/>
            <a:ext cx="2887303" cy="1939175"/>
          </a:xfrm>
          <a:custGeom>
            <a:avLst/>
            <a:gdLst/>
            <a:ahLst/>
            <a:cxnLst/>
            <a:rect r="r" b="b" t="t" l="l"/>
            <a:pathLst>
              <a:path h="1939175" w="2887303">
                <a:moveTo>
                  <a:pt x="0" y="0"/>
                </a:moveTo>
                <a:lnTo>
                  <a:pt x="2887303" y="0"/>
                </a:lnTo>
                <a:lnTo>
                  <a:pt x="2887303" y="1939175"/>
                </a:lnTo>
                <a:lnTo>
                  <a:pt x="0" y="19391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9" id="19"/>
          <p:cNvSpPr/>
          <p:nvPr/>
        </p:nvSpPr>
        <p:spPr>
          <a:xfrm flipH="false" flipV="false" rot="0">
            <a:off x="9788123" y="8582743"/>
            <a:ext cx="609962" cy="609962"/>
          </a:xfrm>
          <a:custGeom>
            <a:avLst/>
            <a:gdLst/>
            <a:ahLst/>
            <a:cxnLst/>
            <a:rect r="r" b="b" t="t" l="l"/>
            <a:pathLst>
              <a:path h="609962" w="609962">
                <a:moveTo>
                  <a:pt x="0" y="0"/>
                </a:moveTo>
                <a:lnTo>
                  <a:pt x="609963" y="0"/>
                </a:lnTo>
                <a:lnTo>
                  <a:pt x="609963" y="609962"/>
                </a:lnTo>
                <a:lnTo>
                  <a:pt x="0" y="60996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false" rot="0">
            <a:off x="10622478" y="8647986"/>
            <a:ext cx="734574" cy="479476"/>
          </a:xfrm>
          <a:custGeom>
            <a:avLst/>
            <a:gdLst/>
            <a:ahLst/>
            <a:cxnLst/>
            <a:rect r="r" b="b" t="t" l="l"/>
            <a:pathLst>
              <a:path h="479476" w="734574">
                <a:moveTo>
                  <a:pt x="0" y="0"/>
                </a:moveTo>
                <a:lnTo>
                  <a:pt x="734573" y="0"/>
                </a:lnTo>
                <a:lnTo>
                  <a:pt x="734573" y="479476"/>
                </a:lnTo>
                <a:lnTo>
                  <a:pt x="0" y="4794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1" id="21"/>
          <p:cNvSpPr/>
          <p:nvPr/>
        </p:nvSpPr>
        <p:spPr>
          <a:xfrm flipH="false" flipV="false" rot="0">
            <a:off x="11488425" y="8476852"/>
            <a:ext cx="805152" cy="715853"/>
          </a:xfrm>
          <a:custGeom>
            <a:avLst/>
            <a:gdLst/>
            <a:ahLst/>
            <a:cxnLst/>
            <a:rect r="r" b="b" t="t" l="l"/>
            <a:pathLst>
              <a:path h="715853" w="805152">
                <a:moveTo>
                  <a:pt x="0" y="0"/>
                </a:moveTo>
                <a:lnTo>
                  <a:pt x="805153" y="0"/>
                </a:lnTo>
                <a:lnTo>
                  <a:pt x="805153" y="715853"/>
                </a:lnTo>
                <a:lnTo>
                  <a:pt x="0" y="71585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2" id="22"/>
          <p:cNvSpPr/>
          <p:nvPr/>
        </p:nvSpPr>
        <p:spPr>
          <a:xfrm flipH="false" flipV="false" rot="0">
            <a:off x="13680973" y="8308218"/>
            <a:ext cx="1962205" cy="1317859"/>
          </a:xfrm>
          <a:custGeom>
            <a:avLst/>
            <a:gdLst/>
            <a:ahLst/>
            <a:cxnLst/>
            <a:rect r="r" b="b" t="t" l="l"/>
            <a:pathLst>
              <a:path h="1317859" w="1962205">
                <a:moveTo>
                  <a:pt x="0" y="0"/>
                </a:moveTo>
                <a:lnTo>
                  <a:pt x="1962205" y="0"/>
                </a:lnTo>
                <a:lnTo>
                  <a:pt x="1962205" y="1317860"/>
                </a:lnTo>
                <a:lnTo>
                  <a:pt x="0" y="13178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23" id="23"/>
          <p:cNvSpPr/>
          <p:nvPr/>
        </p:nvSpPr>
        <p:spPr>
          <a:xfrm flipH="false" flipV="false" rot="0">
            <a:off x="10643846" y="2605956"/>
            <a:ext cx="927129" cy="1573831"/>
          </a:xfrm>
          <a:custGeom>
            <a:avLst/>
            <a:gdLst/>
            <a:ahLst/>
            <a:cxnLst/>
            <a:rect r="r" b="b" t="t" l="l"/>
            <a:pathLst>
              <a:path h="1573831" w="927129">
                <a:moveTo>
                  <a:pt x="0" y="0"/>
                </a:moveTo>
                <a:lnTo>
                  <a:pt x="927129" y="0"/>
                </a:lnTo>
                <a:lnTo>
                  <a:pt x="927129" y="1573831"/>
                </a:lnTo>
                <a:lnTo>
                  <a:pt x="0" y="157383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4" id="24"/>
          <p:cNvSpPr/>
          <p:nvPr/>
        </p:nvSpPr>
        <p:spPr>
          <a:xfrm flipH="false" flipV="false" rot="0">
            <a:off x="9224637" y="4724988"/>
            <a:ext cx="3647894" cy="2450004"/>
          </a:xfrm>
          <a:custGeom>
            <a:avLst/>
            <a:gdLst/>
            <a:ahLst/>
            <a:cxnLst/>
            <a:rect r="r" b="b" t="t" l="l"/>
            <a:pathLst>
              <a:path h="2450004" w="3647894">
                <a:moveTo>
                  <a:pt x="0" y="0"/>
                </a:moveTo>
                <a:lnTo>
                  <a:pt x="3647894" y="0"/>
                </a:lnTo>
                <a:lnTo>
                  <a:pt x="3647894" y="2450005"/>
                </a:lnTo>
                <a:lnTo>
                  <a:pt x="0" y="24500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25" id="25"/>
          <p:cNvSpPr/>
          <p:nvPr/>
        </p:nvSpPr>
        <p:spPr>
          <a:xfrm flipH="false" flipV="false" rot="0">
            <a:off x="11334456" y="4935469"/>
            <a:ext cx="1070395" cy="949504"/>
          </a:xfrm>
          <a:custGeom>
            <a:avLst/>
            <a:gdLst/>
            <a:ahLst/>
            <a:cxnLst/>
            <a:rect r="r" b="b" t="t" l="l"/>
            <a:pathLst>
              <a:path h="949504" w="1070395">
                <a:moveTo>
                  <a:pt x="0" y="0"/>
                </a:moveTo>
                <a:lnTo>
                  <a:pt x="1070396" y="0"/>
                </a:lnTo>
                <a:lnTo>
                  <a:pt x="1070396" y="949504"/>
                </a:lnTo>
                <a:lnTo>
                  <a:pt x="0" y="9495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20"/>
            <a:stretch>
              <a:fillRect l="0" t="0" r="0" b="0"/>
            </a:stretch>
          </a:blipFill>
        </p:spPr>
      </p:sp>
      <p:sp>
        <p:nvSpPr>
          <p:cNvPr name="Freeform 27" id="27"/>
          <p:cNvSpPr/>
          <p:nvPr/>
        </p:nvSpPr>
        <p:spPr>
          <a:xfrm flipH="false" flipV="false" rot="5400000">
            <a:off x="14401788" y="2952026"/>
            <a:ext cx="6487537" cy="4004756"/>
          </a:xfrm>
          <a:custGeom>
            <a:avLst/>
            <a:gdLst/>
            <a:ahLst/>
            <a:cxnLst/>
            <a:rect r="r" b="b" t="t" l="l"/>
            <a:pathLst>
              <a:path h="4004756" w="6487537">
                <a:moveTo>
                  <a:pt x="0" y="0"/>
                </a:moveTo>
                <a:lnTo>
                  <a:pt x="6487537" y="0"/>
                </a:lnTo>
                <a:lnTo>
                  <a:pt x="6487537" y="4004756"/>
                </a:lnTo>
                <a:lnTo>
                  <a:pt x="0" y="4004756"/>
                </a:lnTo>
                <a:lnTo>
                  <a:pt x="0" y="0"/>
                </a:lnTo>
                <a:close/>
              </a:path>
            </a:pathLst>
          </a:custGeom>
          <a:blipFill>
            <a:blip r:embed="rId21"/>
            <a:stretch>
              <a:fillRect l="-392" t="-1227" r="0" b="-61404"/>
            </a:stretch>
          </a:blipFill>
        </p:spPr>
      </p:sp>
      <p:sp>
        <p:nvSpPr>
          <p:cNvPr name="Freeform 28" id="28"/>
          <p:cNvSpPr/>
          <p:nvPr/>
        </p:nvSpPr>
        <p:spPr>
          <a:xfrm flipH="false" flipV="false" rot="0">
            <a:off x="6335244" y="3814164"/>
            <a:ext cx="995287" cy="1689530"/>
          </a:xfrm>
          <a:custGeom>
            <a:avLst/>
            <a:gdLst/>
            <a:ahLst/>
            <a:cxnLst/>
            <a:rect r="r" b="b" t="t" l="l"/>
            <a:pathLst>
              <a:path h="1689530" w="995287">
                <a:moveTo>
                  <a:pt x="0" y="0"/>
                </a:moveTo>
                <a:lnTo>
                  <a:pt x="995287" y="0"/>
                </a:lnTo>
                <a:lnTo>
                  <a:pt x="995287" y="1689530"/>
                </a:lnTo>
                <a:lnTo>
                  <a:pt x="0" y="168953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9" id="29"/>
          <p:cNvSpPr/>
          <p:nvPr/>
        </p:nvSpPr>
        <p:spPr>
          <a:xfrm flipH="false" flipV="false" rot="0">
            <a:off x="6496824" y="4573473"/>
            <a:ext cx="627227" cy="531526"/>
          </a:xfrm>
          <a:custGeom>
            <a:avLst/>
            <a:gdLst/>
            <a:ahLst/>
            <a:cxnLst/>
            <a:rect r="r" b="b" t="t" l="l"/>
            <a:pathLst>
              <a:path h="531526" w="627227">
                <a:moveTo>
                  <a:pt x="0" y="0"/>
                </a:moveTo>
                <a:lnTo>
                  <a:pt x="627226" y="0"/>
                </a:lnTo>
                <a:lnTo>
                  <a:pt x="627226" y="531525"/>
                </a:lnTo>
                <a:lnTo>
                  <a:pt x="0" y="531525"/>
                </a:lnTo>
                <a:lnTo>
                  <a:pt x="0" y="0"/>
                </a:lnTo>
                <a:close/>
              </a:path>
            </a:pathLst>
          </a:custGeom>
          <a:blipFill>
            <a:blip r:embed="rId22"/>
            <a:stretch>
              <a:fillRect l="0" t="-9002" r="0" b="-9002"/>
            </a:stretch>
          </a:blipFill>
        </p:spPr>
      </p:sp>
      <p:sp>
        <p:nvSpPr>
          <p:cNvPr name="Freeform 30" id="30"/>
          <p:cNvSpPr/>
          <p:nvPr/>
        </p:nvSpPr>
        <p:spPr>
          <a:xfrm flipH="false" flipV="false" rot="0">
            <a:off x="948685" y="3221675"/>
            <a:ext cx="794312" cy="794312"/>
          </a:xfrm>
          <a:custGeom>
            <a:avLst/>
            <a:gdLst/>
            <a:ahLst/>
            <a:cxnLst/>
            <a:rect r="r" b="b" t="t" l="l"/>
            <a:pathLst>
              <a:path h="794312" w="794312">
                <a:moveTo>
                  <a:pt x="0" y="0"/>
                </a:moveTo>
                <a:lnTo>
                  <a:pt x="794312" y="0"/>
                </a:lnTo>
                <a:lnTo>
                  <a:pt x="794312" y="794312"/>
                </a:lnTo>
                <a:lnTo>
                  <a:pt x="0" y="794312"/>
                </a:lnTo>
                <a:lnTo>
                  <a:pt x="0" y="0"/>
                </a:lnTo>
                <a:close/>
              </a:path>
            </a:pathLst>
          </a:custGeom>
          <a:blipFill>
            <a:blip r:embed="rId22"/>
            <a:stretch>
              <a:fillRect l="0" t="0" r="0" b="0"/>
            </a:stretch>
          </a:blipFill>
        </p:spPr>
      </p:sp>
      <p:sp>
        <p:nvSpPr>
          <p:cNvPr name="Freeform 31" id="31"/>
          <p:cNvSpPr/>
          <p:nvPr/>
        </p:nvSpPr>
        <p:spPr>
          <a:xfrm flipH="false" flipV="false" rot="0">
            <a:off x="10805455" y="3289049"/>
            <a:ext cx="551596" cy="536759"/>
          </a:xfrm>
          <a:custGeom>
            <a:avLst/>
            <a:gdLst/>
            <a:ahLst/>
            <a:cxnLst/>
            <a:rect r="r" b="b" t="t" l="l"/>
            <a:pathLst>
              <a:path h="536759" w="551596">
                <a:moveTo>
                  <a:pt x="0" y="0"/>
                </a:moveTo>
                <a:lnTo>
                  <a:pt x="551596" y="0"/>
                </a:lnTo>
                <a:lnTo>
                  <a:pt x="551596" y="536758"/>
                </a:lnTo>
                <a:lnTo>
                  <a:pt x="0" y="536758"/>
                </a:lnTo>
                <a:lnTo>
                  <a:pt x="0" y="0"/>
                </a:lnTo>
                <a:close/>
              </a:path>
            </a:pathLst>
          </a:custGeom>
          <a:blipFill>
            <a:blip r:embed="rId23"/>
            <a:stretch>
              <a:fillRect l="0" t="-1382" r="0" b="-1382"/>
            </a:stretch>
          </a:blipFill>
        </p:spPr>
      </p:sp>
      <p:sp>
        <p:nvSpPr>
          <p:cNvPr name="Freeform 32" id="32"/>
          <p:cNvSpPr/>
          <p:nvPr/>
        </p:nvSpPr>
        <p:spPr>
          <a:xfrm flipH="false" flipV="false" rot="0">
            <a:off x="9788123" y="4997843"/>
            <a:ext cx="1072352" cy="890744"/>
          </a:xfrm>
          <a:custGeom>
            <a:avLst/>
            <a:gdLst/>
            <a:ahLst/>
            <a:cxnLst/>
            <a:rect r="r" b="b" t="t" l="l"/>
            <a:pathLst>
              <a:path h="890744" w="1072352">
                <a:moveTo>
                  <a:pt x="0" y="0"/>
                </a:moveTo>
                <a:lnTo>
                  <a:pt x="1072353" y="0"/>
                </a:lnTo>
                <a:lnTo>
                  <a:pt x="1072353" y="890744"/>
                </a:lnTo>
                <a:lnTo>
                  <a:pt x="0" y="890744"/>
                </a:lnTo>
                <a:lnTo>
                  <a:pt x="0" y="0"/>
                </a:lnTo>
                <a:close/>
              </a:path>
            </a:pathLst>
          </a:custGeom>
          <a:blipFill>
            <a:blip r:embed="rId24"/>
            <a:stretch>
              <a:fillRect l="-16543" t="-16748" r="-17134" b="-44902"/>
            </a:stretch>
          </a:blipFill>
        </p:spPr>
      </p:sp>
      <p:sp>
        <p:nvSpPr>
          <p:cNvPr name="Freeform 33" id="33"/>
          <p:cNvSpPr/>
          <p:nvPr/>
        </p:nvSpPr>
        <p:spPr>
          <a:xfrm flipH="false" flipV="false" rot="0">
            <a:off x="6348194" y="5777127"/>
            <a:ext cx="1228322" cy="1092090"/>
          </a:xfrm>
          <a:custGeom>
            <a:avLst/>
            <a:gdLst/>
            <a:ahLst/>
            <a:cxnLst/>
            <a:rect r="r" b="b" t="t" l="l"/>
            <a:pathLst>
              <a:path h="1092090" w="1228322">
                <a:moveTo>
                  <a:pt x="0" y="0"/>
                </a:moveTo>
                <a:lnTo>
                  <a:pt x="1228322" y="0"/>
                </a:lnTo>
                <a:lnTo>
                  <a:pt x="1228322" y="1092090"/>
                </a:lnTo>
                <a:lnTo>
                  <a:pt x="0" y="1092090"/>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34" id="34"/>
          <p:cNvSpPr/>
          <p:nvPr/>
        </p:nvSpPr>
        <p:spPr>
          <a:xfrm flipH="false" flipV="false" rot="-10800000">
            <a:off x="4345497" y="5973457"/>
            <a:ext cx="1801042" cy="544815"/>
          </a:xfrm>
          <a:custGeom>
            <a:avLst/>
            <a:gdLst/>
            <a:ahLst/>
            <a:cxnLst/>
            <a:rect r="r" b="b" t="t" l="l"/>
            <a:pathLst>
              <a:path h="544815" w="1801042">
                <a:moveTo>
                  <a:pt x="0" y="0"/>
                </a:moveTo>
                <a:lnTo>
                  <a:pt x="1801042" y="0"/>
                </a:lnTo>
                <a:lnTo>
                  <a:pt x="1801042" y="544815"/>
                </a:lnTo>
                <a:lnTo>
                  <a:pt x="0" y="54481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TextBox 35" id="35"/>
          <p:cNvSpPr txBox="true"/>
          <p:nvPr/>
        </p:nvSpPr>
        <p:spPr>
          <a:xfrm rot="0">
            <a:off x="9461899" y="6081900"/>
            <a:ext cx="3124892" cy="292100"/>
          </a:xfrm>
          <a:prstGeom prst="rect">
            <a:avLst/>
          </a:prstGeom>
        </p:spPr>
        <p:txBody>
          <a:bodyPr anchor="t" rtlCol="false" tIns="0" lIns="0" bIns="0" rIns="0">
            <a:spAutoFit/>
          </a:bodyPr>
          <a:lstStyle/>
          <a:p>
            <a:pPr algn="ctr">
              <a:lnSpc>
                <a:spcPts val="2260"/>
              </a:lnSpc>
            </a:pPr>
            <a:r>
              <a:rPr lang="en-US" b="true" sz="1800" u="sng">
                <a:solidFill>
                  <a:srgbClr val="F5F0F0"/>
                </a:solidFill>
                <a:latin typeface="Merriweather Bold"/>
                <a:ea typeface="Merriweather Bold"/>
                <a:cs typeface="Merriweather Bold"/>
                <a:sym typeface="Merriweather Bold"/>
              </a:rPr>
              <a:t>Partner Bank/Fintech Infra</a:t>
            </a:r>
          </a:p>
        </p:txBody>
      </p:sp>
      <p:sp>
        <p:nvSpPr>
          <p:cNvPr name="TextBox 36" id="36"/>
          <p:cNvSpPr txBox="true"/>
          <p:nvPr/>
        </p:nvSpPr>
        <p:spPr>
          <a:xfrm rot="0">
            <a:off x="9287158" y="6468339"/>
            <a:ext cx="3522852" cy="492524"/>
          </a:xfrm>
          <a:prstGeom prst="rect">
            <a:avLst/>
          </a:prstGeom>
        </p:spPr>
        <p:txBody>
          <a:bodyPr anchor="t" rtlCol="false" tIns="0" lIns="0" bIns="0" rIns="0">
            <a:spAutoFit/>
          </a:bodyPr>
          <a:lstStyle/>
          <a:p>
            <a:pPr algn="ctr">
              <a:lnSpc>
                <a:spcPts val="1991"/>
              </a:lnSpc>
            </a:pPr>
            <a:r>
              <a:rPr lang="en-US" sz="1586">
                <a:solidFill>
                  <a:srgbClr val="F5F0F0"/>
                </a:solidFill>
                <a:latin typeface="Merriweather"/>
                <a:ea typeface="Merriweather"/>
                <a:cs typeface="Merriweather"/>
                <a:sym typeface="Merriweather"/>
              </a:rPr>
              <a:t>Core banking &amp; licensing specialised digital services</a:t>
            </a:r>
          </a:p>
        </p:txBody>
      </p:sp>
      <p:sp>
        <p:nvSpPr>
          <p:cNvPr name="TextBox 37" id="37"/>
          <p:cNvSpPr txBox="true"/>
          <p:nvPr/>
        </p:nvSpPr>
        <p:spPr>
          <a:xfrm rot="0">
            <a:off x="11590025" y="3238164"/>
            <a:ext cx="1991012" cy="319264"/>
          </a:xfrm>
          <a:prstGeom prst="rect">
            <a:avLst/>
          </a:prstGeom>
        </p:spPr>
        <p:txBody>
          <a:bodyPr anchor="t" rtlCol="false" tIns="0" lIns="0" bIns="0" rIns="0">
            <a:spAutoFit/>
          </a:bodyPr>
          <a:lstStyle/>
          <a:p>
            <a:pPr algn="ctr">
              <a:lnSpc>
                <a:spcPts val="2511"/>
              </a:lnSpc>
            </a:pPr>
            <a:r>
              <a:rPr lang="en-US" sz="2000">
                <a:solidFill>
                  <a:srgbClr val="F5F0F0"/>
                </a:solidFill>
                <a:latin typeface="Merriweather"/>
                <a:ea typeface="Merriweather"/>
                <a:cs typeface="Merriweather"/>
                <a:sym typeface="Merriweather"/>
              </a:rPr>
              <a:t>Mobile  App</a:t>
            </a:r>
          </a:p>
        </p:txBody>
      </p:sp>
      <p:sp>
        <p:nvSpPr>
          <p:cNvPr name="TextBox 38" id="38"/>
          <p:cNvSpPr txBox="true"/>
          <p:nvPr/>
        </p:nvSpPr>
        <p:spPr>
          <a:xfrm rot="0">
            <a:off x="2408963" y="5133975"/>
            <a:ext cx="1790805" cy="1219997"/>
          </a:xfrm>
          <a:prstGeom prst="rect">
            <a:avLst/>
          </a:prstGeom>
        </p:spPr>
        <p:txBody>
          <a:bodyPr anchor="t" rtlCol="false" tIns="0" lIns="0" bIns="0" rIns="0">
            <a:spAutoFit/>
          </a:bodyPr>
          <a:lstStyle/>
          <a:p>
            <a:pPr algn="ctr">
              <a:lnSpc>
                <a:spcPts val="3262"/>
              </a:lnSpc>
            </a:pPr>
            <a:r>
              <a:rPr lang="en-US" b="true" sz="2599" u="sng">
                <a:solidFill>
                  <a:srgbClr val="F5F0F0"/>
                </a:solidFill>
                <a:latin typeface="Merriweather Bold"/>
                <a:ea typeface="Merriweather Bold"/>
                <a:cs typeface="Merriweather Bold"/>
                <a:sym typeface="Merriweather Bold"/>
              </a:rPr>
              <a:t>Core </a:t>
            </a:r>
          </a:p>
          <a:p>
            <a:pPr algn="ctr">
              <a:lnSpc>
                <a:spcPts val="3264"/>
              </a:lnSpc>
            </a:pPr>
            <a:r>
              <a:rPr lang="en-US" b="true" sz="2599" u="sng">
                <a:solidFill>
                  <a:srgbClr val="F5F0F0"/>
                </a:solidFill>
                <a:latin typeface="Merriweather Bold"/>
                <a:ea typeface="Merriweather Bold"/>
                <a:cs typeface="Merriweather Bold"/>
                <a:sym typeface="Merriweather Bold"/>
              </a:rPr>
              <a:t>Banking System</a:t>
            </a:r>
          </a:p>
        </p:txBody>
      </p:sp>
      <p:sp>
        <p:nvSpPr>
          <p:cNvPr name="TextBox 39" id="39"/>
          <p:cNvSpPr txBox="true"/>
          <p:nvPr/>
        </p:nvSpPr>
        <p:spPr>
          <a:xfrm rot="0">
            <a:off x="1525583" y="8029015"/>
            <a:ext cx="2282060" cy="319264"/>
          </a:xfrm>
          <a:prstGeom prst="rect">
            <a:avLst/>
          </a:prstGeom>
        </p:spPr>
        <p:txBody>
          <a:bodyPr anchor="t" rtlCol="false" tIns="0" lIns="0" bIns="0" rIns="0">
            <a:spAutoFit/>
          </a:bodyPr>
          <a:lstStyle/>
          <a:p>
            <a:pPr algn="ctr">
              <a:lnSpc>
                <a:spcPts val="2511"/>
              </a:lnSpc>
            </a:pPr>
            <a:r>
              <a:rPr lang="en-US" b="true" sz="2000" u="sng">
                <a:solidFill>
                  <a:srgbClr val="F5F0F0"/>
                </a:solidFill>
                <a:latin typeface="Merriweather Bold"/>
                <a:ea typeface="Merriweather Bold"/>
                <a:cs typeface="Merriweather Bold"/>
                <a:sym typeface="Merriweather Bold"/>
              </a:rPr>
              <a:t>Services Provided</a:t>
            </a:r>
          </a:p>
        </p:txBody>
      </p:sp>
      <p:sp>
        <p:nvSpPr>
          <p:cNvPr name="TextBox 40" id="40"/>
          <p:cNvSpPr txBox="true"/>
          <p:nvPr/>
        </p:nvSpPr>
        <p:spPr>
          <a:xfrm rot="0">
            <a:off x="1089432" y="9357067"/>
            <a:ext cx="872302" cy="292100"/>
          </a:xfrm>
          <a:prstGeom prst="rect">
            <a:avLst/>
          </a:prstGeom>
        </p:spPr>
        <p:txBody>
          <a:bodyPr anchor="t" rtlCol="false" tIns="0" lIns="0" bIns="0" rIns="0">
            <a:spAutoFit/>
          </a:bodyPr>
          <a:lstStyle/>
          <a:p>
            <a:pPr algn="ctr">
              <a:lnSpc>
                <a:spcPts val="2260"/>
              </a:lnSpc>
            </a:pPr>
            <a:r>
              <a:rPr lang="en-US" sz="1800">
                <a:solidFill>
                  <a:srgbClr val="F5F0F0"/>
                </a:solidFill>
                <a:latin typeface="Merriweather"/>
                <a:ea typeface="Merriweather"/>
                <a:cs typeface="Merriweather"/>
                <a:sym typeface="Merriweather"/>
              </a:rPr>
              <a:t>Loans </a:t>
            </a:r>
          </a:p>
        </p:txBody>
      </p:sp>
      <p:sp>
        <p:nvSpPr>
          <p:cNvPr name="TextBox 41" id="41"/>
          <p:cNvSpPr txBox="true"/>
          <p:nvPr/>
        </p:nvSpPr>
        <p:spPr>
          <a:xfrm rot="0">
            <a:off x="1922308" y="9357067"/>
            <a:ext cx="1138730" cy="292100"/>
          </a:xfrm>
          <a:prstGeom prst="rect">
            <a:avLst/>
          </a:prstGeom>
        </p:spPr>
        <p:txBody>
          <a:bodyPr anchor="t" rtlCol="false" tIns="0" lIns="0" bIns="0" rIns="0">
            <a:spAutoFit/>
          </a:bodyPr>
          <a:lstStyle/>
          <a:p>
            <a:pPr algn="ctr">
              <a:lnSpc>
                <a:spcPts val="2260"/>
              </a:lnSpc>
            </a:pPr>
            <a:r>
              <a:rPr lang="en-US" sz="1800">
                <a:solidFill>
                  <a:srgbClr val="F5F0F0"/>
                </a:solidFill>
                <a:latin typeface="Merriweather"/>
                <a:ea typeface="Merriweather"/>
                <a:cs typeface="Merriweather"/>
                <a:sym typeface="Merriweather"/>
              </a:rPr>
              <a:t>Payments</a:t>
            </a:r>
          </a:p>
        </p:txBody>
      </p:sp>
      <p:sp>
        <p:nvSpPr>
          <p:cNvPr name="TextBox 42" id="42"/>
          <p:cNvSpPr txBox="true"/>
          <p:nvPr/>
        </p:nvSpPr>
        <p:spPr>
          <a:xfrm rot="0">
            <a:off x="3061038" y="9357067"/>
            <a:ext cx="1138730" cy="292100"/>
          </a:xfrm>
          <a:prstGeom prst="rect">
            <a:avLst/>
          </a:prstGeom>
        </p:spPr>
        <p:txBody>
          <a:bodyPr anchor="t" rtlCol="false" tIns="0" lIns="0" bIns="0" rIns="0">
            <a:spAutoFit/>
          </a:bodyPr>
          <a:lstStyle/>
          <a:p>
            <a:pPr algn="ctr">
              <a:lnSpc>
                <a:spcPts val="2260"/>
              </a:lnSpc>
            </a:pPr>
            <a:r>
              <a:rPr lang="en-US" sz="1800">
                <a:solidFill>
                  <a:srgbClr val="F5F0F0"/>
                </a:solidFill>
                <a:latin typeface="Merriweather"/>
                <a:ea typeface="Merriweather"/>
                <a:cs typeface="Merriweather"/>
                <a:sym typeface="Merriweather"/>
              </a:rPr>
              <a:t>Deposits</a:t>
            </a:r>
          </a:p>
        </p:txBody>
      </p:sp>
      <p:sp>
        <p:nvSpPr>
          <p:cNvPr name="TextBox 43" id="43"/>
          <p:cNvSpPr txBox="true"/>
          <p:nvPr/>
        </p:nvSpPr>
        <p:spPr>
          <a:xfrm rot="0">
            <a:off x="5503344" y="8525791"/>
            <a:ext cx="2677199" cy="863663"/>
          </a:xfrm>
          <a:prstGeom prst="rect">
            <a:avLst/>
          </a:prstGeom>
        </p:spPr>
        <p:txBody>
          <a:bodyPr anchor="t" rtlCol="false" tIns="0" lIns="0" bIns="0" rIns="0">
            <a:spAutoFit/>
          </a:bodyPr>
          <a:lstStyle/>
          <a:p>
            <a:pPr algn="ctr">
              <a:lnSpc>
                <a:spcPts val="2259"/>
              </a:lnSpc>
            </a:pPr>
            <a:r>
              <a:rPr lang="en-US" sz="1800">
                <a:solidFill>
                  <a:srgbClr val="F5F0F0"/>
                </a:solidFill>
                <a:latin typeface="Merriweather"/>
                <a:ea typeface="Merriweather"/>
                <a:cs typeface="Merriweather"/>
                <a:sym typeface="Merriweather"/>
              </a:rPr>
              <a:t>Completion </a:t>
            </a:r>
          </a:p>
          <a:p>
            <a:pPr algn="ctr">
              <a:lnSpc>
                <a:spcPts val="2259"/>
              </a:lnSpc>
            </a:pPr>
            <a:r>
              <a:rPr lang="en-US" sz="1800">
                <a:solidFill>
                  <a:srgbClr val="F5F0F0"/>
                </a:solidFill>
                <a:latin typeface="Merriweather"/>
                <a:ea typeface="Merriweather"/>
                <a:cs typeface="Merriweather"/>
                <a:sym typeface="Merriweather"/>
              </a:rPr>
              <a:t>of </a:t>
            </a:r>
          </a:p>
          <a:p>
            <a:pPr algn="ctr">
              <a:lnSpc>
                <a:spcPts val="2260"/>
              </a:lnSpc>
            </a:pPr>
            <a:r>
              <a:rPr lang="en-US" sz="1800">
                <a:solidFill>
                  <a:srgbClr val="F5F0F0"/>
                </a:solidFill>
                <a:latin typeface="Merriweather"/>
                <a:ea typeface="Merriweather"/>
                <a:cs typeface="Merriweather"/>
                <a:sym typeface="Merriweather"/>
              </a:rPr>
              <a:t>process </a:t>
            </a:r>
          </a:p>
        </p:txBody>
      </p:sp>
      <p:sp>
        <p:nvSpPr>
          <p:cNvPr name="TextBox 44" id="44"/>
          <p:cNvSpPr txBox="true"/>
          <p:nvPr/>
        </p:nvSpPr>
        <p:spPr>
          <a:xfrm rot="0">
            <a:off x="4345497" y="8311097"/>
            <a:ext cx="1467719" cy="226489"/>
          </a:xfrm>
          <a:prstGeom prst="rect">
            <a:avLst/>
          </a:prstGeom>
        </p:spPr>
        <p:txBody>
          <a:bodyPr anchor="t" rtlCol="false" tIns="0" lIns="0" bIns="0" rIns="0">
            <a:spAutoFit/>
          </a:bodyPr>
          <a:lstStyle/>
          <a:p>
            <a:pPr algn="ctr">
              <a:lnSpc>
                <a:spcPts val="1874"/>
              </a:lnSpc>
            </a:pPr>
            <a:r>
              <a:rPr lang="en-US" sz="1493">
                <a:solidFill>
                  <a:srgbClr val="F5F0F0"/>
                </a:solidFill>
                <a:latin typeface="Merriweather"/>
                <a:ea typeface="Merriweather"/>
                <a:cs typeface="Merriweather"/>
                <a:sym typeface="Merriweather"/>
              </a:rPr>
              <a:t>Takes 1-2 Days </a:t>
            </a:r>
          </a:p>
        </p:txBody>
      </p:sp>
      <p:sp>
        <p:nvSpPr>
          <p:cNvPr name="TextBox 45" id="45"/>
          <p:cNvSpPr txBox="true"/>
          <p:nvPr/>
        </p:nvSpPr>
        <p:spPr>
          <a:xfrm rot="0">
            <a:off x="3927687" y="1339767"/>
            <a:ext cx="2869891" cy="633589"/>
          </a:xfrm>
          <a:prstGeom prst="rect">
            <a:avLst/>
          </a:prstGeom>
        </p:spPr>
        <p:txBody>
          <a:bodyPr anchor="t" rtlCol="false" tIns="0" lIns="0" bIns="0" rIns="0">
            <a:spAutoFit/>
          </a:bodyPr>
          <a:lstStyle/>
          <a:p>
            <a:pPr algn="ctr">
              <a:lnSpc>
                <a:spcPts val="2511"/>
              </a:lnSpc>
            </a:pPr>
            <a:r>
              <a:rPr lang="en-US" sz="2000">
                <a:solidFill>
                  <a:srgbClr val="F5F0F0"/>
                </a:solidFill>
                <a:latin typeface="Merriweather"/>
                <a:ea typeface="Merriweather"/>
                <a:cs typeface="Merriweather"/>
                <a:sym typeface="Merriweather"/>
              </a:rPr>
              <a:t>Rahul  Initiate the Process</a:t>
            </a:r>
          </a:p>
        </p:txBody>
      </p:sp>
      <p:sp>
        <p:nvSpPr>
          <p:cNvPr name="TextBox 46" id="46"/>
          <p:cNvSpPr txBox="true"/>
          <p:nvPr/>
        </p:nvSpPr>
        <p:spPr>
          <a:xfrm rot="0">
            <a:off x="948685" y="2565773"/>
            <a:ext cx="1991012" cy="319264"/>
          </a:xfrm>
          <a:prstGeom prst="rect">
            <a:avLst/>
          </a:prstGeom>
        </p:spPr>
        <p:txBody>
          <a:bodyPr anchor="t" rtlCol="false" tIns="0" lIns="0" bIns="0" rIns="0">
            <a:spAutoFit/>
          </a:bodyPr>
          <a:lstStyle/>
          <a:p>
            <a:pPr algn="ctr">
              <a:lnSpc>
                <a:spcPts val="2511"/>
              </a:lnSpc>
            </a:pPr>
            <a:r>
              <a:rPr lang="en-US" sz="2000">
                <a:solidFill>
                  <a:srgbClr val="F5F0F0"/>
                </a:solidFill>
                <a:latin typeface="Merriweather"/>
                <a:ea typeface="Merriweather"/>
                <a:cs typeface="Merriweather"/>
                <a:sym typeface="Merriweather"/>
              </a:rPr>
              <a:t>In-Person Visit</a:t>
            </a:r>
          </a:p>
        </p:txBody>
      </p:sp>
      <p:sp>
        <p:nvSpPr>
          <p:cNvPr name="TextBox 47" id="47"/>
          <p:cNvSpPr txBox="true"/>
          <p:nvPr/>
        </p:nvSpPr>
        <p:spPr>
          <a:xfrm rot="0">
            <a:off x="809290" y="316352"/>
            <a:ext cx="6118854" cy="509065"/>
          </a:xfrm>
          <a:prstGeom prst="rect">
            <a:avLst/>
          </a:prstGeom>
        </p:spPr>
        <p:txBody>
          <a:bodyPr anchor="t" rtlCol="false" tIns="0" lIns="0" bIns="0" rIns="0">
            <a:spAutoFit/>
          </a:bodyPr>
          <a:lstStyle/>
          <a:p>
            <a:pPr algn="l">
              <a:lnSpc>
                <a:spcPts val="4151"/>
              </a:lnSpc>
            </a:pPr>
            <a:r>
              <a:rPr lang="en-US" sz="3299" u="sng">
                <a:solidFill>
                  <a:srgbClr val="DAECFF"/>
                </a:solidFill>
                <a:latin typeface="Merriweather"/>
                <a:ea typeface="Merriweather"/>
                <a:cs typeface="Merriweather"/>
                <a:sym typeface="Merriweather"/>
              </a:rPr>
              <a:t>Traditional Banking System</a:t>
            </a:r>
          </a:p>
        </p:txBody>
      </p:sp>
      <p:sp>
        <p:nvSpPr>
          <p:cNvPr name="TextBox 48" id="48"/>
          <p:cNvSpPr txBox="true"/>
          <p:nvPr/>
        </p:nvSpPr>
        <p:spPr>
          <a:xfrm rot="0">
            <a:off x="10093105" y="8003115"/>
            <a:ext cx="2011400" cy="283658"/>
          </a:xfrm>
          <a:prstGeom prst="rect">
            <a:avLst/>
          </a:prstGeom>
        </p:spPr>
        <p:txBody>
          <a:bodyPr anchor="t" rtlCol="false" tIns="0" lIns="0" bIns="0" rIns="0">
            <a:spAutoFit/>
          </a:bodyPr>
          <a:lstStyle/>
          <a:p>
            <a:pPr algn="ctr">
              <a:lnSpc>
                <a:spcPts val="2213"/>
              </a:lnSpc>
            </a:pPr>
            <a:r>
              <a:rPr lang="en-US" b="true" sz="1762" u="sng">
                <a:solidFill>
                  <a:srgbClr val="F5F0F0"/>
                </a:solidFill>
                <a:latin typeface="Merriweather Bold"/>
                <a:ea typeface="Merriweather Bold"/>
                <a:cs typeface="Merriweather Bold"/>
                <a:sym typeface="Merriweather Bold"/>
              </a:rPr>
              <a:t>Services Provided</a:t>
            </a:r>
          </a:p>
        </p:txBody>
      </p:sp>
      <p:sp>
        <p:nvSpPr>
          <p:cNvPr name="TextBox 49" id="49"/>
          <p:cNvSpPr txBox="true"/>
          <p:nvPr/>
        </p:nvSpPr>
        <p:spPr>
          <a:xfrm rot="0">
            <a:off x="9708682" y="9192705"/>
            <a:ext cx="768844" cy="240665"/>
          </a:xfrm>
          <a:prstGeom prst="rect">
            <a:avLst/>
          </a:prstGeom>
        </p:spPr>
        <p:txBody>
          <a:bodyPr anchor="t" rtlCol="false" tIns="0" lIns="0" bIns="0" rIns="0">
            <a:spAutoFit/>
          </a:bodyPr>
          <a:lstStyle/>
          <a:p>
            <a:pPr algn="ctr">
              <a:lnSpc>
                <a:spcPts val="1991"/>
              </a:lnSpc>
            </a:pPr>
            <a:r>
              <a:rPr lang="en-US" sz="1586">
                <a:solidFill>
                  <a:srgbClr val="F5F0F0"/>
                </a:solidFill>
                <a:latin typeface="Merriweather"/>
                <a:ea typeface="Merriweather"/>
                <a:cs typeface="Merriweather"/>
                <a:sym typeface="Merriweather"/>
              </a:rPr>
              <a:t>Loans </a:t>
            </a:r>
          </a:p>
        </p:txBody>
      </p:sp>
      <p:sp>
        <p:nvSpPr>
          <p:cNvPr name="TextBox 50" id="50"/>
          <p:cNvSpPr txBox="true"/>
          <p:nvPr/>
        </p:nvSpPr>
        <p:spPr>
          <a:xfrm rot="0">
            <a:off x="10442776" y="9192705"/>
            <a:ext cx="1003673" cy="240665"/>
          </a:xfrm>
          <a:prstGeom prst="rect">
            <a:avLst/>
          </a:prstGeom>
        </p:spPr>
        <p:txBody>
          <a:bodyPr anchor="t" rtlCol="false" tIns="0" lIns="0" bIns="0" rIns="0">
            <a:spAutoFit/>
          </a:bodyPr>
          <a:lstStyle/>
          <a:p>
            <a:pPr algn="ctr">
              <a:lnSpc>
                <a:spcPts val="1991"/>
              </a:lnSpc>
            </a:pPr>
            <a:r>
              <a:rPr lang="en-US" sz="1586">
                <a:solidFill>
                  <a:srgbClr val="F5F0F0"/>
                </a:solidFill>
                <a:latin typeface="Merriweather"/>
                <a:ea typeface="Merriweather"/>
                <a:cs typeface="Merriweather"/>
                <a:sym typeface="Merriweather"/>
              </a:rPr>
              <a:t>Payments</a:t>
            </a:r>
          </a:p>
        </p:txBody>
      </p:sp>
      <p:sp>
        <p:nvSpPr>
          <p:cNvPr name="TextBox 51" id="51"/>
          <p:cNvSpPr txBox="true"/>
          <p:nvPr/>
        </p:nvSpPr>
        <p:spPr>
          <a:xfrm rot="0">
            <a:off x="11446449" y="9192705"/>
            <a:ext cx="1003673" cy="240665"/>
          </a:xfrm>
          <a:prstGeom prst="rect">
            <a:avLst/>
          </a:prstGeom>
        </p:spPr>
        <p:txBody>
          <a:bodyPr anchor="t" rtlCol="false" tIns="0" lIns="0" bIns="0" rIns="0">
            <a:spAutoFit/>
          </a:bodyPr>
          <a:lstStyle/>
          <a:p>
            <a:pPr algn="ctr">
              <a:lnSpc>
                <a:spcPts val="1991"/>
              </a:lnSpc>
            </a:pPr>
            <a:r>
              <a:rPr lang="en-US" sz="1586">
                <a:solidFill>
                  <a:srgbClr val="F5F0F0"/>
                </a:solidFill>
                <a:latin typeface="Merriweather"/>
                <a:ea typeface="Merriweather"/>
                <a:cs typeface="Merriweather"/>
                <a:sym typeface="Merriweather"/>
              </a:rPr>
              <a:t>Deposits</a:t>
            </a:r>
          </a:p>
        </p:txBody>
      </p:sp>
      <p:sp>
        <p:nvSpPr>
          <p:cNvPr name="TextBox 52" id="52"/>
          <p:cNvSpPr txBox="true"/>
          <p:nvPr/>
        </p:nvSpPr>
        <p:spPr>
          <a:xfrm rot="0">
            <a:off x="14015345" y="8569707"/>
            <a:ext cx="1330160" cy="863663"/>
          </a:xfrm>
          <a:prstGeom prst="rect">
            <a:avLst/>
          </a:prstGeom>
        </p:spPr>
        <p:txBody>
          <a:bodyPr anchor="t" rtlCol="false" tIns="0" lIns="0" bIns="0" rIns="0">
            <a:spAutoFit/>
          </a:bodyPr>
          <a:lstStyle/>
          <a:p>
            <a:pPr algn="ctr">
              <a:lnSpc>
                <a:spcPts val="2259"/>
              </a:lnSpc>
            </a:pPr>
            <a:r>
              <a:rPr lang="en-US" sz="1800">
                <a:solidFill>
                  <a:srgbClr val="F5F0F0"/>
                </a:solidFill>
                <a:latin typeface="Merriweather"/>
                <a:ea typeface="Merriweather"/>
                <a:cs typeface="Merriweather"/>
                <a:sym typeface="Merriweather"/>
              </a:rPr>
              <a:t>Completion </a:t>
            </a:r>
          </a:p>
          <a:p>
            <a:pPr algn="ctr">
              <a:lnSpc>
                <a:spcPts val="2259"/>
              </a:lnSpc>
            </a:pPr>
            <a:r>
              <a:rPr lang="en-US" sz="1800">
                <a:solidFill>
                  <a:srgbClr val="F5F0F0"/>
                </a:solidFill>
                <a:latin typeface="Merriweather"/>
                <a:ea typeface="Merriweather"/>
                <a:cs typeface="Merriweather"/>
                <a:sym typeface="Merriweather"/>
              </a:rPr>
              <a:t>of </a:t>
            </a:r>
          </a:p>
          <a:p>
            <a:pPr algn="ctr">
              <a:lnSpc>
                <a:spcPts val="2260"/>
              </a:lnSpc>
            </a:pPr>
            <a:r>
              <a:rPr lang="en-US" sz="1800">
                <a:solidFill>
                  <a:srgbClr val="F5F0F0"/>
                </a:solidFill>
                <a:latin typeface="Merriweather"/>
                <a:ea typeface="Merriweather"/>
                <a:cs typeface="Merriweather"/>
                <a:sym typeface="Merriweather"/>
              </a:rPr>
              <a:t>process </a:t>
            </a:r>
          </a:p>
        </p:txBody>
      </p:sp>
      <p:sp>
        <p:nvSpPr>
          <p:cNvPr name="TextBox 53" id="53"/>
          <p:cNvSpPr txBox="true"/>
          <p:nvPr/>
        </p:nvSpPr>
        <p:spPr>
          <a:xfrm rot="0">
            <a:off x="12450122" y="8173527"/>
            <a:ext cx="1467719" cy="226489"/>
          </a:xfrm>
          <a:prstGeom prst="rect">
            <a:avLst/>
          </a:prstGeom>
        </p:spPr>
        <p:txBody>
          <a:bodyPr anchor="t" rtlCol="false" tIns="0" lIns="0" bIns="0" rIns="0">
            <a:spAutoFit/>
          </a:bodyPr>
          <a:lstStyle/>
          <a:p>
            <a:pPr algn="ctr">
              <a:lnSpc>
                <a:spcPts val="1874"/>
              </a:lnSpc>
            </a:pPr>
            <a:r>
              <a:rPr lang="en-US" sz="1493">
                <a:solidFill>
                  <a:srgbClr val="F5F0F0"/>
                </a:solidFill>
                <a:latin typeface="Merriweather"/>
                <a:ea typeface="Merriweather"/>
                <a:cs typeface="Merriweather"/>
                <a:sym typeface="Merriweather"/>
              </a:rPr>
              <a:t>Instant</a:t>
            </a:r>
          </a:p>
        </p:txBody>
      </p:sp>
      <p:sp>
        <p:nvSpPr>
          <p:cNvPr name="TextBox 54" id="54"/>
          <p:cNvSpPr txBox="true"/>
          <p:nvPr/>
        </p:nvSpPr>
        <p:spPr>
          <a:xfrm rot="0">
            <a:off x="11689961" y="1334256"/>
            <a:ext cx="1991012" cy="633589"/>
          </a:xfrm>
          <a:prstGeom prst="rect">
            <a:avLst/>
          </a:prstGeom>
        </p:spPr>
        <p:txBody>
          <a:bodyPr anchor="t" rtlCol="false" tIns="0" lIns="0" bIns="0" rIns="0">
            <a:spAutoFit/>
          </a:bodyPr>
          <a:lstStyle/>
          <a:p>
            <a:pPr algn="ctr">
              <a:lnSpc>
                <a:spcPts val="2511"/>
              </a:lnSpc>
            </a:pPr>
            <a:r>
              <a:rPr lang="en-US" sz="2000">
                <a:solidFill>
                  <a:srgbClr val="F5F0F0"/>
                </a:solidFill>
                <a:latin typeface="Merriweather"/>
                <a:ea typeface="Merriweather"/>
                <a:cs typeface="Merriweather"/>
                <a:sym typeface="Merriweather"/>
              </a:rPr>
              <a:t>Rahul Initiate the Process</a:t>
            </a:r>
          </a:p>
        </p:txBody>
      </p:sp>
      <p:sp>
        <p:nvSpPr>
          <p:cNvPr name="TextBox 55" id="55"/>
          <p:cNvSpPr txBox="true"/>
          <p:nvPr/>
        </p:nvSpPr>
        <p:spPr>
          <a:xfrm rot="0">
            <a:off x="9603711" y="316352"/>
            <a:ext cx="4689148" cy="509065"/>
          </a:xfrm>
          <a:prstGeom prst="rect">
            <a:avLst/>
          </a:prstGeom>
        </p:spPr>
        <p:txBody>
          <a:bodyPr anchor="t" rtlCol="false" tIns="0" lIns="0" bIns="0" rIns="0">
            <a:spAutoFit/>
          </a:bodyPr>
          <a:lstStyle/>
          <a:p>
            <a:pPr algn="l">
              <a:lnSpc>
                <a:spcPts val="4151"/>
              </a:lnSpc>
            </a:pPr>
            <a:r>
              <a:rPr lang="en-US" sz="3299" u="sng">
                <a:solidFill>
                  <a:srgbClr val="DAECFF"/>
                </a:solidFill>
                <a:latin typeface="Merriweather"/>
                <a:ea typeface="Merriweather"/>
                <a:cs typeface="Merriweather"/>
                <a:sym typeface="Merriweather"/>
              </a:rPr>
              <a:t>Neo-Banking System</a:t>
            </a:r>
          </a:p>
        </p:txBody>
      </p:sp>
      <p:sp>
        <p:nvSpPr>
          <p:cNvPr name="TextBox 56" id="56"/>
          <p:cNvSpPr txBox="true"/>
          <p:nvPr/>
        </p:nvSpPr>
        <p:spPr>
          <a:xfrm rot="0">
            <a:off x="5932637" y="2654855"/>
            <a:ext cx="1991012" cy="319264"/>
          </a:xfrm>
          <a:prstGeom prst="rect">
            <a:avLst/>
          </a:prstGeom>
        </p:spPr>
        <p:txBody>
          <a:bodyPr anchor="t" rtlCol="false" tIns="0" lIns="0" bIns="0" rIns="0">
            <a:spAutoFit/>
          </a:bodyPr>
          <a:lstStyle/>
          <a:p>
            <a:pPr algn="ctr">
              <a:lnSpc>
                <a:spcPts val="2511"/>
              </a:lnSpc>
            </a:pPr>
            <a:r>
              <a:rPr lang="en-US" sz="2000">
                <a:solidFill>
                  <a:srgbClr val="F5F0F0"/>
                </a:solidFill>
                <a:latin typeface="Merriweather"/>
                <a:ea typeface="Merriweather"/>
                <a:cs typeface="Merriweather"/>
                <a:sym typeface="Merriweather"/>
              </a:rPr>
              <a:t>Via mobile app</a:t>
            </a:r>
          </a:p>
        </p:txBody>
      </p:sp>
      <p:sp>
        <p:nvSpPr>
          <p:cNvPr name="TextBox 57" id="57"/>
          <p:cNvSpPr txBox="true"/>
          <p:nvPr/>
        </p:nvSpPr>
        <p:spPr>
          <a:xfrm rot="0">
            <a:off x="4375285" y="4442180"/>
            <a:ext cx="1741465" cy="262586"/>
          </a:xfrm>
          <a:prstGeom prst="rect">
            <a:avLst/>
          </a:prstGeom>
        </p:spPr>
        <p:txBody>
          <a:bodyPr anchor="t" rtlCol="false" tIns="0" lIns="0" bIns="0" rIns="0">
            <a:spAutoFit/>
          </a:bodyPr>
          <a:lstStyle/>
          <a:p>
            <a:pPr algn="ctr">
              <a:lnSpc>
                <a:spcPts val="2196"/>
              </a:lnSpc>
            </a:pPr>
            <a:r>
              <a:rPr lang="en-US" sz="1749">
                <a:solidFill>
                  <a:srgbClr val="F5F0F0"/>
                </a:solidFill>
                <a:latin typeface="Merriweather"/>
                <a:ea typeface="Merriweather"/>
                <a:cs typeface="Merriweather"/>
                <a:sym typeface="Merriweather"/>
              </a:rPr>
              <a:t>Phone banking</a:t>
            </a:r>
          </a:p>
        </p:txBody>
      </p:sp>
      <p:sp>
        <p:nvSpPr>
          <p:cNvPr name="TextBox 58" id="58"/>
          <p:cNvSpPr txBox="true"/>
          <p:nvPr/>
        </p:nvSpPr>
        <p:spPr>
          <a:xfrm rot="0">
            <a:off x="4606729" y="6562485"/>
            <a:ext cx="1741465" cy="262586"/>
          </a:xfrm>
          <a:prstGeom prst="rect">
            <a:avLst/>
          </a:prstGeom>
        </p:spPr>
        <p:txBody>
          <a:bodyPr anchor="t" rtlCol="false" tIns="0" lIns="0" bIns="0" rIns="0">
            <a:spAutoFit/>
          </a:bodyPr>
          <a:lstStyle/>
          <a:p>
            <a:pPr algn="ctr">
              <a:lnSpc>
                <a:spcPts val="2196"/>
              </a:lnSpc>
            </a:pPr>
            <a:r>
              <a:rPr lang="en-US" sz="1749">
                <a:solidFill>
                  <a:srgbClr val="F5F0F0"/>
                </a:solidFill>
                <a:latin typeface="Merriweather"/>
                <a:ea typeface="Merriweather"/>
                <a:cs typeface="Merriweather"/>
                <a:sym typeface="Merriweather"/>
              </a:rPr>
              <a:t>Net  banking</a:t>
            </a:r>
          </a:p>
        </p:txBody>
      </p:sp>
      <p:sp>
        <p:nvSpPr>
          <p:cNvPr name="Freeform 59" id="59"/>
          <p:cNvSpPr/>
          <p:nvPr/>
        </p:nvSpPr>
        <p:spPr>
          <a:xfrm flipH="false" flipV="false" rot="-10800000">
            <a:off x="4393984" y="4871092"/>
            <a:ext cx="1801042" cy="544815"/>
          </a:xfrm>
          <a:custGeom>
            <a:avLst/>
            <a:gdLst/>
            <a:ahLst/>
            <a:cxnLst/>
            <a:rect r="r" b="b" t="t" l="l"/>
            <a:pathLst>
              <a:path h="544815" w="1801042">
                <a:moveTo>
                  <a:pt x="0" y="0"/>
                </a:moveTo>
                <a:lnTo>
                  <a:pt x="1801042" y="0"/>
                </a:lnTo>
                <a:lnTo>
                  <a:pt x="1801042" y="544816"/>
                </a:lnTo>
                <a:lnTo>
                  <a:pt x="0" y="544816"/>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60" id="60"/>
          <p:cNvSpPr/>
          <p:nvPr/>
        </p:nvSpPr>
        <p:spPr>
          <a:xfrm flipH="false" flipV="false" rot="9275672">
            <a:off x="3359470" y="2914538"/>
            <a:ext cx="1312843" cy="397135"/>
          </a:xfrm>
          <a:custGeom>
            <a:avLst/>
            <a:gdLst/>
            <a:ahLst/>
            <a:cxnLst/>
            <a:rect r="r" b="b" t="t" l="l"/>
            <a:pathLst>
              <a:path h="397135" w="1312843">
                <a:moveTo>
                  <a:pt x="0" y="0"/>
                </a:moveTo>
                <a:lnTo>
                  <a:pt x="1312842" y="0"/>
                </a:lnTo>
                <a:lnTo>
                  <a:pt x="1312842" y="397135"/>
                </a:lnTo>
                <a:lnTo>
                  <a:pt x="0" y="39713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61" id="61"/>
          <p:cNvSpPr/>
          <p:nvPr/>
        </p:nvSpPr>
        <p:spPr>
          <a:xfrm flipH="false" flipV="false" rot="2557139">
            <a:off x="5296406" y="3222130"/>
            <a:ext cx="1128870" cy="341483"/>
          </a:xfrm>
          <a:custGeom>
            <a:avLst/>
            <a:gdLst/>
            <a:ahLst/>
            <a:cxnLst/>
            <a:rect r="r" b="b" t="t" l="l"/>
            <a:pathLst>
              <a:path h="341483" w="1128870">
                <a:moveTo>
                  <a:pt x="0" y="0"/>
                </a:moveTo>
                <a:lnTo>
                  <a:pt x="1128870" y="0"/>
                </a:lnTo>
                <a:lnTo>
                  <a:pt x="1128870" y="341483"/>
                </a:lnTo>
                <a:lnTo>
                  <a:pt x="0" y="341483"/>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62" id="62"/>
          <p:cNvSpPr/>
          <p:nvPr/>
        </p:nvSpPr>
        <p:spPr>
          <a:xfrm flipH="false" flipV="false" rot="5400000">
            <a:off x="2326589" y="4226392"/>
            <a:ext cx="835867" cy="252850"/>
          </a:xfrm>
          <a:custGeom>
            <a:avLst/>
            <a:gdLst/>
            <a:ahLst/>
            <a:cxnLst/>
            <a:rect r="r" b="b" t="t" l="l"/>
            <a:pathLst>
              <a:path h="252850" w="835867">
                <a:moveTo>
                  <a:pt x="0" y="0"/>
                </a:moveTo>
                <a:lnTo>
                  <a:pt x="835867" y="0"/>
                </a:lnTo>
                <a:lnTo>
                  <a:pt x="835867" y="252849"/>
                </a:lnTo>
                <a:lnTo>
                  <a:pt x="0" y="25284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63" id="63"/>
          <p:cNvSpPr/>
          <p:nvPr/>
        </p:nvSpPr>
        <p:spPr>
          <a:xfrm flipH="false" flipV="false" rot="5400000">
            <a:off x="2326589" y="7252372"/>
            <a:ext cx="835867" cy="252850"/>
          </a:xfrm>
          <a:custGeom>
            <a:avLst/>
            <a:gdLst/>
            <a:ahLst/>
            <a:cxnLst/>
            <a:rect r="r" b="b" t="t" l="l"/>
            <a:pathLst>
              <a:path h="252850" w="835867">
                <a:moveTo>
                  <a:pt x="0" y="0"/>
                </a:moveTo>
                <a:lnTo>
                  <a:pt x="835867" y="0"/>
                </a:lnTo>
                <a:lnTo>
                  <a:pt x="835867" y="252850"/>
                </a:lnTo>
                <a:lnTo>
                  <a:pt x="0" y="25285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64" id="64"/>
          <p:cNvSpPr/>
          <p:nvPr/>
        </p:nvSpPr>
        <p:spPr>
          <a:xfrm flipH="false" flipV="false" rot="0">
            <a:off x="12585531" y="8872740"/>
            <a:ext cx="1137687" cy="344150"/>
          </a:xfrm>
          <a:custGeom>
            <a:avLst/>
            <a:gdLst/>
            <a:ahLst/>
            <a:cxnLst/>
            <a:rect r="r" b="b" t="t" l="l"/>
            <a:pathLst>
              <a:path h="344150" w="1137687">
                <a:moveTo>
                  <a:pt x="0" y="0"/>
                </a:moveTo>
                <a:lnTo>
                  <a:pt x="1137687" y="0"/>
                </a:lnTo>
                <a:lnTo>
                  <a:pt x="1137687" y="344150"/>
                </a:lnTo>
                <a:lnTo>
                  <a:pt x="0" y="34415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65" id="65"/>
          <p:cNvSpPr/>
          <p:nvPr/>
        </p:nvSpPr>
        <p:spPr>
          <a:xfrm flipH="false" flipV="false" rot="5400000">
            <a:off x="10772531" y="7375323"/>
            <a:ext cx="748301" cy="226361"/>
          </a:xfrm>
          <a:custGeom>
            <a:avLst/>
            <a:gdLst/>
            <a:ahLst/>
            <a:cxnLst/>
            <a:rect r="r" b="b" t="t" l="l"/>
            <a:pathLst>
              <a:path h="226361" w="748301">
                <a:moveTo>
                  <a:pt x="0" y="0"/>
                </a:moveTo>
                <a:lnTo>
                  <a:pt x="748302" y="0"/>
                </a:lnTo>
                <a:lnTo>
                  <a:pt x="748302" y="226361"/>
                </a:lnTo>
                <a:lnTo>
                  <a:pt x="0" y="226361"/>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66" id="66"/>
          <p:cNvSpPr/>
          <p:nvPr/>
        </p:nvSpPr>
        <p:spPr>
          <a:xfrm flipH="false" flipV="false" rot="5400000">
            <a:off x="10754018" y="4256199"/>
            <a:ext cx="688778" cy="208355"/>
          </a:xfrm>
          <a:custGeom>
            <a:avLst/>
            <a:gdLst/>
            <a:ahLst/>
            <a:cxnLst/>
            <a:rect r="r" b="b" t="t" l="l"/>
            <a:pathLst>
              <a:path h="208355" w="688778">
                <a:moveTo>
                  <a:pt x="0" y="0"/>
                </a:moveTo>
                <a:lnTo>
                  <a:pt x="688779" y="0"/>
                </a:lnTo>
                <a:lnTo>
                  <a:pt x="688779" y="208355"/>
                </a:lnTo>
                <a:lnTo>
                  <a:pt x="0" y="20835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67" id="67"/>
          <p:cNvSpPr/>
          <p:nvPr/>
        </p:nvSpPr>
        <p:spPr>
          <a:xfrm flipH="false" flipV="false" rot="5400000">
            <a:off x="10763021" y="2136256"/>
            <a:ext cx="688778" cy="208355"/>
          </a:xfrm>
          <a:custGeom>
            <a:avLst/>
            <a:gdLst/>
            <a:ahLst/>
            <a:cxnLst/>
            <a:rect r="r" b="b" t="t" l="l"/>
            <a:pathLst>
              <a:path h="208355" w="688778">
                <a:moveTo>
                  <a:pt x="0" y="0"/>
                </a:moveTo>
                <a:lnTo>
                  <a:pt x="688779" y="0"/>
                </a:lnTo>
                <a:lnTo>
                  <a:pt x="688779" y="208356"/>
                </a:lnTo>
                <a:lnTo>
                  <a:pt x="0" y="208356"/>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68" id="68"/>
          <p:cNvSpPr/>
          <p:nvPr/>
        </p:nvSpPr>
        <p:spPr>
          <a:xfrm flipH="false" flipV="false" rot="0">
            <a:off x="4466691" y="8942174"/>
            <a:ext cx="1225045" cy="370576"/>
          </a:xfrm>
          <a:custGeom>
            <a:avLst/>
            <a:gdLst/>
            <a:ahLst/>
            <a:cxnLst/>
            <a:rect r="r" b="b" t="t" l="l"/>
            <a:pathLst>
              <a:path h="370576" w="1225045">
                <a:moveTo>
                  <a:pt x="0" y="0"/>
                </a:moveTo>
                <a:lnTo>
                  <a:pt x="1225045" y="0"/>
                </a:lnTo>
                <a:lnTo>
                  <a:pt x="1225045" y="370576"/>
                </a:lnTo>
                <a:lnTo>
                  <a:pt x="0" y="370576"/>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4762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72157"/>
              </a:srgbClr>
            </a:solidFill>
          </p:spPr>
        </p:sp>
      </p:grpSp>
      <p:grpSp>
        <p:nvGrpSpPr>
          <p:cNvPr name="Group 6" id="6"/>
          <p:cNvGrpSpPr/>
          <p:nvPr/>
        </p:nvGrpSpPr>
        <p:grpSpPr>
          <a:xfrm rot="0">
            <a:off x="9310976" y="2722403"/>
            <a:ext cx="87576" cy="7342645"/>
            <a:chOff x="0" y="0"/>
            <a:chExt cx="22630" cy="1897332"/>
          </a:xfrm>
        </p:grpSpPr>
        <p:sp>
          <p:nvSpPr>
            <p:cNvPr name="Freeform 7" id="7"/>
            <p:cNvSpPr/>
            <p:nvPr/>
          </p:nvSpPr>
          <p:spPr>
            <a:xfrm flipH="false" flipV="false" rot="0">
              <a:off x="0" y="0"/>
              <a:ext cx="22630" cy="1897297"/>
            </a:xfrm>
            <a:custGeom>
              <a:avLst/>
              <a:gdLst/>
              <a:ahLst/>
              <a:cxnLst/>
              <a:rect r="r" b="b" t="t" l="l"/>
              <a:pathLst>
                <a:path h="1897297" w="22630">
                  <a:moveTo>
                    <a:pt x="0" y="48446"/>
                  </a:moveTo>
                  <a:cubicBezTo>
                    <a:pt x="0" y="21720"/>
                    <a:pt x="5073" y="0"/>
                    <a:pt x="11315" y="0"/>
                  </a:cubicBezTo>
                  <a:cubicBezTo>
                    <a:pt x="17557" y="0"/>
                    <a:pt x="22630" y="21720"/>
                    <a:pt x="22630" y="48446"/>
                  </a:cubicBezTo>
                  <a:lnTo>
                    <a:pt x="22630" y="1848851"/>
                  </a:lnTo>
                  <a:cubicBezTo>
                    <a:pt x="22630" y="1875577"/>
                    <a:pt x="17557" y="1897297"/>
                    <a:pt x="11315" y="1897297"/>
                  </a:cubicBezTo>
                  <a:cubicBezTo>
                    <a:pt x="5073" y="1897297"/>
                    <a:pt x="0" y="1875577"/>
                    <a:pt x="0" y="1848851"/>
                  </a:cubicBezTo>
                  <a:close/>
                </a:path>
              </a:pathLst>
            </a:custGeom>
            <a:solidFill>
              <a:srgbClr val="0000FF"/>
            </a:solidFill>
          </p:spPr>
        </p:sp>
      </p:grpSp>
      <p:sp>
        <p:nvSpPr>
          <p:cNvPr name="Freeform 8" id="8"/>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4"/>
            <a:stretch>
              <a:fillRect l="0" t="0" r="0" b="0"/>
            </a:stretch>
          </a:blipFill>
        </p:spPr>
      </p:sp>
      <p:sp>
        <p:nvSpPr>
          <p:cNvPr name="Freeform 9" id="9"/>
          <p:cNvSpPr/>
          <p:nvPr/>
        </p:nvSpPr>
        <p:spPr>
          <a:xfrm flipH="false" flipV="false" rot="0">
            <a:off x="6110996" y="-1333527"/>
            <a:ext cx="6487537" cy="4092517"/>
          </a:xfrm>
          <a:custGeom>
            <a:avLst/>
            <a:gdLst/>
            <a:ahLst/>
            <a:cxnLst/>
            <a:rect r="r" b="b" t="t" l="l"/>
            <a:pathLst>
              <a:path h="4092517" w="6487537">
                <a:moveTo>
                  <a:pt x="0" y="0"/>
                </a:moveTo>
                <a:lnTo>
                  <a:pt x="6487536" y="0"/>
                </a:lnTo>
                <a:lnTo>
                  <a:pt x="6487536" y="4092517"/>
                </a:lnTo>
                <a:lnTo>
                  <a:pt x="0" y="4092517"/>
                </a:lnTo>
                <a:lnTo>
                  <a:pt x="0" y="0"/>
                </a:lnTo>
                <a:close/>
              </a:path>
            </a:pathLst>
          </a:custGeom>
          <a:blipFill>
            <a:blip r:embed="rId5"/>
            <a:stretch>
              <a:fillRect l="-392" t="-1201" r="0" b="-57943"/>
            </a:stretch>
          </a:blipFill>
        </p:spPr>
      </p:sp>
      <p:sp>
        <p:nvSpPr>
          <p:cNvPr name="Freeform 10" id="10"/>
          <p:cNvSpPr/>
          <p:nvPr/>
        </p:nvSpPr>
        <p:spPr>
          <a:xfrm flipH="false" flipV="false" rot="5400000">
            <a:off x="759623" y="4450467"/>
            <a:ext cx="7655001" cy="3574159"/>
          </a:xfrm>
          <a:custGeom>
            <a:avLst/>
            <a:gdLst/>
            <a:ahLst/>
            <a:cxnLst/>
            <a:rect r="r" b="b" t="t" l="l"/>
            <a:pathLst>
              <a:path h="3574159" w="7655001">
                <a:moveTo>
                  <a:pt x="0" y="0"/>
                </a:moveTo>
                <a:lnTo>
                  <a:pt x="7655001" y="0"/>
                </a:lnTo>
                <a:lnTo>
                  <a:pt x="7655001" y="3574159"/>
                </a:lnTo>
                <a:lnTo>
                  <a:pt x="0" y="3574159"/>
                </a:lnTo>
                <a:lnTo>
                  <a:pt x="0" y="0"/>
                </a:lnTo>
                <a:close/>
              </a:path>
            </a:pathLst>
          </a:custGeom>
          <a:blipFill>
            <a:blip r:embed="rId6"/>
            <a:stretch>
              <a:fillRect l="-4459" t="-44119" r="-5517" b="-32539"/>
            </a:stretch>
          </a:blipFill>
        </p:spPr>
      </p:sp>
      <p:sp>
        <p:nvSpPr>
          <p:cNvPr name="Freeform 11" id="11"/>
          <p:cNvSpPr/>
          <p:nvPr/>
        </p:nvSpPr>
        <p:spPr>
          <a:xfrm flipH="false" flipV="false" rot="5334000">
            <a:off x="9962664" y="4335646"/>
            <a:ext cx="7723805" cy="3803802"/>
          </a:xfrm>
          <a:custGeom>
            <a:avLst/>
            <a:gdLst/>
            <a:ahLst/>
            <a:cxnLst/>
            <a:rect r="r" b="b" t="t" l="l"/>
            <a:pathLst>
              <a:path h="3803802" w="7723805">
                <a:moveTo>
                  <a:pt x="70215" y="0"/>
                </a:moveTo>
                <a:lnTo>
                  <a:pt x="7723805" y="146956"/>
                </a:lnTo>
                <a:lnTo>
                  <a:pt x="7653590" y="3803802"/>
                </a:lnTo>
                <a:lnTo>
                  <a:pt x="0" y="3656845"/>
                </a:lnTo>
                <a:lnTo>
                  <a:pt x="70215" y="0"/>
                </a:lnTo>
                <a:close/>
              </a:path>
            </a:pathLst>
          </a:custGeom>
          <a:blipFill>
            <a:blip r:embed="rId7"/>
            <a:stretch>
              <a:fillRect l="-4609" t="-37909" r="-5005" b="-28991"/>
            </a:stretch>
          </a:blipFill>
        </p:spPr>
      </p:sp>
      <p:sp>
        <p:nvSpPr>
          <p:cNvPr name="Freeform 12" id="12"/>
          <p:cNvSpPr/>
          <p:nvPr/>
        </p:nvSpPr>
        <p:spPr>
          <a:xfrm flipH="false" flipV="false" rot="0">
            <a:off x="12073643" y="2892090"/>
            <a:ext cx="524889" cy="524889"/>
          </a:xfrm>
          <a:custGeom>
            <a:avLst/>
            <a:gdLst/>
            <a:ahLst/>
            <a:cxnLst/>
            <a:rect r="r" b="b" t="t" l="l"/>
            <a:pathLst>
              <a:path h="524889" w="524889">
                <a:moveTo>
                  <a:pt x="0" y="0"/>
                </a:moveTo>
                <a:lnTo>
                  <a:pt x="524889" y="0"/>
                </a:lnTo>
                <a:lnTo>
                  <a:pt x="524889" y="524889"/>
                </a:lnTo>
                <a:lnTo>
                  <a:pt x="0" y="52488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2800044" y="769405"/>
            <a:ext cx="3386757" cy="509065"/>
          </a:xfrm>
          <a:prstGeom prst="rect">
            <a:avLst/>
          </a:prstGeom>
        </p:spPr>
        <p:txBody>
          <a:bodyPr anchor="t" rtlCol="false" tIns="0" lIns="0" bIns="0" rIns="0">
            <a:spAutoFit/>
          </a:bodyPr>
          <a:lstStyle/>
          <a:p>
            <a:pPr algn="l">
              <a:lnSpc>
                <a:spcPts val="4151"/>
              </a:lnSpc>
            </a:pPr>
            <a:r>
              <a:rPr lang="en-US" sz="3299" u="sng">
                <a:solidFill>
                  <a:srgbClr val="DAECFF"/>
                </a:solidFill>
                <a:latin typeface="Merriweather"/>
                <a:ea typeface="Merriweather"/>
                <a:cs typeface="Merriweather"/>
                <a:sym typeface="Merriweather"/>
              </a:rPr>
              <a:t> ICICI Bank App</a:t>
            </a:r>
          </a:p>
        </p:txBody>
      </p:sp>
      <p:sp>
        <p:nvSpPr>
          <p:cNvPr name="TextBox 14" id="14"/>
          <p:cNvSpPr txBox="true"/>
          <p:nvPr/>
        </p:nvSpPr>
        <p:spPr>
          <a:xfrm rot="0">
            <a:off x="12598532" y="769405"/>
            <a:ext cx="2283855" cy="509065"/>
          </a:xfrm>
          <a:prstGeom prst="rect">
            <a:avLst/>
          </a:prstGeom>
        </p:spPr>
        <p:txBody>
          <a:bodyPr anchor="t" rtlCol="false" tIns="0" lIns="0" bIns="0" rIns="0">
            <a:spAutoFit/>
          </a:bodyPr>
          <a:lstStyle/>
          <a:p>
            <a:pPr algn="r">
              <a:lnSpc>
                <a:spcPts val="4151"/>
              </a:lnSpc>
            </a:pPr>
            <a:r>
              <a:rPr lang="en-US" sz="3299" u="sng">
                <a:solidFill>
                  <a:srgbClr val="DAECFF"/>
                </a:solidFill>
                <a:latin typeface="Merriweather"/>
                <a:ea typeface="Merriweather"/>
                <a:cs typeface="Merriweather"/>
                <a:sym typeface="Merriweather"/>
              </a:rPr>
              <a:t>Fi-Money</a:t>
            </a:r>
          </a:p>
        </p:txBody>
      </p:sp>
      <p:sp>
        <p:nvSpPr>
          <p:cNvPr name="Freeform 15" id="15"/>
          <p:cNvSpPr/>
          <p:nvPr/>
        </p:nvSpPr>
        <p:spPr>
          <a:xfrm flipH="false" flipV="false" rot="-5400000">
            <a:off x="-1419507" y="8082579"/>
            <a:ext cx="3216981" cy="3641866"/>
          </a:xfrm>
          <a:custGeom>
            <a:avLst/>
            <a:gdLst/>
            <a:ahLst/>
            <a:cxnLst/>
            <a:rect r="r" b="b" t="t" l="l"/>
            <a:pathLst>
              <a:path h="3641866" w="3216981">
                <a:moveTo>
                  <a:pt x="0" y="0"/>
                </a:moveTo>
                <a:lnTo>
                  <a:pt x="3216982" y="0"/>
                </a:lnTo>
                <a:lnTo>
                  <a:pt x="3216982" y="3641866"/>
                </a:lnTo>
                <a:lnTo>
                  <a:pt x="0" y="3641866"/>
                </a:lnTo>
                <a:lnTo>
                  <a:pt x="0" y="0"/>
                </a:lnTo>
                <a:close/>
              </a:path>
            </a:pathLst>
          </a:custGeom>
          <a:blipFill>
            <a:blip r:embed="rId10"/>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11071"/>
            <a:ext cx="18288000" cy="10500682"/>
            <a:chOff x="0" y="0"/>
            <a:chExt cx="24384000" cy="14000910"/>
          </a:xfrm>
        </p:grpSpPr>
        <p:sp>
          <p:nvSpPr>
            <p:cNvPr name="Freeform 5" id="5"/>
            <p:cNvSpPr/>
            <p:nvPr/>
          </p:nvSpPr>
          <p:spPr>
            <a:xfrm flipH="false" flipV="false" rot="0">
              <a:off x="0" y="0"/>
              <a:ext cx="24384000" cy="14000910"/>
            </a:xfrm>
            <a:custGeom>
              <a:avLst/>
              <a:gdLst/>
              <a:ahLst/>
              <a:cxnLst/>
              <a:rect r="r" b="b" t="t" l="l"/>
              <a:pathLst>
                <a:path h="14000910" w="24384000">
                  <a:moveTo>
                    <a:pt x="0" y="0"/>
                  </a:moveTo>
                  <a:lnTo>
                    <a:pt x="24384000" y="0"/>
                  </a:lnTo>
                  <a:lnTo>
                    <a:pt x="24384000" y="14000910"/>
                  </a:lnTo>
                  <a:lnTo>
                    <a:pt x="0" y="14000910"/>
                  </a:lnTo>
                  <a:close/>
                </a:path>
              </a:pathLst>
            </a:custGeom>
            <a:solidFill>
              <a:srgbClr val="09151A">
                <a:alpha val="83922"/>
              </a:srgbClr>
            </a:solidFill>
          </p:spPr>
        </p:sp>
      </p:grpSp>
      <p:sp>
        <p:nvSpPr>
          <p:cNvPr name="Freeform 6" id="6"/>
          <p:cNvSpPr/>
          <p:nvPr/>
        </p:nvSpPr>
        <p:spPr>
          <a:xfrm flipH="false" flipV="false" rot="0">
            <a:off x="13063361" y="-315536"/>
            <a:ext cx="8517272" cy="11424023"/>
          </a:xfrm>
          <a:custGeom>
            <a:avLst/>
            <a:gdLst/>
            <a:ahLst/>
            <a:cxnLst/>
            <a:rect r="r" b="b" t="t" l="l"/>
            <a:pathLst>
              <a:path h="11424023" w="8517272">
                <a:moveTo>
                  <a:pt x="0" y="0"/>
                </a:moveTo>
                <a:lnTo>
                  <a:pt x="8517272" y="0"/>
                </a:lnTo>
                <a:lnTo>
                  <a:pt x="8517272" y="11424023"/>
                </a:lnTo>
                <a:lnTo>
                  <a:pt x="0" y="11424023"/>
                </a:lnTo>
                <a:lnTo>
                  <a:pt x="0" y="0"/>
                </a:lnTo>
                <a:close/>
              </a:path>
            </a:pathLst>
          </a:custGeom>
          <a:blipFill>
            <a:blip r:embed="rId4"/>
            <a:stretch>
              <a:fillRect l="-34127" t="0" r="0" b="0"/>
            </a:stretch>
          </a:blipFill>
        </p:spPr>
      </p:sp>
      <p:grpSp>
        <p:nvGrpSpPr>
          <p:cNvPr name="Group 7" id="7"/>
          <p:cNvGrpSpPr/>
          <p:nvPr/>
        </p:nvGrpSpPr>
        <p:grpSpPr>
          <a:xfrm rot="0">
            <a:off x="6521408" y="2374917"/>
            <a:ext cx="1024982" cy="7034216"/>
            <a:chOff x="0" y="0"/>
            <a:chExt cx="347649" cy="2385834"/>
          </a:xfrm>
        </p:grpSpPr>
        <p:sp>
          <p:nvSpPr>
            <p:cNvPr name="Freeform 8" id="8"/>
            <p:cNvSpPr/>
            <p:nvPr/>
          </p:nvSpPr>
          <p:spPr>
            <a:xfrm flipH="false" flipV="false" rot="0">
              <a:off x="0" y="0"/>
              <a:ext cx="347649" cy="2385789"/>
            </a:xfrm>
            <a:custGeom>
              <a:avLst/>
              <a:gdLst/>
              <a:ahLst/>
              <a:cxnLst/>
              <a:rect r="r" b="b" t="t" l="l"/>
              <a:pathLst>
                <a:path h="2385789" w="347649">
                  <a:moveTo>
                    <a:pt x="0" y="60919"/>
                  </a:moveTo>
                  <a:cubicBezTo>
                    <a:pt x="0" y="27312"/>
                    <a:pt x="77931" y="0"/>
                    <a:pt x="173824" y="0"/>
                  </a:cubicBezTo>
                  <a:cubicBezTo>
                    <a:pt x="269717" y="0"/>
                    <a:pt x="347649" y="27312"/>
                    <a:pt x="347649" y="60919"/>
                  </a:cubicBezTo>
                  <a:lnTo>
                    <a:pt x="347649" y="2324870"/>
                  </a:lnTo>
                  <a:cubicBezTo>
                    <a:pt x="347649" y="2358478"/>
                    <a:pt x="269717" y="2385789"/>
                    <a:pt x="173824" y="2385789"/>
                  </a:cubicBezTo>
                  <a:cubicBezTo>
                    <a:pt x="77931" y="2385789"/>
                    <a:pt x="0" y="2358478"/>
                    <a:pt x="0" y="2324870"/>
                  </a:cubicBezTo>
                  <a:close/>
                </a:path>
              </a:pathLst>
            </a:custGeom>
            <a:solidFill>
              <a:srgbClr val="0000FF"/>
            </a:solidFill>
          </p:spPr>
        </p:sp>
      </p:grpSp>
      <p:sp>
        <p:nvSpPr>
          <p:cNvPr name="Freeform 9" id="9"/>
          <p:cNvSpPr/>
          <p:nvPr/>
        </p:nvSpPr>
        <p:spPr>
          <a:xfrm flipH="false" flipV="false" rot="-5400000">
            <a:off x="-2085647" y="-2289620"/>
            <a:ext cx="3216981" cy="3641866"/>
          </a:xfrm>
          <a:custGeom>
            <a:avLst/>
            <a:gdLst/>
            <a:ahLst/>
            <a:cxnLst/>
            <a:rect r="r" b="b" t="t" l="l"/>
            <a:pathLst>
              <a:path h="3641866" w="3216981">
                <a:moveTo>
                  <a:pt x="0" y="0"/>
                </a:moveTo>
                <a:lnTo>
                  <a:pt x="3216981" y="0"/>
                </a:lnTo>
                <a:lnTo>
                  <a:pt x="3216981" y="3641866"/>
                </a:lnTo>
                <a:lnTo>
                  <a:pt x="0" y="3641866"/>
                </a:lnTo>
                <a:lnTo>
                  <a:pt x="0" y="0"/>
                </a:lnTo>
                <a:close/>
              </a:path>
            </a:pathLst>
          </a:custGeom>
          <a:blipFill>
            <a:blip r:embed="rId5"/>
            <a:stretch>
              <a:fillRect l="0" t="0" r="0" b="0"/>
            </a:stretch>
          </a:blipFill>
        </p:spPr>
      </p:sp>
      <p:sp>
        <p:nvSpPr>
          <p:cNvPr name="Freeform 10" id="10"/>
          <p:cNvSpPr/>
          <p:nvPr/>
        </p:nvSpPr>
        <p:spPr>
          <a:xfrm flipH="false" flipV="false" rot="-5400000">
            <a:off x="-2085647" y="9045858"/>
            <a:ext cx="3216981" cy="3641866"/>
          </a:xfrm>
          <a:custGeom>
            <a:avLst/>
            <a:gdLst/>
            <a:ahLst/>
            <a:cxnLst/>
            <a:rect r="r" b="b" t="t" l="l"/>
            <a:pathLst>
              <a:path h="3641866" w="3216981">
                <a:moveTo>
                  <a:pt x="0" y="0"/>
                </a:moveTo>
                <a:lnTo>
                  <a:pt x="3216981" y="0"/>
                </a:lnTo>
                <a:lnTo>
                  <a:pt x="3216981" y="3641866"/>
                </a:lnTo>
                <a:lnTo>
                  <a:pt x="0" y="3641866"/>
                </a:lnTo>
                <a:lnTo>
                  <a:pt x="0" y="0"/>
                </a:lnTo>
                <a:close/>
              </a:path>
            </a:pathLst>
          </a:custGeom>
          <a:blipFill>
            <a:blip r:embed="rId5"/>
            <a:stretch>
              <a:fillRect l="0" t="0" r="0" b="0"/>
            </a:stretch>
          </a:blipFill>
        </p:spPr>
      </p:sp>
      <p:sp>
        <p:nvSpPr>
          <p:cNvPr name="Freeform 11" id="11"/>
          <p:cNvSpPr/>
          <p:nvPr/>
        </p:nvSpPr>
        <p:spPr>
          <a:xfrm flipH="false" flipV="false" rot="0">
            <a:off x="1676226" y="2313388"/>
            <a:ext cx="1050834" cy="991725"/>
          </a:xfrm>
          <a:custGeom>
            <a:avLst/>
            <a:gdLst/>
            <a:ahLst/>
            <a:cxnLst/>
            <a:rect r="r" b="b" t="t" l="l"/>
            <a:pathLst>
              <a:path h="991725" w="1050834">
                <a:moveTo>
                  <a:pt x="0" y="0"/>
                </a:moveTo>
                <a:lnTo>
                  <a:pt x="1050834" y="0"/>
                </a:lnTo>
                <a:lnTo>
                  <a:pt x="1050834" y="991725"/>
                </a:lnTo>
                <a:lnTo>
                  <a:pt x="0" y="991725"/>
                </a:lnTo>
                <a:lnTo>
                  <a:pt x="0" y="0"/>
                </a:lnTo>
                <a:close/>
              </a:path>
            </a:pathLst>
          </a:custGeom>
          <a:blipFill>
            <a:blip r:embed="rId6"/>
            <a:stretch>
              <a:fillRect l="0" t="0" r="0" b="0"/>
            </a:stretch>
          </a:blipFill>
        </p:spPr>
      </p:sp>
      <p:sp>
        <p:nvSpPr>
          <p:cNvPr name="Freeform 12" id="12"/>
          <p:cNvSpPr/>
          <p:nvPr/>
        </p:nvSpPr>
        <p:spPr>
          <a:xfrm flipH="false" flipV="false" rot="0">
            <a:off x="1752740" y="3904294"/>
            <a:ext cx="897805" cy="995550"/>
          </a:xfrm>
          <a:custGeom>
            <a:avLst/>
            <a:gdLst/>
            <a:ahLst/>
            <a:cxnLst/>
            <a:rect r="r" b="b" t="t" l="l"/>
            <a:pathLst>
              <a:path h="995550" w="897805">
                <a:moveTo>
                  <a:pt x="0" y="0"/>
                </a:moveTo>
                <a:lnTo>
                  <a:pt x="897806" y="0"/>
                </a:lnTo>
                <a:lnTo>
                  <a:pt x="897806" y="995550"/>
                </a:lnTo>
                <a:lnTo>
                  <a:pt x="0" y="9955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452586" y="5653334"/>
            <a:ext cx="1274474" cy="683582"/>
          </a:xfrm>
          <a:custGeom>
            <a:avLst/>
            <a:gdLst/>
            <a:ahLst/>
            <a:cxnLst/>
            <a:rect r="r" b="b" t="t" l="l"/>
            <a:pathLst>
              <a:path h="683582" w="1274474">
                <a:moveTo>
                  <a:pt x="0" y="0"/>
                </a:moveTo>
                <a:lnTo>
                  <a:pt x="1274474" y="0"/>
                </a:lnTo>
                <a:lnTo>
                  <a:pt x="1274474" y="683581"/>
                </a:lnTo>
                <a:lnTo>
                  <a:pt x="0" y="683581"/>
                </a:lnTo>
                <a:lnTo>
                  <a:pt x="0" y="0"/>
                </a:lnTo>
                <a:close/>
              </a:path>
            </a:pathLst>
          </a:custGeom>
          <a:blipFill>
            <a:blip r:embed="rId9"/>
            <a:stretch>
              <a:fillRect l="0" t="0" r="0" b="0"/>
            </a:stretch>
          </a:blipFill>
        </p:spPr>
      </p:sp>
      <p:sp>
        <p:nvSpPr>
          <p:cNvPr name="Freeform 14" id="14"/>
          <p:cNvSpPr/>
          <p:nvPr/>
        </p:nvSpPr>
        <p:spPr>
          <a:xfrm flipH="false" flipV="false" rot="0">
            <a:off x="1676226" y="8740956"/>
            <a:ext cx="980192" cy="1002241"/>
          </a:xfrm>
          <a:custGeom>
            <a:avLst/>
            <a:gdLst/>
            <a:ahLst/>
            <a:cxnLst/>
            <a:rect r="r" b="b" t="t" l="l"/>
            <a:pathLst>
              <a:path h="1002241" w="980192">
                <a:moveTo>
                  <a:pt x="0" y="0"/>
                </a:moveTo>
                <a:lnTo>
                  <a:pt x="980192" y="0"/>
                </a:lnTo>
                <a:lnTo>
                  <a:pt x="980192" y="1002241"/>
                </a:lnTo>
                <a:lnTo>
                  <a:pt x="0" y="10022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596409" y="7378680"/>
            <a:ext cx="1130651" cy="620830"/>
          </a:xfrm>
          <a:custGeom>
            <a:avLst/>
            <a:gdLst/>
            <a:ahLst/>
            <a:cxnLst/>
            <a:rect r="r" b="b" t="t" l="l"/>
            <a:pathLst>
              <a:path h="620830" w="1130651">
                <a:moveTo>
                  <a:pt x="0" y="0"/>
                </a:moveTo>
                <a:lnTo>
                  <a:pt x="1130651" y="0"/>
                </a:lnTo>
                <a:lnTo>
                  <a:pt x="1130651" y="620831"/>
                </a:lnTo>
                <a:lnTo>
                  <a:pt x="0" y="62083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2185494" y="9409133"/>
            <a:ext cx="877867" cy="877867"/>
          </a:xfrm>
          <a:custGeom>
            <a:avLst/>
            <a:gdLst/>
            <a:ahLst/>
            <a:cxnLst/>
            <a:rect r="r" b="b" t="t" l="l"/>
            <a:pathLst>
              <a:path h="877867" w="877867">
                <a:moveTo>
                  <a:pt x="0" y="0"/>
                </a:moveTo>
                <a:lnTo>
                  <a:pt x="877867" y="0"/>
                </a:lnTo>
                <a:lnTo>
                  <a:pt x="877867" y="877867"/>
                </a:lnTo>
                <a:lnTo>
                  <a:pt x="0" y="877867"/>
                </a:lnTo>
                <a:lnTo>
                  <a:pt x="0" y="0"/>
                </a:lnTo>
                <a:close/>
              </a:path>
            </a:pathLst>
          </a:custGeom>
          <a:blipFill>
            <a:blip r:embed="rId14"/>
            <a:stretch>
              <a:fillRect l="0" t="0" r="0" b="0"/>
            </a:stretch>
          </a:blipFill>
        </p:spPr>
      </p:sp>
      <p:sp>
        <p:nvSpPr>
          <p:cNvPr name="Freeform 17" id="17"/>
          <p:cNvSpPr/>
          <p:nvPr/>
        </p:nvSpPr>
        <p:spPr>
          <a:xfrm flipH="false" flipV="false" rot="5400000">
            <a:off x="4094885" y="1271713"/>
            <a:ext cx="1593056" cy="3259989"/>
          </a:xfrm>
          <a:custGeom>
            <a:avLst/>
            <a:gdLst/>
            <a:ahLst/>
            <a:cxnLst/>
            <a:rect r="r" b="b" t="t" l="l"/>
            <a:pathLst>
              <a:path h="3259989" w="1593056">
                <a:moveTo>
                  <a:pt x="0" y="0"/>
                </a:moveTo>
                <a:lnTo>
                  <a:pt x="1593056" y="0"/>
                </a:lnTo>
                <a:lnTo>
                  <a:pt x="1593056" y="3259989"/>
                </a:lnTo>
                <a:lnTo>
                  <a:pt x="0" y="325998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8" id="18"/>
          <p:cNvSpPr txBox="true"/>
          <p:nvPr/>
        </p:nvSpPr>
        <p:spPr>
          <a:xfrm rot="0">
            <a:off x="3466126" y="2494991"/>
            <a:ext cx="2850574" cy="706133"/>
          </a:xfrm>
          <a:prstGeom prst="rect">
            <a:avLst/>
          </a:prstGeom>
        </p:spPr>
        <p:txBody>
          <a:bodyPr anchor="t" rtlCol="false" tIns="0" lIns="0" bIns="0" rIns="0">
            <a:spAutoFit/>
          </a:bodyPr>
          <a:lstStyle/>
          <a:p>
            <a:pPr algn="ctr">
              <a:lnSpc>
                <a:spcPts val="2899"/>
              </a:lnSpc>
            </a:pPr>
            <a:r>
              <a:rPr lang="en-US" sz="1800">
                <a:solidFill>
                  <a:srgbClr val="000001"/>
                </a:solidFill>
                <a:latin typeface="Merriweather"/>
                <a:ea typeface="Merriweather"/>
                <a:cs typeface="Merriweather"/>
                <a:sym typeface="Merriweather"/>
              </a:rPr>
              <a:t>Physical Branch </a:t>
            </a:r>
          </a:p>
          <a:p>
            <a:pPr algn="ctr">
              <a:lnSpc>
                <a:spcPts val="2900"/>
              </a:lnSpc>
            </a:pPr>
            <a:r>
              <a:rPr lang="en-US" sz="1800">
                <a:solidFill>
                  <a:srgbClr val="000001"/>
                </a:solidFill>
                <a:latin typeface="Merriweather"/>
                <a:ea typeface="Merriweather"/>
                <a:cs typeface="Merriweather"/>
                <a:sym typeface="Merriweather"/>
              </a:rPr>
              <a:t>required/Physical ATM</a:t>
            </a:r>
          </a:p>
        </p:txBody>
      </p:sp>
      <p:sp>
        <p:nvSpPr>
          <p:cNvPr name="TextBox 19" id="19"/>
          <p:cNvSpPr txBox="true"/>
          <p:nvPr/>
        </p:nvSpPr>
        <p:spPr>
          <a:xfrm rot="0">
            <a:off x="4117564" y="1125026"/>
            <a:ext cx="5772273" cy="637254"/>
          </a:xfrm>
          <a:prstGeom prst="rect">
            <a:avLst/>
          </a:prstGeom>
        </p:spPr>
        <p:txBody>
          <a:bodyPr anchor="t" rtlCol="false" tIns="0" lIns="0" bIns="0" rIns="0">
            <a:spAutoFit/>
          </a:bodyPr>
          <a:lstStyle/>
          <a:p>
            <a:pPr algn="l">
              <a:lnSpc>
                <a:spcPts val="5032"/>
              </a:lnSpc>
            </a:pPr>
            <a:r>
              <a:rPr lang="en-US" sz="3999" i="true" u="sng">
                <a:solidFill>
                  <a:srgbClr val="DAECFF"/>
                </a:solidFill>
                <a:latin typeface="Merriweather Italics"/>
                <a:ea typeface="Merriweather Italics"/>
                <a:cs typeface="Merriweather Italics"/>
                <a:sym typeface="Merriweather Italics"/>
              </a:rPr>
              <a:t>ICICI Bank</a:t>
            </a:r>
            <a:r>
              <a:rPr lang="en-US" sz="3999" i="true">
                <a:solidFill>
                  <a:srgbClr val="DAECFF"/>
                </a:solidFill>
                <a:latin typeface="Merriweather Italics"/>
                <a:ea typeface="Merriweather Italics"/>
                <a:cs typeface="Merriweather Italics"/>
                <a:sym typeface="Merriweather Italics"/>
              </a:rPr>
              <a:t>  </a:t>
            </a:r>
            <a:r>
              <a:rPr lang="en-US" sz="3999" i="true" u="sng">
                <a:solidFill>
                  <a:srgbClr val="DAECFF"/>
                </a:solidFill>
                <a:latin typeface="Merriweather Italics"/>
                <a:ea typeface="Merriweather Italics"/>
                <a:cs typeface="Merriweather Italics"/>
                <a:sym typeface="Merriweather Italics"/>
              </a:rPr>
              <a:t>vs</a:t>
            </a:r>
            <a:r>
              <a:rPr lang="en-US" sz="3999" i="true">
                <a:solidFill>
                  <a:srgbClr val="DAECFF"/>
                </a:solidFill>
                <a:latin typeface="Merriweather Italics"/>
                <a:ea typeface="Merriweather Italics"/>
                <a:cs typeface="Merriweather Italics"/>
                <a:sym typeface="Merriweather Italics"/>
              </a:rPr>
              <a:t>  </a:t>
            </a:r>
            <a:r>
              <a:rPr lang="en-US" sz="3999" i="true" u="sng">
                <a:solidFill>
                  <a:srgbClr val="DAECFF"/>
                </a:solidFill>
                <a:latin typeface="Merriweather Italics"/>
                <a:ea typeface="Merriweather Italics"/>
                <a:cs typeface="Merriweather Italics"/>
                <a:sym typeface="Merriweather Italics"/>
              </a:rPr>
              <a:t>FiMoney</a:t>
            </a:r>
          </a:p>
        </p:txBody>
      </p:sp>
      <p:sp>
        <p:nvSpPr>
          <p:cNvPr name="Freeform 20" id="20"/>
          <p:cNvSpPr/>
          <p:nvPr/>
        </p:nvSpPr>
        <p:spPr>
          <a:xfrm flipH="false" flipV="false" rot="5400000">
            <a:off x="4094885" y="2834890"/>
            <a:ext cx="1593056" cy="3259989"/>
          </a:xfrm>
          <a:custGeom>
            <a:avLst/>
            <a:gdLst/>
            <a:ahLst/>
            <a:cxnLst/>
            <a:rect r="r" b="b" t="t" l="l"/>
            <a:pathLst>
              <a:path h="3259989" w="1593056">
                <a:moveTo>
                  <a:pt x="0" y="0"/>
                </a:moveTo>
                <a:lnTo>
                  <a:pt x="1593056" y="0"/>
                </a:lnTo>
                <a:lnTo>
                  <a:pt x="1593056" y="3259988"/>
                </a:lnTo>
                <a:lnTo>
                  <a:pt x="0" y="325998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1" id="21"/>
          <p:cNvSpPr/>
          <p:nvPr/>
        </p:nvSpPr>
        <p:spPr>
          <a:xfrm flipH="false" flipV="false" rot="5400000">
            <a:off x="4094885" y="4446995"/>
            <a:ext cx="1593056" cy="3259989"/>
          </a:xfrm>
          <a:custGeom>
            <a:avLst/>
            <a:gdLst/>
            <a:ahLst/>
            <a:cxnLst/>
            <a:rect r="r" b="b" t="t" l="l"/>
            <a:pathLst>
              <a:path h="3259989" w="1593056">
                <a:moveTo>
                  <a:pt x="0" y="0"/>
                </a:moveTo>
                <a:lnTo>
                  <a:pt x="1593056" y="0"/>
                </a:lnTo>
                <a:lnTo>
                  <a:pt x="1593056" y="3259989"/>
                </a:lnTo>
                <a:lnTo>
                  <a:pt x="0" y="325998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2" id="22"/>
          <p:cNvSpPr/>
          <p:nvPr/>
        </p:nvSpPr>
        <p:spPr>
          <a:xfrm flipH="false" flipV="false" rot="5400000">
            <a:off x="4094885" y="6059101"/>
            <a:ext cx="1593056" cy="3259989"/>
          </a:xfrm>
          <a:custGeom>
            <a:avLst/>
            <a:gdLst/>
            <a:ahLst/>
            <a:cxnLst/>
            <a:rect r="r" b="b" t="t" l="l"/>
            <a:pathLst>
              <a:path h="3259989" w="1593056">
                <a:moveTo>
                  <a:pt x="0" y="0"/>
                </a:moveTo>
                <a:lnTo>
                  <a:pt x="1593056" y="0"/>
                </a:lnTo>
                <a:lnTo>
                  <a:pt x="1593056" y="3259989"/>
                </a:lnTo>
                <a:lnTo>
                  <a:pt x="0" y="325998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3" id="23"/>
          <p:cNvSpPr/>
          <p:nvPr/>
        </p:nvSpPr>
        <p:spPr>
          <a:xfrm flipH="false" flipV="true" rot="5400000">
            <a:off x="8347472" y="1313241"/>
            <a:ext cx="1593056" cy="3259989"/>
          </a:xfrm>
          <a:custGeom>
            <a:avLst/>
            <a:gdLst/>
            <a:ahLst/>
            <a:cxnLst/>
            <a:rect r="r" b="b" t="t" l="l"/>
            <a:pathLst>
              <a:path h="3259989" w="1593056">
                <a:moveTo>
                  <a:pt x="0" y="3259988"/>
                </a:moveTo>
                <a:lnTo>
                  <a:pt x="1593056" y="3259988"/>
                </a:lnTo>
                <a:lnTo>
                  <a:pt x="1593056" y="0"/>
                </a:lnTo>
                <a:lnTo>
                  <a:pt x="0" y="0"/>
                </a:lnTo>
                <a:lnTo>
                  <a:pt x="0" y="3259988"/>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true" rot="5400000">
            <a:off x="8347472" y="2906297"/>
            <a:ext cx="1593056" cy="3259989"/>
          </a:xfrm>
          <a:custGeom>
            <a:avLst/>
            <a:gdLst/>
            <a:ahLst/>
            <a:cxnLst/>
            <a:rect r="r" b="b" t="t" l="l"/>
            <a:pathLst>
              <a:path h="3259989" w="1593056">
                <a:moveTo>
                  <a:pt x="0" y="3259988"/>
                </a:moveTo>
                <a:lnTo>
                  <a:pt x="1593056" y="3259988"/>
                </a:lnTo>
                <a:lnTo>
                  <a:pt x="1593056" y="0"/>
                </a:lnTo>
                <a:lnTo>
                  <a:pt x="0" y="0"/>
                </a:lnTo>
                <a:lnTo>
                  <a:pt x="0" y="3259988"/>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5" id="25"/>
          <p:cNvSpPr/>
          <p:nvPr/>
        </p:nvSpPr>
        <p:spPr>
          <a:xfrm flipH="false" flipV="true" rot="5400000">
            <a:off x="8347472" y="4499352"/>
            <a:ext cx="1593056" cy="3259989"/>
          </a:xfrm>
          <a:custGeom>
            <a:avLst/>
            <a:gdLst/>
            <a:ahLst/>
            <a:cxnLst/>
            <a:rect r="r" b="b" t="t" l="l"/>
            <a:pathLst>
              <a:path h="3259989" w="1593056">
                <a:moveTo>
                  <a:pt x="0" y="3259989"/>
                </a:moveTo>
                <a:lnTo>
                  <a:pt x="1593056" y="3259989"/>
                </a:lnTo>
                <a:lnTo>
                  <a:pt x="1593056" y="0"/>
                </a:lnTo>
                <a:lnTo>
                  <a:pt x="0" y="0"/>
                </a:lnTo>
                <a:lnTo>
                  <a:pt x="0" y="3259989"/>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true" rot="5400000">
            <a:off x="8347472" y="6078151"/>
            <a:ext cx="1593056" cy="3259989"/>
          </a:xfrm>
          <a:custGeom>
            <a:avLst/>
            <a:gdLst/>
            <a:ahLst/>
            <a:cxnLst/>
            <a:rect r="r" b="b" t="t" l="l"/>
            <a:pathLst>
              <a:path h="3259989" w="1593056">
                <a:moveTo>
                  <a:pt x="0" y="3259989"/>
                </a:moveTo>
                <a:lnTo>
                  <a:pt x="1593056" y="3259989"/>
                </a:lnTo>
                <a:lnTo>
                  <a:pt x="1593056" y="0"/>
                </a:lnTo>
                <a:lnTo>
                  <a:pt x="0" y="0"/>
                </a:lnTo>
                <a:lnTo>
                  <a:pt x="0" y="3259989"/>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7" id="27"/>
          <p:cNvSpPr txBox="true"/>
          <p:nvPr/>
        </p:nvSpPr>
        <p:spPr>
          <a:xfrm rot="0">
            <a:off x="8398163" y="2723525"/>
            <a:ext cx="1491674" cy="353695"/>
          </a:xfrm>
          <a:prstGeom prst="rect">
            <a:avLst/>
          </a:prstGeom>
        </p:spPr>
        <p:txBody>
          <a:bodyPr anchor="t" rtlCol="false" tIns="0" lIns="0" bIns="0" rIns="0">
            <a:spAutoFit/>
          </a:bodyPr>
          <a:lstStyle/>
          <a:p>
            <a:pPr algn="l">
              <a:lnSpc>
                <a:spcPts val="2900"/>
              </a:lnSpc>
            </a:pPr>
            <a:r>
              <a:rPr lang="en-US" sz="1800">
                <a:solidFill>
                  <a:srgbClr val="000001"/>
                </a:solidFill>
                <a:latin typeface="Merriweather"/>
                <a:ea typeface="Merriweather"/>
                <a:cs typeface="Merriweather"/>
                <a:sym typeface="Merriweather"/>
              </a:rPr>
              <a:t>100% Digital</a:t>
            </a:r>
          </a:p>
        </p:txBody>
      </p:sp>
      <p:sp>
        <p:nvSpPr>
          <p:cNvPr name="TextBox 28" id="28"/>
          <p:cNvSpPr txBox="true"/>
          <p:nvPr/>
        </p:nvSpPr>
        <p:spPr>
          <a:xfrm rot="0">
            <a:off x="3466126" y="4001384"/>
            <a:ext cx="2850574" cy="715645"/>
          </a:xfrm>
          <a:prstGeom prst="rect">
            <a:avLst/>
          </a:prstGeom>
        </p:spPr>
        <p:txBody>
          <a:bodyPr anchor="t" rtlCol="false" tIns="0" lIns="0" bIns="0" rIns="0">
            <a:spAutoFit/>
          </a:bodyPr>
          <a:lstStyle/>
          <a:p>
            <a:pPr algn="ctr">
              <a:lnSpc>
                <a:spcPts val="2900"/>
              </a:lnSpc>
            </a:pPr>
            <a:r>
              <a:rPr lang="en-US" sz="1800">
                <a:solidFill>
                  <a:srgbClr val="000001"/>
                </a:solidFill>
                <a:latin typeface="Merriweather"/>
                <a:ea typeface="Merriweather"/>
                <a:cs typeface="Merriweather"/>
                <a:sym typeface="Merriweather"/>
              </a:rPr>
              <a:t>Account Opening Takes 1-3 days</a:t>
            </a:r>
          </a:p>
        </p:txBody>
      </p:sp>
      <p:sp>
        <p:nvSpPr>
          <p:cNvPr name="TextBox 29" id="29"/>
          <p:cNvSpPr txBox="true"/>
          <p:nvPr/>
        </p:nvSpPr>
        <p:spPr>
          <a:xfrm rot="0">
            <a:off x="7718713" y="4145125"/>
            <a:ext cx="2850574" cy="706133"/>
          </a:xfrm>
          <a:prstGeom prst="rect">
            <a:avLst/>
          </a:prstGeom>
        </p:spPr>
        <p:txBody>
          <a:bodyPr anchor="t" rtlCol="false" tIns="0" lIns="0" bIns="0" rIns="0">
            <a:spAutoFit/>
          </a:bodyPr>
          <a:lstStyle/>
          <a:p>
            <a:pPr algn="ctr">
              <a:lnSpc>
                <a:spcPts val="2899"/>
              </a:lnSpc>
            </a:pPr>
            <a:r>
              <a:rPr lang="en-US" sz="1800">
                <a:solidFill>
                  <a:srgbClr val="000001"/>
                </a:solidFill>
                <a:latin typeface="Merriweather"/>
                <a:ea typeface="Merriweather"/>
                <a:cs typeface="Merriweather"/>
                <a:sym typeface="Merriweather"/>
              </a:rPr>
              <a:t>Opening Account takes </a:t>
            </a:r>
          </a:p>
          <a:p>
            <a:pPr algn="ctr">
              <a:lnSpc>
                <a:spcPts val="2900"/>
              </a:lnSpc>
            </a:pPr>
            <a:r>
              <a:rPr lang="en-US" sz="1800">
                <a:solidFill>
                  <a:srgbClr val="000001"/>
                </a:solidFill>
                <a:latin typeface="Merriweather"/>
                <a:ea typeface="Merriweather"/>
                <a:cs typeface="Merriweather"/>
                <a:sym typeface="Merriweather"/>
              </a:rPr>
              <a:t>less than 10 min</a:t>
            </a:r>
          </a:p>
        </p:txBody>
      </p:sp>
      <p:sp>
        <p:nvSpPr>
          <p:cNvPr name="TextBox 30" id="30"/>
          <p:cNvSpPr txBox="true"/>
          <p:nvPr/>
        </p:nvSpPr>
        <p:spPr>
          <a:xfrm rot="0">
            <a:off x="3466126" y="5594440"/>
            <a:ext cx="2850574" cy="715645"/>
          </a:xfrm>
          <a:prstGeom prst="rect">
            <a:avLst/>
          </a:prstGeom>
        </p:spPr>
        <p:txBody>
          <a:bodyPr anchor="t" rtlCol="false" tIns="0" lIns="0" bIns="0" rIns="0">
            <a:spAutoFit/>
          </a:bodyPr>
          <a:lstStyle/>
          <a:p>
            <a:pPr algn="ctr">
              <a:lnSpc>
                <a:spcPts val="2900"/>
              </a:lnSpc>
            </a:pPr>
            <a:r>
              <a:rPr lang="en-US" sz="1800">
                <a:solidFill>
                  <a:srgbClr val="000001"/>
                </a:solidFill>
                <a:latin typeface="Merriweather"/>
                <a:ea typeface="Merriweather"/>
                <a:cs typeface="Merriweather"/>
                <a:sym typeface="Merriweather"/>
              </a:rPr>
              <a:t>Requires balance of ₹2,500 to ₹10,000</a:t>
            </a:r>
          </a:p>
        </p:txBody>
      </p:sp>
      <p:sp>
        <p:nvSpPr>
          <p:cNvPr name="TextBox 31" id="31"/>
          <p:cNvSpPr txBox="true"/>
          <p:nvPr/>
        </p:nvSpPr>
        <p:spPr>
          <a:xfrm rot="0">
            <a:off x="7746414" y="7253069"/>
            <a:ext cx="2850574" cy="706133"/>
          </a:xfrm>
          <a:prstGeom prst="rect">
            <a:avLst/>
          </a:prstGeom>
        </p:spPr>
        <p:txBody>
          <a:bodyPr anchor="t" rtlCol="false" tIns="0" lIns="0" bIns="0" rIns="0">
            <a:spAutoFit/>
          </a:bodyPr>
          <a:lstStyle/>
          <a:p>
            <a:pPr algn="ctr">
              <a:lnSpc>
                <a:spcPts val="2899"/>
              </a:lnSpc>
            </a:pPr>
            <a:r>
              <a:rPr lang="en-US" sz="1800">
                <a:solidFill>
                  <a:srgbClr val="000001"/>
                </a:solidFill>
                <a:latin typeface="Merriweather"/>
                <a:ea typeface="Merriweather"/>
                <a:cs typeface="Merriweather"/>
                <a:sym typeface="Merriweather"/>
              </a:rPr>
              <a:t>High interest rates</a:t>
            </a:r>
          </a:p>
          <a:p>
            <a:pPr algn="ctr">
              <a:lnSpc>
                <a:spcPts val="2900"/>
              </a:lnSpc>
            </a:pPr>
            <a:r>
              <a:rPr lang="en-US" sz="1800">
                <a:solidFill>
                  <a:srgbClr val="000001"/>
                </a:solidFill>
                <a:latin typeface="Merriweather"/>
                <a:ea typeface="Merriweather"/>
                <a:cs typeface="Merriweather"/>
                <a:sym typeface="Merriweather"/>
              </a:rPr>
              <a:t>upto 4-6%</a:t>
            </a:r>
          </a:p>
        </p:txBody>
      </p:sp>
      <p:sp>
        <p:nvSpPr>
          <p:cNvPr name="TextBox 32" id="32"/>
          <p:cNvSpPr txBox="true"/>
          <p:nvPr/>
        </p:nvSpPr>
        <p:spPr>
          <a:xfrm rot="0">
            <a:off x="7779847" y="5806300"/>
            <a:ext cx="2850574" cy="353695"/>
          </a:xfrm>
          <a:prstGeom prst="rect">
            <a:avLst/>
          </a:prstGeom>
        </p:spPr>
        <p:txBody>
          <a:bodyPr anchor="t" rtlCol="false" tIns="0" lIns="0" bIns="0" rIns="0">
            <a:spAutoFit/>
          </a:bodyPr>
          <a:lstStyle/>
          <a:p>
            <a:pPr algn="ctr">
              <a:lnSpc>
                <a:spcPts val="2900"/>
              </a:lnSpc>
            </a:pPr>
            <a:r>
              <a:rPr lang="en-US" sz="1800">
                <a:solidFill>
                  <a:srgbClr val="000001"/>
                </a:solidFill>
                <a:latin typeface="Merriweather"/>
                <a:ea typeface="Merriweather"/>
                <a:cs typeface="Merriweather"/>
                <a:sym typeface="Merriweather"/>
              </a:rPr>
              <a:t>Zero Balance Account</a:t>
            </a:r>
          </a:p>
        </p:txBody>
      </p:sp>
      <p:sp>
        <p:nvSpPr>
          <p:cNvPr name="TextBox 33" id="33"/>
          <p:cNvSpPr txBox="true"/>
          <p:nvPr/>
        </p:nvSpPr>
        <p:spPr>
          <a:xfrm rot="0">
            <a:off x="3466126" y="7253069"/>
            <a:ext cx="2850574" cy="706133"/>
          </a:xfrm>
          <a:prstGeom prst="rect">
            <a:avLst/>
          </a:prstGeom>
        </p:spPr>
        <p:txBody>
          <a:bodyPr anchor="t" rtlCol="false" tIns="0" lIns="0" bIns="0" rIns="0">
            <a:spAutoFit/>
          </a:bodyPr>
          <a:lstStyle/>
          <a:p>
            <a:pPr algn="ctr">
              <a:lnSpc>
                <a:spcPts val="2899"/>
              </a:lnSpc>
            </a:pPr>
            <a:r>
              <a:rPr lang="en-US" sz="1800">
                <a:solidFill>
                  <a:srgbClr val="000001"/>
                </a:solidFill>
                <a:latin typeface="Merriweather"/>
                <a:ea typeface="Merriweather"/>
                <a:cs typeface="Merriweather"/>
                <a:sym typeface="Merriweather"/>
              </a:rPr>
              <a:t>Low interest rates </a:t>
            </a:r>
          </a:p>
          <a:p>
            <a:pPr algn="ctr">
              <a:lnSpc>
                <a:spcPts val="2900"/>
              </a:lnSpc>
            </a:pPr>
            <a:r>
              <a:rPr lang="en-US" sz="1800">
                <a:solidFill>
                  <a:srgbClr val="000001"/>
                </a:solidFill>
                <a:latin typeface="Merriweather"/>
                <a:ea typeface="Merriweather"/>
                <a:cs typeface="Merriweather"/>
                <a:sym typeface="Merriweather"/>
              </a:rPr>
              <a:t>upto 2-3%</a:t>
            </a:r>
          </a:p>
        </p:txBody>
      </p:sp>
      <p:sp>
        <p:nvSpPr>
          <p:cNvPr name="Freeform 34" id="34"/>
          <p:cNvSpPr/>
          <p:nvPr/>
        </p:nvSpPr>
        <p:spPr>
          <a:xfrm flipH="false" flipV="true" rot="5400000">
            <a:off x="8347472" y="7671207"/>
            <a:ext cx="1593056" cy="3259989"/>
          </a:xfrm>
          <a:custGeom>
            <a:avLst/>
            <a:gdLst/>
            <a:ahLst/>
            <a:cxnLst/>
            <a:rect r="r" b="b" t="t" l="l"/>
            <a:pathLst>
              <a:path h="3259989" w="1593056">
                <a:moveTo>
                  <a:pt x="0" y="3259988"/>
                </a:moveTo>
                <a:lnTo>
                  <a:pt x="1593056" y="3259988"/>
                </a:lnTo>
                <a:lnTo>
                  <a:pt x="1593056" y="0"/>
                </a:lnTo>
                <a:lnTo>
                  <a:pt x="0" y="0"/>
                </a:lnTo>
                <a:lnTo>
                  <a:pt x="0" y="3259988"/>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5" id="35"/>
          <p:cNvSpPr/>
          <p:nvPr/>
        </p:nvSpPr>
        <p:spPr>
          <a:xfrm flipH="false" flipV="false" rot="5400000">
            <a:off x="4094885" y="7671207"/>
            <a:ext cx="1593056" cy="3259989"/>
          </a:xfrm>
          <a:custGeom>
            <a:avLst/>
            <a:gdLst/>
            <a:ahLst/>
            <a:cxnLst/>
            <a:rect r="r" b="b" t="t" l="l"/>
            <a:pathLst>
              <a:path h="3259989" w="1593056">
                <a:moveTo>
                  <a:pt x="0" y="0"/>
                </a:moveTo>
                <a:lnTo>
                  <a:pt x="1593056" y="0"/>
                </a:lnTo>
                <a:lnTo>
                  <a:pt x="1593056" y="3259988"/>
                </a:lnTo>
                <a:lnTo>
                  <a:pt x="0" y="325998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6" id="36"/>
          <p:cNvSpPr txBox="true"/>
          <p:nvPr/>
        </p:nvSpPr>
        <p:spPr>
          <a:xfrm rot="0">
            <a:off x="3466126" y="8866623"/>
            <a:ext cx="2850574" cy="715645"/>
          </a:xfrm>
          <a:prstGeom prst="rect">
            <a:avLst/>
          </a:prstGeom>
        </p:spPr>
        <p:txBody>
          <a:bodyPr anchor="t" rtlCol="false" tIns="0" lIns="0" bIns="0" rIns="0">
            <a:spAutoFit/>
          </a:bodyPr>
          <a:lstStyle/>
          <a:p>
            <a:pPr algn="ctr">
              <a:lnSpc>
                <a:spcPts val="2900"/>
              </a:lnSpc>
            </a:pPr>
            <a:r>
              <a:rPr lang="en-US" sz="1800">
                <a:solidFill>
                  <a:srgbClr val="000001"/>
                </a:solidFill>
                <a:latin typeface="Merriweather"/>
                <a:ea typeface="Merriweather"/>
                <a:cs typeface="Merriweather"/>
                <a:sym typeface="Merriweather"/>
              </a:rPr>
              <a:t>Forex fees on cards is </a:t>
            </a:r>
            <a:r>
              <a:rPr lang="en-US" sz="1800">
                <a:solidFill>
                  <a:srgbClr val="000001"/>
                </a:solidFill>
                <a:latin typeface="Merriweather"/>
                <a:ea typeface="Merriweather"/>
                <a:cs typeface="Merriweather"/>
                <a:sym typeface="Merriweather"/>
              </a:rPr>
              <a:t>3-5% markup</a:t>
            </a:r>
          </a:p>
        </p:txBody>
      </p:sp>
      <p:sp>
        <p:nvSpPr>
          <p:cNvPr name="TextBox 37" id="37"/>
          <p:cNvSpPr txBox="true"/>
          <p:nvPr/>
        </p:nvSpPr>
        <p:spPr>
          <a:xfrm rot="0">
            <a:off x="7718713" y="8867134"/>
            <a:ext cx="2850574" cy="706133"/>
          </a:xfrm>
          <a:prstGeom prst="rect">
            <a:avLst/>
          </a:prstGeom>
        </p:spPr>
        <p:txBody>
          <a:bodyPr anchor="t" rtlCol="false" tIns="0" lIns="0" bIns="0" rIns="0">
            <a:spAutoFit/>
          </a:bodyPr>
          <a:lstStyle/>
          <a:p>
            <a:pPr algn="ctr">
              <a:lnSpc>
                <a:spcPts val="2899"/>
              </a:lnSpc>
            </a:pPr>
            <a:r>
              <a:rPr lang="en-US" sz="1800">
                <a:solidFill>
                  <a:srgbClr val="000001"/>
                </a:solidFill>
                <a:latin typeface="Merriweather"/>
                <a:ea typeface="Merriweather"/>
                <a:cs typeface="Merriweather"/>
                <a:sym typeface="Merriweather"/>
              </a:rPr>
              <a:t>Forex fees on cards </a:t>
            </a:r>
          </a:p>
          <a:p>
            <a:pPr algn="ctr">
              <a:lnSpc>
                <a:spcPts val="2900"/>
              </a:lnSpc>
            </a:pPr>
            <a:r>
              <a:rPr lang="en-US" sz="1800">
                <a:solidFill>
                  <a:srgbClr val="000001"/>
                </a:solidFill>
                <a:latin typeface="Merriweather"/>
                <a:ea typeface="Merriweather"/>
                <a:cs typeface="Merriweather"/>
                <a:sym typeface="Merriweather"/>
              </a:rPr>
              <a:t> 0 or &lt;1% markup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38604" y="-52127"/>
            <a:ext cx="18288000" cy="10339128"/>
            <a:chOff x="0" y="0"/>
            <a:chExt cx="24384000" cy="13785503"/>
          </a:xfrm>
        </p:grpSpPr>
        <p:sp>
          <p:nvSpPr>
            <p:cNvPr name="Freeform 5" id="5"/>
            <p:cNvSpPr/>
            <p:nvPr/>
          </p:nvSpPr>
          <p:spPr>
            <a:xfrm flipH="false" flipV="false" rot="0">
              <a:off x="0" y="0"/>
              <a:ext cx="24384000" cy="13785503"/>
            </a:xfrm>
            <a:custGeom>
              <a:avLst/>
              <a:gdLst/>
              <a:ahLst/>
              <a:cxnLst/>
              <a:rect r="r" b="b" t="t" l="l"/>
              <a:pathLst>
                <a:path h="13785503" w="24384000">
                  <a:moveTo>
                    <a:pt x="0" y="0"/>
                  </a:moveTo>
                  <a:lnTo>
                    <a:pt x="24384000" y="0"/>
                  </a:lnTo>
                  <a:lnTo>
                    <a:pt x="24384000" y="13785503"/>
                  </a:lnTo>
                  <a:lnTo>
                    <a:pt x="0" y="13785503"/>
                  </a:lnTo>
                  <a:close/>
                </a:path>
              </a:pathLst>
            </a:custGeom>
            <a:solidFill>
              <a:srgbClr val="09151A">
                <a:alpha val="73725"/>
              </a:srgbClr>
            </a:solidFill>
          </p:spPr>
        </p:sp>
      </p:grpSp>
      <p:grpSp>
        <p:nvGrpSpPr>
          <p:cNvPr name="Group 6" id="6"/>
          <p:cNvGrpSpPr/>
          <p:nvPr/>
        </p:nvGrpSpPr>
        <p:grpSpPr>
          <a:xfrm rot="0">
            <a:off x="14762659" y="-52127"/>
            <a:ext cx="5434270" cy="10391255"/>
            <a:chOff x="0" y="0"/>
            <a:chExt cx="7245693" cy="13855007"/>
          </a:xfrm>
        </p:grpSpPr>
        <p:sp>
          <p:nvSpPr>
            <p:cNvPr name="Freeform 7" id="7" descr="preencoded.png"/>
            <p:cNvSpPr/>
            <p:nvPr/>
          </p:nvSpPr>
          <p:spPr>
            <a:xfrm flipH="false" flipV="false" rot="0">
              <a:off x="0" y="0"/>
              <a:ext cx="7245693" cy="13854965"/>
            </a:xfrm>
            <a:custGeom>
              <a:avLst/>
              <a:gdLst/>
              <a:ahLst/>
              <a:cxnLst/>
              <a:rect r="r" b="b" t="t" l="l"/>
              <a:pathLst>
                <a:path h="13854965" w="7245693">
                  <a:moveTo>
                    <a:pt x="0" y="0"/>
                  </a:moveTo>
                  <a:lnTo>
                    <a:pt x="7245693" y="0"/>
                  </a:lnTo>
                  <a:lnTo>
                    <a:pt x="7245693" y="13854965"/>
                  </a:lnTo>
                  <a:lnTo>
                    <a:pt x="0" y="13854965"/>
                  </a:lnTo>
                  <a:lnTo>
                    <a:pt x="0" y="0"/>
                  </a:lnTo>
                  <a:close/>
                </a:path>
              </a:pathLst>
            </a:custGeom>
            <a:blipFill>
              <a:blip r:embed="rId4"/>
              <a:stretch>
                <a:fillRect l="-13680" t="0" r="-13680" b="0"/>
              </a:stretch>
            </a:blipFill>
          </p:spPr>
        </p:sp>
      </p:grpSp>
      <p:sp>
        <p:nvSpPr>
          <p:cNvPr name="Freeform 8" id="8"/>
          <p:cNvSpPr/>
          <p:nvPr/>
        </p:nvSpPr>
        <p:spPr>
          <a:xfrm flipH="false" flipV="false" rot="0">
            <a:off x="13733959"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5"/>
            <a:stretch>
              <a:fillRect l="0" t="0" r="0" b="0"/>
            </a:stretch>
          </a:blipFill>
        </p:spPr>
      </p:sp>
      <p:sp>
        <p:nvSpPr>
          <p:cNvPr name="Freeform 9" id="9"/>
          <p:cNvSpPr/>
          <p:nvPr/>
        </p:nvSpPr>
        <p:spPr>
          <a:xfrm flipH="false" flipV="false" rot="-2402011">
            <a:off x="11882657" y="-2683575"/>
            <a:ext cx="3216981" cy="3641866"/>
          </a:xfrm>
          <a:custGeom>
            <a:avLst/>
            <a:gdLst/>
            <a:ahLst/>
            <a:cxnLst/>
            <a:rect r="r" b="b" t="t" l="l"/>
            <a:pathLst>
              <a:path h="3641866" w="3216981">
                <a:moveTo>
                  <a:pt x="0" y="0"/>
                </a:moveTo>
                <a:lnTo>
                  <a:pt x="3216982" y="0"/>
                </a:lnTo>
                <a:lnTo>
                  <a:pt x="3216982" y="3641866"/>
                </a:lnTo>
                <a:lnTo>
                  <a:pt x="0" y="3641866"/>
                </a:lnTo>
                <a:lnTo>
                  <a:pt x="0" y="0"/>
                </a:lnTo>
                <a:close/>
              </a:path>
            </a:pathLst>
          </a:custGeom>
          <a:blipFill>
            <a:blip r:embed="rId6"/>
            <a:stretch>
              <a:fillRect l="0" t="0" r="0" b="0"/>
            </a:stretch>
          </a:blipFill>
        </p:spPr>
      </p:sp>
      <p:sp>
        <p:nvSpPr>
          <p:cNvPr name="TextBox 10" id="10"/>
          <p:cNvSpPr txBox="true"/>
          <p:nvPr/>
        </p:nvSpPr>
        <p:spPr>
          <a:xfrm rot="0">
            <a:off x="38604" y="4352300"/>
            <a:ext cx="14762659" cy="1563349"/>
          </a:xfrm>
          <a:prstGeom prst="rect">
            <a:avLst/>
          </a:prstGeom>
        </p:spPr>
        <p:txBody>
          <a:bodyPr anchor="t" rtlCol="false" tIns="0" lIns="0" bIns="0" rIns="0">
            <a:spAutoFit/>
          </a:bodyPr>
          <a:lstStyle/>
          <a:p>
            <a:pPr algn="ctr">
              <a:lnSpc>
                <a:spcPts val="6290"/>
              </a:lnSpc>
            </a:pPr>
            <a:r>
              <a:rPr lang="en-US" sz="5000" u="sng">
                <a:solidFill>
                  <a:srgbClr val="DAECFF"/>
                </a:solidFill>
                <a:latin typeface="Merriweather"/>
                <a:ea typeface="Merriweather"/>
                <a:cs typeface="Merriweather"/>
                <a:sym typeface="Merriweather"/>
              </a:rPr>
              <a:t>Case Study</a:t>
            </a:r>
            <a:r>
              <a:rPr lang="en-US" sz="5000">
                <a:solidFill>
                  <a:srgbClr val="DAECFF"/>
                </a:solidFill>
                <a:latin typeface="Merriweather"/>
                <a:ea typeface="Merriweather"/>
                <a:cs typeface="Merriweather"/>
                <a:sym typeface="Merriweather"/>
              </a:rPr>
              <a:t> 2:</a:t>
            </a:r>
          </a:p>
          <a:p>
            <a:pPr algn="ctr">
              <a:lnSpc>
                <a:spcPts val="6290"/>
              </a:lnSpc>
            </a:pPr>
            <a:r>
              <a:rPr lang="en-US" sz="5000" u="sng">
                <a:solidFill>
                  <a:srgbClr val="DAECFF"/>
                </a:solidFill>
                <a:latin typeface="Merriweather"/>
                <a:ea typeface="Merriweather"/>
                <a:cs typeface="Merriweather"/>
                <a:sym typeface="Merriweather"/>
              </a:rPr>
              <a:t>Cross-Border Settlement using Blockchain</a:t>
            </a:r>
          </a:p>
        </p:txBody>
      </p:sp>
      <p:sp>
        <p:nvSpPr>
          <p:cNvPr name="Freeform 11" id="11"/>
          <p:cNvSpPr/>
          <p:nvPr/>
        </p:nvSpPr>
        <p:spPr>
          <a:xfrm flipH="false" flipV="false" rot="5400000">
            <a:off x="-46777" y="8268829"/>
            <a:ext cx="3216981" cy="3641866"/>
          </a:xfrm>
          <a:custGeom>
            <a:avLst/>
            <a:gdLst/>
            <a:ahLst/>
            <a:cxnLst/>
            <a:rect r="r" b="b" t="t" l="l"/>
            <a:pathLst>
              <a:path h="3641866" w="3216981">
                <a:moveTo>
                  <a:pt x="0" y="0"/>
                </a:moveTo>
                <a:lnTo>
                  <a:pt x="3216981" y="0"/>
                </a:lnTo>
                <a:lnTo>
                  <a:pt x="3216981" y="3641865"/>
                </a:lnTo>
                <a:lnTo>
                  <a:pt x="0" y="3641865"/>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16" y="-7317"/>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53777" y="-159781"/>
            <a:ext cx="18288000" cy="10689274"/>
            <a:chOff x="0" y="0"/>
            <a:chExt cx="24384000" cy="14252365"/>
          </a:xfrm>
        </p:grpSpPr>
        <p:sp>
          <p:nvSpPr>
            <p:cNvPr name="Freeform 5" id="5"/>
            <p:cNvSpPr/>
            <p:nvPr/>
          </p:nvSpPr>
          <p:spPr>
            <a:xfrm flipH="false" flipV="false" rot="0">
              <a:off x="0" y="0"/>
              <a:ext cx="24384000" cy="14252366"/>
            </a:xfrm>
            <a:custGeom>
              <a:avLst/>
              <a:gdLst/>
              <a:ahLst/>
              <a:cxnLst/>
              <a:rect r="r" b="b" t="t" l="l"/>
              <a:pathLst>
                <a:path h="14252366" w="24384000">
                  <a:moveTo>
                    <a:pt x="0" y="0"/>
                  </a:moveTo>
                  <a:lnTo>
                    <a:pt x="24384000" y="0"/>
                  </a:lnTo>
                  <a:lnTo>
                    <a:pt x="24384000" y="14252366"/>
                  </a:lnTo>
                  <a:lnTo>
                    <a:pt x="0" y="14252366"/>
                  </a:lnTo>
                  <a:close/>
                </a:path>
              </a:pathLst>
            </a:custGeom>
            <a:solidFill>
              <a:srgbClr val="09151A">
                <a:alpha val="68235"/>
              </a:srgbClr>
            </a:solidFill>
          </p:spPr>
        </p:sp>
      </p:grpSp>
      <p:grpSp>
        <p:nvGrpSpPr>
          <p:cNvPr name="Group 6" id="6"/>
          <p:cNvGrpSpPr/>
          <p:nvPr/>
        </p:nvGrpSpPr>
        <p:grpSpPr>
          <a:xfrm rot="0">
            <a:off x="9088559" y="1028700"/>
            <a:ext cx="106450" cy="8892703"/>
            <a:chOff x="0" y="0"/>
            <a:chExt cx="34224" cy="2859045"/>
          </a:xfrm>
        </p:grpSpPr>
        <p:sp>
          <p:nvSpPr>
            <p:cNvPr name="Freeform 7" id="7"/>
            <p:cNvSpPr/>
            <p:nvPr/>
          </p:nvSpPr>
          <p:spPr>
            <a:xfrm flipH="false" flipV="false" rot="0">
              <a:off x="0" y="0"/>
              <a:ext cx="34224" cy="2858992"/>
            </a:xfrm>
            <a:custGeom>
              <a:avLst/>
              <a:gdLst/>
              <a:ahLst/>
              <a:cxnLst/>
              <a:rect r="r" b="b" t="t" l="l"/>
              <a:pathLst>
                <a:path h="2858992" w="34224">
                  <a:moveTo>
                    <a:pt x="0" y="73002"/>
                  </a:moveTo>
                  <a:cubicBezTo>
                    <a:pt x="0" y="32729"/>
                    <a:pt x="7672" y="0"/>
                    <a:pt x="17112" y="0"/>
                  </a:cubicBezTo>
                  <a:cubicBezTo>
                    <a:pt x="26552" y="0"/>
                    <a:pt x="34224" y="32729"/>
                    <a:pt x="34224" y="73002"/>
                  </a:cubicBezTo>
                  <a:lnTo>
                    <a:pt x="34224" y="2785990"/>
                  </a:lnTo>
                  <a:cubicBezTo>
                    <a:pt x="34224" y="2826263"/>
                    <a:pt x="26552" y="2858992"/>
                    <a:pt x="17112" y="2858992"/>
                  </a:cubicBezTo>
                  <a:cubicBezTo>
                    <a:pt x="7672" y="2858992"/>
                    <a:pt x="0" y="2826263"/>
                    <a:pt x="0" y="2785990"/>
                  </a:cubicBezTo>
                  <a:close/>
                </a:path>
              </a:pathLst>
            </a:custGeom>
            <a:solidFill>
              <a:srgbClr val="0000FF"/>
            </a:solidFill>
          </p:spPr>
        </p:sp>
      </p:grpSp>
      <p:sp>
        <p:nvSpPr>
          <p:cNvPr name="Freeform 8" id="8"/>
          <p:cNvSpPr/>
          <p:nvPr/>
        </p:nvSpPr>
        <p:spPr>
          <a:xfrm flipH="false" flipV="false" rot="0">
            <a:off x="1988524" y="4026534"/>
            <a:ext cx="4477478" cy="3003736"/>
          </a:xfrm>
          <a:custGeom>
            <a:avLst/>
            <a:gdLst/>
            <a:ahLst/>
            <a:cxnLst/>
            <a:rect r="r" b="b" t="t" l="l"/>
            <a:pathLst>
              <a:path h="3003736" w="4477478">
                <a:moveTo>
                  <a:pt x="0" y="0"/>
                </a:moveTo>
                <a:lnTo>
                  <a:pt x="4477478" y="0"/>
                </a:lnTo>
                <a:lnTo>
                  <a:pt x="4477478" y="3003735"/>
                </a:lnTo>
                <a:lnTo>
                  <a:pt x="0" y="30037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170142" y="1305096"/>
            <a:ext cx="2104293" cy="1411674"/>
          </a:xfrm>
          <a:custGeom>
            <a:avLst/>
            <a:gdLst/>
            <a:ahLst/>
            <a:cxnLst/>
            <a:rect r="r" b="b" t="t" l="l"/>
            <a:pathLst>
              <a:path h="1411674" w="2104293">
                <a:moveTo>
                  <a:pt x="0" y="0"/>
                </a:moveTo>
                <a:lnTo>
                  <a:pt x="2104293" y="0"/>
                </a:lnTo>
                <a:lnTo>
                  <a:pt x="2104293" y="1411674"/>
                </a:lnTo>
                <a:lnTo>
                  <a:pt x="0" y="14116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3824617" y="3147889"/>
            <a:ext cx="1013840" cy="362448"/>
          </a:xfrm>
          <a:custGeom>
            <a:avLst/>
            <a:gdLst/>
            <a:ahLst/>
            <a:cxnLst/>
            <a:rect r="r" b="b" t="t" l="l"/>
            <a:pathLst>
              <a:path h="362448" w="1013840">
                <a:moveTo>
                  <a:pt x="0" y="0"/>
                </a:moveTo>
                <a:lnTo>
                  <a:pt x="1013840" y="0"/>
                </a:lnTo>
                <a:lnTo>
                  <a:pt x="1013840" y="362448"/>
                </a:lnTo>
                <a:lnTo>
                  <a:pt x="0" y="3624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400000">
            <a:off x="3913517" y="7355965"/>
            <a:ext cx="1013840" cy="362448"/>
          </a:xfrm>
          <a:custGeom>
            <a:avLst/>
            <a:gdLst/>
            <a:ahLst/>
            <a:cxnLst/>
            <a:rect r="r" b="b" t="t" l="l"/>
            <a:pathLst>
              <a:path h="362448" w="1013840">
                <a:moveTo>
                  <a:pt x="0" y="0"/>
                </a:moveTo>
                <a:lnTo>
                  <a:pt x="1013840" y="0"/>
                </a:lnTo>
                <a:lnTo>
                  <a:pt x="1013840" y="362448"/>
                </a:lnTo>
                <a:lnTo>
                  <a:pt x="0" y="3624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2903442" y="2903162"/>
            <a:ext cx="851902" cy="851902"/>
          </a:xfrm>
          <a:custGeom>
            <a:avLst/>
            <a:gdLst/>
            <a:ahLst/>
            <a:cxnLst/>
            <a:rect r="r" b="b" t="t" l="l"/>
            <a:pathLst>
              <a:path h="851902" w="851902">
                <a:moveTo>
                  <a:pt x="0" y="0"/>
                </a:moveTo>
                <a:lnTo>
                  <a:pt x="851902" y="0"/>
                </a:lnTo>
                <a:lnTo>
                  <a:pt x="851902" y="851902"/>
                </a:lnTo>
                <a:lnTo>
                  <a:pt x="0" y="851902"/>
                </a:lnTo>
                <a:lnTo>
                  <a:pt x="0" y="0"/>
                </a:lnTo>
                <a:close/>
              </a:path>
            </a:pathLst>
          </a:custGeom>
          <a:blipFill>
            <a:blip r:embed="rId8"/>
            <a:stretch>
              <a:fillRect l="0" t="0" r="0" b="0"/>
            </a:stretch>
          </a:blipFill>
        </p:spPr>
      </p:sp>
      <p:sp>
        <p:nvSpPr>
          <p:cNvPr name="Freeform 13" id="13"/>
          <p:cNvSpPr/>
          <p:nvPr/>
        </p:nvSpPr>
        <p:spPr>
          <a:xfrm flipH="false" flipV="false" rot="0">
            <a:off x="5244166" y="7240102"/>
            <a:ext cx="1056149" cy="977418"/>
          </a:xfrm>
          <a:custGeom>
            <a:avLst/>
            <a:gdLst/>
            <a:ahLst/>
            <a:cxnLst/>
            <a:rect r="r" b="b" t="t" l="l"/>
            <a:pathLst>
              <a:path h="977418" w="1056149">
                <a:moveTo>
                  <a:pt x="0" y="0"/>
                </a:moveTo>
                <a:lnTo>
                  <a:pt x="1056149" y="0"/>
                </a:lnTo>
                <a:lnTo>
                  <a:pt x="1056149" y="977418"/>
                </a:lnTo>
                <a:lnTo>
                  <a:pt x="0" y="97741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3200442" y="8118683"/>
            <a:ext cx="2104293" cy="1411674"/>
          </a:xfrm>
          <a:custGeom>
            <a:avLst/>
            <a:gdLst/>
            <a:ahLst/>
            <a:cxnLst/>
            <a:rect r="r" b="b" t="t" l="l"/>
            <a:pathLst>
              <a:path h="1411674" w="2104293">
                <a:moveTo>
                  <a:pt x="0" y="0"/>
                </a:moveTo>
                <a:lnTo>
                  <a:pt x="2104293" y="0"/>
                </a:lnTo>
                <a:lnTo>
                  <a:pt x="2104293" y="1411674"/>
                </a:lnTo>
                <a:lnTo>
                  <a:pt x="0" y="14116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2628602" y="3602828"/>
            <a:ext cx="1831549" cy="1228702"/>
          </a:xfrm>
          <a:custGeom>
            <a:avLst/>
            <a:gdLst/>
            <a:ahLst/>
            <a:cxnLst/>
            <a:rect r="r" b="b" t="t" l="l"/>
            <a:pathLst>
              <a:path h="1228702" w="1831549">
                <a:moveTo>
                  <a:pt x="0" y="0"/>
                </a:moveTo>
                <a:lnTo>
                  <a:pt x="1831549" y="0"/>
                </a:lnTo>
                <a:lnTo>
                  <a:pt x="1831549" y="1228703"/>
                </a:lnTo>
                <a:lnTo>
                  <a:pt x="0" y="12287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2539714" y="1384267"/>
            <a:ext cx="2028872" cy="1361077"/>
          </a:xfrm>
          <a:custGeom>
            <a:avLst/>
            <a:gdLst/>
            <a:ahLst/>
            <a:cxnLst/>
            <a:rect r="r" b="b" t="t" l="l"/>
            <a:pathLst>
              <a:path h="1361077" w="2028872">
                <a:moveTo>
                  <a:pt x="0" y="0"/>
                </a:moveTo>
                <a:lnTo>
                  <a:pt x="2028872" y="0"/>
                </a:lnTo>
                <a:lnTo>
                  <a:pt x="2028872" y="1361078"/>
                </a:lnTo>
                <a:lnTo>
                  <a:pt x="0" y="13610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3469136" y="5184856"/>
            <a:ext cx="971080" cy="1041118"/>
          </a:xfrm>
          <a:custGeom>
            <a:avLst/>
            <a:gdLst/>
            <a:ahLst/>
            <a:cxnLst/>
            <a:rect r="r" b="b" t="t" l="l"/>
            <a:pathLst>
              <a:path h="1041118" w="971080">
                <a:moveTo>
                  <a:pt x="0" y="0"/>
                </a:moveTo>
                <a:lnTo>
                  <a:pt x="971080" y="0"/>
                </a:lnTo>
                <a:lnTo>
                  <a:pt x="971080" y="1041119"/>
                </a:lnTo>
                <a:lnTo>
                  <a:pt x="0" y="104111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5400000">
            <a:off x="13149619" y="3043978"/>
            <a:ext cx="781347" cy="279332"/>
          </a:xfrm>
          <a:custGeom>
            <a:avLst/>
            <a:gdLst/>
            <a:ahLst/>
            <a:cxnLst/>
            <a:rect r="r" b="b" t="t" l="l"/>
            <a:pathLst>
              <a:path h="279332" w="781347">
                <a:moveTo>
                  <a:pt x="0" y="0"/>
                </a:moveTo>
                <a:lnTo>
                  <a:pt x="781347" y="0"/>
                </a:lnTo>
                <a:lnTo>
                  <a:pt x="781347" y="279331"/>
                </a:lnTo>
                <a:lnTo>
                  <a:pt x="0" y="2793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5400000">
            <a:off x="13290287" y="8053083"/>
            <a:ext cx="648862" cy="231968"/>
          </a:xfrm>
          <a:custGeom>
            <a:avLst/>
            <a:gdLst/>
            <a:ahLst/>
            <a:cxnLst/>
            <a:rect r="r" b="b" t="t" l="l"/>
            <a:pathLst>
              <a:path h="231968" w="648862">
                <a:moveTo>
                  <a:pt x="0" y="0"/>
                </a:moveTo>
                <a:lnTo>
                  <a:pt x="648862" y="0"/>
                </a:lnTo>
                <a:lnTo>
                  <a:pt x="648862" y="231968"/>
                </a:lnTo>
                <a:lnTo>
                  <a:pt x="0" y="2319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14076688" y="2881908"/>
            <a:ext cx="577697" cy="577697"/>
          </a:xfrm>
          <a:custGeom>
            <a:avLst/>
            <a:gdLst/>
            <a:ahLst/>
            <a:cxnLst/>
            <a:rect r="r" b="b" t="t" l="l"/>
            <a:pathLst>
              <a:path h="577697" w="577697">
                <a:moveTo>
                  <a:pt x="0" y="0"/>
                </a:moveTo>
                <a:lnTo>
                  <a:pt x="577696" y="0"/>
                </a:lnTo>
                <a:lnTo>
                  <a:pt x="577696" y="577697"/>
                </a:lnTo>
                <a:lnTo>
                  <a:pt x="0" y="577697"/>
                </a:lnTo>
                <a:lnTo>
                  <a:pt x="0" y="0"/>
                </a:lnTo>
                <a:close/>
              </a:path>
            </a:pathLst>
          </a:custGeom>
          <a:blipFill>
            <a:blip r:embed="rId8"/>
            <a:stretch>
              <a:fillRect l="0" t="0" r="0" b="0"/>
            </a:stretch>
          </a:blipFill>
        </p:spPr>
      </p:sp>
      <p:sp>
        <p:nvSpPr>
          <p:cNvPr name="Freeform 21" id="21"/>
          <p:cNvSpPr/>
          <p:nvPr/>
        </p:nvSpPr>
        <p:spPr>
          <a:xfrm flipH="false" flipV="false" rot="0">
            <a:off x="14133153" y="7816061"/>
            <a:ext cx="653997" cy="605245"/>
          </a:xfrm>
          <a:custGeom>
            <a:avLst/>
            <a:gdLst/>
            <a:ahLst/>
            <a:cxnLst/>
            <a:rect r="r" b="b" t="t" l="l"/>
            <a:pathLst>
              <a:path h="605245" w="653997">
                <a:moveTo>
                  <a:pt x="0" y="0"/>
                </a:moveTo>
                <a:lnTo>
                  <a:pt x="653997" y="0"/>
                </a:lnTo>
                <a:lnTo>
                  <a:pt x="653997" y="605244"/>
                </a:lnTo>
                <a:lnTo>
                  <a:pt x="0" y="6052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2" id="22"/>
          <p:cNvGrpSpPr/>
          <p:nvPr/>
        </p:nvGrpSpPr>
        <p:grpSpPr>
          <a:xfrm rot="0">
            <a:off x="2029116" y="6312705"/>
            <a:ext cx="4420194" cy="70433"/>
            <a:chOff x="0" y="0"/>
            <a:chExt cx="4809519" cy="76636"/>
          </a:xfrm>
        </p:grpSpPr>
        <p:sp>
          <p:nvSpPr>
            <p:cNvPr name="Freeform 23" id="23"/>
            <p:cNvSpPr/>
            <p:nvPr/>
          </p:nvSpPr>
          <p:spPr>
            <a:xfrm flipH="false" flipV="false" rot="0">
              <a:off x="0" y="0"/>
              <a:ext cx="4809497" cy="76636"/>
            </a:xfrm>
            <a:custGeom>
              <a:avLst/>
              <a:gdLst/>
              <a:ahLst/>
              <a:cxnLst/>
              <a:rect r="r" b="b" t="t" l="l"/>
              <a:pathLst>
                <a:path h="76636" w="4809497">
                  <a:moveTo>
                    <a:pt x="0" y="38318"/>
                  </a:moveTo>
                  <a:cubicBezTo>
                    <a:pt x="0" y="17147"/>
                    <a:pt x="16249" y="0"/>
                    <a:pt x="36311" y="0"/>
                  </a:cubicBezTo>
                  <a:lnTo>
                    <a:pt x="4773186" y="0"/>
                  </a:lnTo>
                  <a:cubicBezTo>
                    <a:pt x="4793248" y="0"/>
                    <a:pt x="4809497" y="17147"/>
                    <a:pt x="4809497" y="38318"/>
                  </a:cubicBezTo>
                  <a:cubicBezTo>
                    <a:pt x="4809497" y="59489"/>
                    <a:pt x="4793248" y="76636"/>
                    <a:pt x="4773186" y="76636"/>
                  </a:cubicBezTo>
                  <a:lnTo>
                    <a:pt x="36311" y="76636"/>
                  </a:lnTo>
                  <a:cubicBezTo>
                    <a:pt x="16249" y="76636"/>
                    <a:pt x="0" y="59489"/>
                    <a:pt x="0" y="38318"/>
                  </a:cubicBezTo>
                  <a:close/>
                </a:path>
              </a:pathLst>
            </a:custGeom>
            <a:solidFill>
              <a:srgbClr val="FFFFFF"/>
            </a:solidFill>
          </p:spPr>
        </p:sp>
      </p:grpSp>
      <p:sp>
        <p:nvSpPr>
          <p:cNvPr name="Freeform 24" id="24"/>
          <p:cNvSpPr/>
          <p:nvPr/>
        </p:nvSpPr>
        <p:spPr>
          <a:xfrm flipH="false" flipV="false" rot="0">
            <a:off x="17257084"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13"/>
            <a:stretch>
              <a:fillRect l="0" t="0" r="0" b="0"/>
            </a:stretch>
          </a:blipFill>
        </p:spPr>
      </p:sp>
      <p:sp>
        <p:nvSpPr>
          <p:cNvPr name="Freeform 25" id="25"/>
          <p:cNvSpPr/>
          <p:nvPr/>
        </p:nvSpPr>
        <p:spPr>
          <a:xfrm flipH="false" flipV="false" rot="0">
            <a:off x="12452883" y="8514363"/>
            <a:ext cx="2217878" cy="1487873"/>
          </a:xfrm>
          <a:custGeom>
            <a:avLst/>
            <a:gdLst/>
            <a:ahLst/>
            <a:cxnLst/>
            <a:rect r="r" b="b" t="t" l="l"/>
            <a:pathLst>
              <a:path h="1487873" w="2217878">
                <a:moveTo>
                  <a:pt x="0" y="0"/>
                </a:moveTo>
                <a:lnTo>
                  <a:pt x="2217879" y="0"/>
                </a:lnTo>
                <a:lnTo>
                  <a:pt x="2217879" y="1487874"/>
                </a:lnTo>
                <a:lnTo>
                  <a:pt x="0" y="14878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2683429" y="6637512"/>
            <a:ext cx="1756787" cy="1178548"/>
          </a:xfrm>
          <a:custGeom>
            <a:avLst/>
            <a:gdLst/>
            <a:ahLst/>
            <a:cxnLst/>
            <a:rect r="r" b="b" t="t" l="l"/>
            <a:pathLst>
              <a:path h="1178548" w="1756787">
                <a:moveTo>
                  <a:pt x="0" y="0"/>
                </a:moveTo>
                <a:lnTo>
                  <a:pt x="1756787" y="0"/>
                </a:lnTo>
                <a:lnTo>
                  <a:pt x="1756787" y="1178549"/>
                </a:lnTo>
                <a:lnTo>
                  <a:pt x="0" y="1178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5400000">
            <a:off x="13337245" y="4863709"/>
            <a:ext cx="433811" cy="208484"/>
          </a:xfrm>
          <a:custGeom>
            <a:avLst/>
            <a:gdLst/>
            <a:ahLst/>
            <a:cxnLst/>
            <a:rect r="r" b="b" t="t" l="l"/>
            <a:pathLst>
              <a:path h="208484" w="433811">
                <a:moveTo>
                  <a:pt x="0" y="0"/>
                </a:moveTo>
                <a:lnTo>
                  <a:pt x="433811" y="0"/>
                </a:lnTo>
                <a:lnTo>
                  <a:pt x="433811" y="208484"/>
                </a:lnTo>
                <a:lnTo>
                  <a:pt x="0" y="208484"/>
                </a:lnTo>
                <a:lnTo>
                  <a:pt x="0" y="0"/>
                </a:lnTo>
                <a:close/>
              </a:path>
            </a:pathLst>
          </a:custGeom>
          <a:blipFill>
            <a:blip r:embed="rId14">
              <a:extLst>
                <a:ext uri="{96DAC541-7B7A-43D3-8B79-37D633B846F1}">
                  <asvg:svgBlip xmlns:asvg="http://schemas.microsoft.com/office/drawing/2016/SVG/main" r:embed="rId15"/>
                </a:ext>
              </a:extLst>
            </a:blip>
            <a:stretch>
              <a:fillRect l="-69157" t="0" r="0" b="0"/>
            </a:stretch>
          </a:blipFill>
        </p:spPr>
      </p:sp>
      <p:sp>
        <p:nvSpPr>
          <p:cNvPr name="Freeform 28" id="28"/>
          <p:cNvSpPr/>
          <p:nvPr/>
        </p:nvSpPr>
        <p:spPr>
          <a:xfrm flipH="false" flipV="false" rot="5400000">
            <a:off x="13336655" y="6369176"/>
            <a:ext cx="433811" cy="208484"/>
          </a:xfrm>
          <a:custGeom>
            <a:avLst/>
            <a:gdLst/>
            <a:ahLst/>
            <a:cxnLst/>
            <a:rect r="r" b="b" t="t" l="l"/>
            <a:pathLst>
              <a:path h="208484" w="433811">
                <a:moveTo>
                  <a:pt x="0" y="0"/>
                </a:moveTo>
                <a:lnTo>
                  <a:pt x="433811" y="0"/>
                </a:lnTo>
                <a:lnTo>
                  <a:pt x="433811" y="208484"/>
                </a:lnTo>
                <a:lnTo>
                  <a:pt x="0" y="208484"/>
                </a:lnTo>
                <a:lnTo>
                  <a:pt x="0" y="0"/>
                </a:lnTo>
                <a:close/>
              </a:path>
            </a:pathLst>
          </a:custGeom>
          <a:blipFill>
            <a:blip r:embed="rId14">
              <a:extLst>
                <a:ext uri="{96DAC541-7B7A-43D3-8B79-37D633B846F1}">
                  <asvg:svgBlip xmlns:asvg="http://schemas.microsoft.com/office/drawing/2016/SVG/main" r:embed="rId15"/>
                </a:ext>
              </a:extLst>
            </a:blip>
            <a:stretch>
              <a:fillRect l="-69157" t="0" r="0" b="0"/>
            </a:stretch>
          </a:blipFill>
        </p:spPr>
      </p:sp>
      <p:sp>
        <p:nvSpPr>
          <p:cNvPr name="Freeform 29" id="29"/>
          <p:cNvSpPr/>
          <p:nvPr/>
        </p:nvSpPr>
        <p:spPr>
          <a:xfrm flipH="false" flipV="false" rot="0">
            <a:off x="2134604" y="1555761"/>
            <a:ext cx="768839" cy="768839"/>
          </a:xfrm>
          <a:custGeom>
            <a:avLst/>
            <a:gdLst/>
            <a:ahLst/>
            <a:cxnLst/>
            <a:rect r="r" b="b" t="t" l="l"/>
            <a:pathLst>
              <a:path h="768839" w="768839">
                <a:moveTo>
                  <a:pt x="0" y="0"/>
                </a:moveTo>
                <a:lnTo>
                  <a:pt x="768838" y="0"/>
                </a:lnTo>
                <a:lnTo>
                  <a:pt x="768838" y="768838"/>
                </a:lnTo>
                <a:lnTo>
                  <a:pt x="0" y="768838"/>
                </a:lnTo>
                <a:lnTo>
                  <a:pt x="0" y="0"/>
                </a:lnTo>
                <a:close/>
              </a:path>
            </a:pathLst>
          </a:custGeom>
          <a:blipFill>
            <a:blip r:embed="rId16"/>
            <a:stretch>
              <a:fillRect l="0" t="0" r="0" b="0"/>
            </a:stretch>
          </a:blipFill>
        </p:spPr>
      </p:sp>
      <p:sp>
        <p:nvSpPr>
          <p:cNvPr name="Freeform 30" id="30"/>
          <p:cNvSpPr/>
          <p:nvPr/>
        </p:nvSpPr>
        <p:spPr>
          <a:xfrm flipH="false" flipV="false" rot="0">
            <a:off x="2081106" y="8516534"/>
            <a:ext cx="756830" cy="756830"/>
          </a:xfrm>
          <a:custGeom>
            <a:avLst/>
            <a:gdLst/>
            <a:ahLst/>
            <a:cxnLst/>
            <a:rect r="r" b="b" t="t" l="l"/>
            <a:pathLst>
              <a:path h="756830" w="756830">
                <a:moveTo>
                  <a:pt x="0" y="0"/>
                </a:moveTo>
                <a:lnTo>
                  <a:pt x="756830" y="0"/>
                </a:lnTo>
                <a:lnTo>
                  <a:pt x="756830" y="756830"/>
                </a:lnTo>
                <a:lnTo>
                  <a:pt x="0" y="756830"/>
                </a:lnTo>
                <a:lnTo>
                  <a:pt x="0" y="0"/>
                </a:lnTo>
                <a:close/>
              </a:path>
            </a:pathLst>
          </a:custGeom>
          <a:blipFill>
            <a:blip r:embed="rId17"/>
            <a:stretch>
              <a:fillRect l="0" t="0" r="0" b="0"/>
            </a:stretch>
          </a:blipFill>
        </p:spPr>
      </p:sp>
      <p:sp>
        <p:nvSpPr>
          <p:cNvPr name="TextBox 31" id="31"/>
          <p:cNvSpPr txBox="true"/>
          <p:nvPr/>
        </p:nvSpPr>
        <p:spPr>
          <a:xfrm rot="0">
            <a:off x="6388224" y="3106164"/>
            <a:ext cx="1295735" cy="3747297"/>
          </a:xfrm>
          <a:prstGeom prst="rect">
            <a:avLst/>
          </a:prstGeom>
        </p:spPr>
        <p:txBody>
          <a:bodyPr anchor="t" rtlCol="false" tIns="0" lIns="0" bIns="0" rIns="0">
            <a:spAutoFit/>
          </a:bodyPr>
          <a:lstStyle/>
          <a:p>
            <a:pPr algn="ctr">
              <a:lnSpc>
                <a:spcPts val="31507"/>
              </a:lnSpc>
            </a:pPr>
            <a:r>
              <a:rPr lang="en-US" sz="20050">
                <a:solidFill>
                  <a:srgbClr val="E2E6E9"/>
                </a:solidFill>
                <a:latin typeface="Merriweather"/>
                <a:ea typeface="Merriweather"/>
                <a:cs typeface="Merriweather"/>
                <a:sym typeface="Merriweather"/>
              </a:rPr>
              <a:t>}</a:t>
            </a:r>
          </a:p>
        </p:txBody>
      </p:sp>
      <p:grpSp>
        <p:nvGrpSpPr>
          <p:cNvPr name="Group 32" id="32"/>
          <p:cNvGrpSpPr/>
          <p:nvPr/>
        </p:nvGrpSpPr>
        <p:grpSpPr>
          <a:xfrm rot="0">
            <a:off x="1988524" y="4728768"/>
            <a:ext cx="4364090" cy="69539"/>
            <a:chOff x="0" y="0"/>
            <a:chExt cx="4809519" cy="76636"/>
          </a:xfrm>
        </p:grpSpPr>
        <p:sp>
          <p:nvSpPr>
            <p:cNvPr name="Freeform 33" id="33"/>
            <p:cNvSpPr/>
            <p:nvPr/>
          </p:nvSpPr>
          <p:spPr>
            <a:xfrm flipH="false" flipV="false" rot="0">
              <a:off x="0" y="0"/>
              <a:ext cx="4809497" cy="76636"/>
            </a:xfrm>
            <a:custGeom>
              <a:avLst/>
              <a:gdLst/>
              <a:ahLst/>
              <a:cxnLst/>
              <a:rect r="r" b="b" t="t" l="l"/>
              <a:pathLst>
                <a:path h="76636" w="4809497">
                  <a:moveTo>
                    <a:pt x="0" y="38318"/>
                  </a:moveTo>
                  <a:cubicBezTo>
                    <a:pt x="0" y="17147"/>
                    <a:pt x="16249" y="0"/>
                    <a:pt x="36311" y="0"/>
                  </a:cubicBezTo>
                  <a:lnTo>
                    <a:pt x="4773186" y="0"/>
                  </a:lnTo>
                  <a:cubicBezTo>
                    <a:pt x="4793248" y="0"/>
                    <a:pt x="4809497" y="17147"/>
                    <a:pt x="4809497" y="38318"/>
                  </a:cubicBezTo>
                  <a:cubicBezTo>
                    <a:pt x="4809497" y="59489"/>
                    <a:pt x="4793248" y="76636"/>
                    <a:pt x="4773186" y="76636"/>
                  </a:cubicBezTo>
                  <a:lnTo>
                    <a:pt x="36311" y="76636"/>
                  </a:lnTo>
                  <a:cubicBezTo>
                    <a:pt x="16249" y="76636"/>
                    <a:pt x="0" y="59489"/>
                    <a:pt x="0" y="38318"/>
                  </a:cubicBezTo>
                  <a:close/>
                </a:path>
              </a:pathLst>
            </a:custGeom>
            <a:solidFill>
              <a:srgbClr val="FFFFFF"/>
            </a:solidFill>
          </p:spPr>
        </p:sp>
      </p:grpSp>
      <p:grpSp>
        <p:nvGrpSpPr>
          <p:cNvPr name="Group 34" id="34"/>
          <p:cNvGrpSpPr/>
          <p:nvPr/>
        </p:nvGrpSpPr>
        <p:grpSpPr>
          <a:xfrm rot="0">
            <a:off x="2040243" y="5493632"/>
            <a:ext cx="4364090" cy="69539"/>
            <a:chOff x="0" y="0"/>
            <a:chExt cx="4809519" cy="76636"/>
          </a:xfrm>
        </p:grpSpPr>
        <p:sp>
          <p:nvSpPr>
            <p:cNvPr name="Freeform 35" id="35"/>
            <p:cNvSpPr/>
            <p:nvPr/>
          </p:nvSpPr>
          <p:spPr>
            <a:xfrm flipH="false" flipV="false" rot="0">
              <a:off x="0" y="0"/>
              <a:ext cx="4809497" cy="76636"/>
            </a:xfrm>
            <a:custGeom>
              <a:avLst/>
              <a:gdLst/>
              <a:ahLst/>
              <a:cxnLst/>
              <a:rect r="r" b="b" t="t" l="l"/>
              <a:pathLst>
                <a:path h="76636" w="4809497">
                  <a:moveTo>
                    <a:pt x="0" y="38318"/>
                  </a:moveTo>
                  <a:cubicBezTo>
                    <a:pt x="0" y="17147"/>
                    <a:pt x="16249" y="0"/>
                    <a:pt x="36311" y="0"/>
                  </a:cubicBezTo>
                  <a:lnTo>
                    <a:pt x="4773186" y="0"/>
                  </a:lnTo>
                  <a:cubicBezTo>
                    <a:pt x="4793248" y="0"/>
                    <a:pt x="4809497" y="17147"/>
                    <a:pt x="4809497" y="38318"/>
                  </a:cubicBezTo>
                  <a:cubicBezTo>
                    <a:pt x="4809497" y="59489"/>
                    <a:pt x="4793248" y="76636"/>
                    <a:pt x="4773186" y="76636"/>
                  </a:cubicBezTo>
                  <a:lnTo>
                    <a:pt x="36311" y="76636"/>
                  </a:lnTo>
                  <a:cubicBezTo>
                    <a:pt x="16249" y="76636"/>
                    <a:pt x="0" y="59489"/>
                    <a:pt x="0" y="38318"/>
                  </a:cubicBezTo>
                  <a:close/>
                </a:path>
              </a:pathLst>
            </a:custGeom>
            <a:solidFill>
              <a:srgbClr val="FFFFFF"/>
            </a:solidFill>
          </p:spPr>
        </p:sp>
      </p:grpSp>
      <p:sp>
        <p:nvSpPr>
          <p:cNvPr name="Freeform 36" id="36"/>
          <p:cNvSpPr/>
          <p:nvPr/>
        </p:nvSpPr>
        <p:spPr>
          <a:xfrm flipH="false" flipV="false" rot="0">
            <a:off x="11494504" y="1680387"/>
            <a:ext cx="768839" cy="768839"/>
          </a:xfrm>
          <a:custGeom>
            <a:avLst/>
            <a:gdLst/>
            <a:ahLst/>
            <a:cxnLst/>
            <a:rect r="r" b="b" t="t" l="l"/>
            <a:pathLst>
              <a:path h="768839" w="768839">
                <a:moveTo>
                  <a:pt x="0" y="0"/>
                </a:moveTo>
                <a:lnTo>
                  <a:pt x="768838" y="0"/>
                </a:lnTo>
                <a:lnTo>
                  <a:pt x="768838" y="768838"/>
                </a:lnTo>
                <a:lnTo>
                  <a:pt x="0" y="768838"/>
                </a:lnTo>
                <a:lnTo>
                  <a:pt x="0" y="0"/>
                </a:lnTo>
                <a:close/>
              </a:path>
            </a:pathLst>
          </a:custGeom>
          <a:blipFill>
            <a:blip r:embed="rId16"/>
            <a:stretch>
              <a:fillRect l="0" t="0" r="0" b="0"/>
            </a:stretch>
          </a:blipFill>
        </p:spPr>
      </p:sp>
      <p:sp>
        <p:nvSpPr>
          <p:cNvPr name="Freeform 37" id="37"/>
          <p:cNvSpPr/>
          <p:nvPr/>
        </p:nvSpPr>
        <p:spPr>
          <a:xfrm flipH="false" flipV="false" rot="0">
            <a:off x="14897794" y="8947304"/>
            <a:ext cx="756830" cy="756830"/>
          </a:xfrm>
          <a:custGeom>
            <a:avLst/>
            <a:gdLst/>
            <a:ahLst/>
            <a:cxnLst/>
            <a:rect r="r" b="b" t="t" l="l"/>
            <a:pathLst>
              <a:path h="756830" w="756830">
                <a:moveTo>
                  <a:pt x="0" y="0"/>
                </a:moveTo>
                <a:lnTo>
                  <a:pt x="756830" y="0"/>
                </a:lnTo>
                <a:lnTo>
                  <a:pt x="756830" y="756830"/>
                </a:lnTo>
                <a:lnTo>
                  <a:pt x="0" y="756830"/>
                </a:lnTo>
                <a:lnTo>
                  <a:pt x="0" y="0"/>
                </a:lnTo>
                <a:close/>
              </a:path>
            </a:pathLst>
          </a:custGeom>
          <a:blipFill>
            <a:blip r:embed="rId17"/>
            <a:stretch>
              <a:fillRect l="0" t="0" r="0" b="0"/>
            </a:stretch>
          </a:blipFill>
        </p:spPr>
      </p:sp>
      <p:sp>
        <p:nvSpPr>
          <p:cNvPr name="Freeform 38" id="38"/>
          <p:cNvSpPr/>
          <p:nvPr/>
        </p:nvSpPr>
        <p:spPr>
          <a:xfrm flipH="false" flipV="false" rot="0">
            <a:off x="12718095" y="5185866"/>
            <a:ext cx="674347" cy="1097311"/>
          </a:xfrm>
          <a:custGeom>
            <a:avLst/>
            <a:gdLst/>
            <a:ahLst/>
            <a:cxnLst/>
            <a:rect r="r" b="b" t="t" l="l"/>
            <a:pathLst>
              <a:path h="1097311" w="674347">
                <a:moveTo>
                  <a:pt x="0" y="0"/>
                </a:moveTo>
                <a:lnTo>
                  <a:pt x="674347" y="0"/>
                </a:lnTo>
                <a:lnTo>
                  <a:pt x="674347" y="1097311"/>
                </a:lnTo>
                <a:lnTo>
                  <a:pt x="0" y="109731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9" id="39"/>
          <p:cNvSpPr/>
          <p:nvPr/>
        </p:nvSpPr>
        <p:spPr>
          <a:xfrm flipH="false" flipV="false" rot="0">
            <a:off x="11713402" y="3820539"/>
            <a:ext cx="659889" cy="687726"/>
          </a:xfrm>
          <a:custGeom>
            <a:avLst/>
            <a:gdLst/>
            <a:ahLst/>
            <a:cxnLst/>
            <a:rect r="r" b="b" t="t" l="l"/>
            <a:pathLst>
              <a:path h="687726" w="659889">
                <a:moveTo>
                  <a:pt x="0" y="0"/>
                </a:moveTo>
                <a:lnTo>
                  <a:pt x="659888" y="0"/>
                </a:lnTo>
                <a:lnTo>
                  <a:pt x="659888" y="687725"/>
                </a:lnTo>
                <a:lnTo>
                  <a:pt x="0" y="68772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40" id="40"/>
          <p:cNvSpPr txBox="true"/>
          <p:nvPr/>
        </p:nvSpPr>
        <p:spPr>
          <a:xfrm rot="0">
            <a:off x="3085586" y="8265145"/>
            <a:ext cx="2334004" cy="1153486"/>
          </a:xfrm>
          <a:prstGeom prst="rect">
            <a:avLst/>
          </a:prstGeom>
        </p:spPr>
        <p:txBody>
          <a:bodyPr anchor="t" rtlCol="false" tIns="0" lIns="0" bIns="0" rIns="0">
            <a:spAutoFit/>
          </a:bodyPr>
          <a:lstStyle/>
          <a:p>
            <a:pPr algn="ctr">
              <a:lnSpc>
                <a:spcPts val="3142"/>
              </a:lnSpc>
            </a:pPr>
            <a:r>
              <a:rPr lang="en-US" sz="2000">
                <a:solidFill>
                  <a:srgbClr val="E2E6E9"/>
                </a:solidFill>
                <a:latin typeface="Merriweather"/>
                <a:ea typeface="Merriweather"/>
                <a:cs typeface="Merriweather"/>
                <a:sym typeface="Merriweather"/>
              </a:rPr>
              <a:t>ICICI Bank Mumbai Branch </a:t>
            </a:r>
          </a:p>
          <a:p>
            <a:pPr algn="ctr">
              <a:lnSpc>
                <a:spcPts val="3142"/>
              </a:lnSpc>
            </a:pPr>
            <a:r>
              <a:rPr lang="en-US" sz="2000">
                <a:solidFill>
                  <a:srgbClr val="E2E6E9"/>
                </a:solidFill>
                <a:latin typeface="Merriweather"/>
                <a:ea typeface="Merriweather"/>
                <a:cs typeface="Merriweather"/>
                <a:sym typeface="Merriweather"/>
              </a:rPr>
              <a:t>(INR)</a:t>
            </a:r>
          </a:p>
        </p:txBody>
      </p:sp>
      <p:sp>
        <p:nvSpPr>
          <p:cNvPr name="TextBox 41" id="41"/>
          <p:cNvSpPr txBox="true"/>
          <p:nvPr/>
        </p:nvSpPr>
        <p:spPr>
          <a:xfrm rot="0">
            <a:off x="3408861" y="1396117"/>
            <a:ext cx="1687455" cy="1153432"/>
          </a:xfrm>
          <a:prstGeom prst="rect">
            <a:avLst/>
          </a:prstGeom>
        </p:spPr>
        <p:txBody>
          <a:bodyPr anchor="t" rtlCol="false" tIns="0" lIns="0" bIns="0" rIns="0">
            <a:spAutoFit/>
          </a:bodyPr>
          <a:lstStyle/>
          <a:p>
            <a:pPr algn="ctr">
              <a:lnSpc>
                <a:spcPts val="3142"/>
              </a:lnSpc>
            </a:pPr>
            <a:r>
              <a:rPr lang="en-US" sz="2000">
                <a:solidFill>
                  <a:srgbClr val="E2E6E9"/>
                </a:solidFill>
                <a:latin typeface="Merriweather"/>
                <a:ea typeface="Merriweather"/>
                <a:cs typeface="Merriweather"/>
                <a:sym typeface="Merriweather"/>
              </a:rPr>
              <a:t>JP Morgan Chase NY Branch(USD)</a:t>
            </a:r>
          </a:p>
        </p:txBody>
      </p:sp>
      <p:sp>
        <p:nvSpPr>
          <p:cNvPr name="TextBox 42" id="42"/>
          <p:cNvSpPr txBox="true"/>
          <p:nvPr/>
        </p:nvSpPr>
        <p:spPr>
          <a:xfrm rot="0">
            <a:off x="7683959" y="4962492"/>
            <a:ext cx="1356419" cy="786911"/>
          </a:xfrm>
          <a:prstGeom prst="rect">
            <a:avLst/>
          </a:prstGeom>
        </p:spPr>
        <p:txBody>
          <a:bodyPr anchor="t" rtlCol="false" tIns="0" lIns="0" bIns="0" rIns="0">
            <a:spAutoFit/>
          </a:bodyPr>
          <a:lstStyle/>
          <a:p>
            <a:pPr algn="ctr">
              <a:lnSpc>
                <a:spcPts val="3252"/>
              </a:lnSpc>
            </a:pPr>
            <a:r>
              <a:rPr lang="en-US" sz="2069">
                <a:solidFill>
                  <a:srgbClr val="E2E6E9"/>
                </a:solidFill>
                <a:latin typeface="Merriweather"/>
                <a:ea typeface="Merriweather"/>
                <a:cs typeface="Merriweather"/>
                <a:sym typeface="Merriweather"/>
              </a:rPr>
              <a:t>1-5 days of delay</a:t>
            </a:r>
          </a:p>
        </p:txBody>
      </p:sp>
      <p:sp>
        <p:nvSpPr>
          <p:cNvPr name="TextBox 43" id="43"/>
          <p:cNvSpPr txBox="true"/>
          <p:nvPr/>
        </p:nvSpPr>
        <p:spPr>
          <a:xfrm rot="0">
            <a:off x="2267214" y="535169"/>
            <a:ext cx="5448427" cy="436552"/>
          </a:xfrm>
          <a:prstGeom prst="rect">
            <a:avLst/>
          </a:prstGeom>
        </p:spPr>
        <p:txBody>
          <a:bodyPr anchor="t" rtlCol="false" tIns="0" lIns="0" bIns="0" rIns="0">
            <a:spAutoFit/>
          </a:bodyPr>
          <a:lstStyle/>
          <a:p>
            <a:pPr algn="l">
              <a:lnSpc>
                <a:spcPts val="3522"/>
              </a:lnSpc>
            </a:pPr>
            <a:r>
              <a:rPr lang="en-US" sz="2799" u="sng">
                <a:solidFill>
                  <a:srgbClr val="DAECFF"/>
                </a:solidFill>
                <a:latin typeface="Merriweather"/>
                <a:ea typeface="Merriweather"/>
                <a:cs typeface="Merriweather"/>
                <a:sym typeface="Merriweather"/>
              </a:rPr>
              <a:t>SWIFT Based Wire Settlement</a:t>
            </a:r>
          </a:p>
        </p:txBody>
      </p:sp>
      <p:sp>
        <p:nvSpPr>
          <p:cNvPr name="TextBox 44" id="44"/>
          <p:cNvSpPr txBox="true"/>
          <p:nvPr/>
        </p:nvSpPr>
        <p:spPr>
          <a:xfrm rot="0">
            <a:off x="14568586" y="2868343"/>
            <a:ext cx="1735376" cy="4893636"/>
          </a:xfrm>
          <a:prstGeom prst="rect">
            <a:avLst/>
          </a:prstGeom>
        </p:spPr>
        <p:txBody>
          <a:bodyPr anchor="t" rtlCol="false" tIns="0" lIns="0" bIns="0" rIns="0">
            <a:spAutoFit/>
          </a:bodyPr>
          <a:lstStyle/>
          <a:p>
            <a:pPr algn="ctr">
              <a:lnSpc>
                <a:spcPts val="41239"/>
              </a:lnSpc>
            </a:pPr>
            <a:r>
              <a:rPr lang="en-US" sz="26243">
                <a:solidFill>
                  <a:srgbClr val="E2E6E9"/>
                </a:solidFill>
                <a:latin typeface="Merriweather"/>
                <a:ea typeface="Merriweather"/>
                <a:cs typeface="Merriweather"/>
                <a:sym typeface="Merriweather"/>
              </a:rPr>
              <a:t>}</a:t>
            </a:r>
          </a:p>
        </p:txBody>
      </p:sp>
      <p:sp>
        <p:nvSpPr>
          <p:cNvPr name="TextBox 45" id="45"/>
          <p:cNvSpPr txBox="true"/>
          <p:nvPr/>
        </p:nvSpPr>
        <p:spPr>
          <a:xfrm rot="0">
            <a:off x="16106326" y="5552833"/>
            <a:ext cx="1941461" cy="372383"/>
          </a:xfrm>
          <a:prstGeom prst="rect">
            <a:avLst/>
          </a:prstGeom>
        </p:spPr>
        <p:txBody>
          <a:bodyPr anchor="t" rtlCol="false" tIns="0" lIns="0" bIns="0" rIns="0">
            <a:spAutoFit/>
          </a:bodyPr>
          <a:lstStyle/>
          <a:p>
            <a:pPr algn="ctr">
              <a:lnSpc>
                <a:spcPts val="3142"/>
              </a:lnSpc>
            </a:pPr>
            <a:r>
              <a:rPr lang="en-US" sz="1999">
                <a:solidFill>
                  <a:srgbClr val="E2E6E9"/>
                </a:solidFill>
                <a:latin typeface="Merriweather"/>
                <a:ea typeface="Merriweather"/>
                <a:cs typeface="Merriweather"/>
                <a:sym typeface="Merriweather"/>
              </a:rPr>
              <a:t>5 min</a:t>
            </a:r>
          </a:p>
        </p:txBody>
      </p:sp>
      <p:sp>
        <p:nvSpPr>
          <p:cNvPr name="TextBox 46" id="46"/>
          <p:cNvSpPr txBox="true"/>
          <p:nvPr/>
        </p:nvSpPr>
        <p:spPr>
          <a:xfrm rot="0">
            <a:off x="11128162" y="661965"/>
            <a:ext cx="5205081" cy="436552"/>
          </a:xfrm>
          <a:prstGeom prst="rect">
            <a:avLst/>
          </a:prstGeom>
        </p:spPr>
        <p:txBody>
          <a:bodyPr anchor="t" rtlCol="false" tIns="0" lIns="0" bIns="0" rIns="0">
            <a:spAutoFit/>
          </a:bodyPr>
          <a:lstStyle/>
          <a:p>
            <a:pPr algn="l">
              <a:lnSpc>
                <a:spcPts val="3522"/>
              </a:lnSpc>
            </a:pPr>
            <a:r>
              <a:rPr lang="en-US" sz="2799" u="sng">
                <a:solidFill>
                  <a:srgbClr val="DAECFF"/>
                </a:solidFill>
                <a:latin typeface="Merriweather"/>
                <a:ea typeface="Merriweather"/>
                <a:cs typeface="Merriweather"/>
                <a:sym typeface="Merriweather"/>
              </a:rPr>
              <a:t>Blockchain based Settlement</a:t>
            </a:r>
          </a:p>
        </p:txBody>
      </p:sp>
      <p:sp>
        <p:nvSpPr>
          <p:cNvPr name="TextBox 47" id="47"/>
          <p:cNvSpPr txBox="true"/>
          <p:nvPr/>
        </p:nvSpPr>
        <p:spPr>
          <a:xfrm rot="0">
            <a:off x="12683429" y="3691862"/>
            <a:ext cx="1735575" cy="1100628"/>
          </a:xfrm>
          <a:prstGeom prst="rect">
            <a:avLst/>
          </a:prstGeom>
        </p:spPr>
        <p:txBody>
          <a:bodyPr anchor="t" rtlCol="false" tIns="0" lIns="0" bIns="0" rIns="0">
            <a:spAutoFit/>
          </a:bodyPr>
          <a:lstStyle/>
          <a:p>
            <a:pPr algn="ctr">
              <a:lnSpc>
                <a:spcPts val="2219"/>
              </a:lnSpc>
            </a:pPr>
            <a:r>
              <a:rPr lang="en-US" sz="1412">
                <a:solidFill>
                  <a:srgbClr val="E2E6E9"/>
                </a:solidFill>
                <a:latin typeface="Merriweather"/>
                <a:ea typeface="Merriweather"/>
                <a:cs typeface="Merriweather"/>
                <a:sym typeface="Merriweather"/>
              </a:rPr>
              <a:t>Convert USD</a:t>
            </a:r>
          </a:p>
          <a:p>
            <a:pPr algn="ctr">
              <a:lnSpc>
                <a:spcPts val="2219"/>
              </a:lnSpc>
            </a:pPr>
            <a:r>
              <a:rPr lang="en-US" sz="1412">
                <a:solidFill>
                  <a:srgbClr val="E2E6E9"/>
                </a:solidFill>
                <a:latin typeface="Merriweather"/>
                <a:ea typeface="Merriweather"/>
                <a:cs typeface="Merriweather"/>
                <a:sym typeface="Merriweather"/>
              </a:rPr>
              <a:t> to USDC</a:t>
            </a:r>
          </a:p>
          <a:p>
            <a:pPr algn="ctr">
              <a:lnSpc>
                <a:spcPts val="2219"/>
              </a:lnSpc>
            </a:pPr>
            <a:r>
              <a:rPr lang="en-US" sz="1412">
                <a:solidFill>
                  <a:srgbClr val="E2E6E9"/>
                </a:solidFill>
                <a:latin typeface="Merriweather"/>
                <a:ea typeface="Merriweather"/>
                <a:cs typeface="Merriweather"/>
                <a:sym typeface="Merriweather"/>
              </a:rPr>
              <a:t>(Bridge.xyz)</a:t>
            </a:r>
          </a:p>
          <a:p>
            <a:pPr algn="ctr">
              <a:lnSpc>
                <a:spcPts val="2219"/>
              </a:lnSpc>
            </a:pPr>
          </a:p>
        </p:txBody>
      </p:sp>
      <p:sp>
        <p:nvSpPr>
          <p:cNvPr name="TextBox 48" id="48"/>
          <p:cNvSpPr txBox="true"/>
          <p:nvPr/>
        </p:nvSpPr>
        <p:spPr>
          <a:xfrm rot="0">
            <a:off x="12669975" y="6799972"/>
            <a:ext cx="1735575" cy="823109"/>
          </a:xfrm>
          <a:prstGeom prst="rect">
            <a:avLst/>
          </a:prstGeom>
        </p:spPr>
        <p:txBody>
          <a:bodyPr anchor="t" rtlCol="false" tIns="0" lIns="0" bIns="0" rIns="0">
            <a:spAutoFit/>
          </a:bodyPr>
          <a:lstStyle/>
          <a:p>
            <a:pPr algn="ctr">
              <a:lnSpc>
                <a:spcPts val="2219"/>
              </a:lnSpc>
            </a:pPr>
            <a:r>
              <a:rPr lang="en-US" sz="1412">
                <a:solidFill>
                  <a:srgbClr val="E2E6E9"/>
                </a:solidFill>
                <a:latin typeface="Merriweather"/>
                <a:ea typeface="Merriweather"/>
                <a:cs typeface="Merriweather"/>
                <a:sym typeface="Merriweather"/>
              </a:rPr>
              <a:t>Convert USDC </a:t>
            </a:r>
            <a:r>
              <a:rPr lang="en-US" sz="1412">
                <a:solidFill>
                  <a:srgbClr val="E2E6E9"/>
                </a:solidFill>
                <a:latin typeface="Merriweather"/>
                <a:ea typeface="Merriweather"/>
                <a:cs typeface="Merriweather"/>
                <a:sym typeface="Merriweather"/>
              </a:rPr>
              <a:t>to INR </a:t>
            </a:r>
          </a:p>
          <a:p>
            <a:pPr algn="ctr">
              <a:lnSpc>
                <a:spcPts val="2219"/>
              </a:lnSpc>
            </a:pPr>
            <a:r>
              <a:rPr lang="en-US" sz="1412">
                <a:solidFill>
                  <a:srgbClr val="E2E6E9"/>
                </a:solidFill>
                <a:latin typeface="Merriweather"/>
                <a:ea typeface="Merriweather"/>
                <a:cs typeface="Merriweather"/>
                <a:sym typeface="Merriweather"/>
              </a:rPr>
              <a:t>(Rail.io)</a:t>
            </a:r>
          </a:p>
        </p:txBody>
      </p:sp>
      <p:sp>
        <p:nvSpPr>
          <p:cNvPr name="TextBox 49" id="49"/>
          <p:cNvSpPr txBox="true"/>
          <p:nvPr/>
        </p:nvSpPr>
        <p:spPr>
          <a:xfrm rot="0">
            <a:off x="6029171" y="8265145"/>
            <a:ext cx="2013842" cy="1153486"/>
          </a:xfrm>
          <a:prstGeom prst="rect">
            <a:avLst/>
          </a:prstGeom>
        </p:spPr>
        <p:txBody>
          <a:bodyPr anchor="t" rtlCol="false" tIns="0" lIns="0" bIns="0" rIns="0">
            <a:spAutoFit/>
          </a:bodyPr>
          <a:lstStyle/>
          <a:p>
            <a:pPr algn="ctr">
              <a:lnSpc>
                <a:spcPts val="3142"/>
              </a:lnSpc>
            </a:pPr>
            <a:r>
              <a:rPr lang="en-US" sz="2000" u="sng">
                <a:solidFill>
                  <a:srgbClr val="E2E6E9"/>
                </a:solidFill>
                <a:latin typeface="Merriweather"/>
                <a:ea typeface="Merriweather"/>
                <a:cs typeface="Merriweather"/>
                <a:sym typeface="Merriweather"/>
              </a:rPr>
              <a:t>Neha Sharma’s </a:t>
            </a:r>
          </a:p>
          <a:p>
            <a:pPr algn="ctr">
              <a:lnSpc>
                <a:spcPts val="3142"/>
              </a:lnSpc>
            </a:pPr>
            <a:r>
              <a:rPr lang="en-US" sz="2000" u="sng">
                <a:solidFill>
                  <a:srgbClr val="E2E6E9"/>
                </a:solidFill>
                <a:latin typeface="Merriweather"/>
                <a:ea typeface="Merriweather"/>
                <a:cs typeface="Merriweather"/>
                <a:sym typeface="Merriweather"/>
              </a:rPr>
              <a:t>Bank account in India</a:t>
            </a:r>
          </a:p>
        </p:txBody>
      </p:sp>
      <p:sp>
        <p:nvSpPr>
          <p:cNvPr name="TextBox 50" id="50"/>
          <p:cNvSpPr txBox="true"/>
          <p:nvPr/>
        </p:nvSpPr>
        <p:spPr>
          <a:xfrm rot="0">
            <a:off x="5537000" y="1508136"/>
            <a:ext cx="2998183" cy="862733"/>
          </a:xfrm>
          <a:prstGeom prst="rect">
            <a:avLst/>
          </a:prstGeom>
        </p:spPr>
        <p:txBody>
          <a:bodyPr anchor="t" rtlCol="false" tIns="0" lIns="0" bIns="0" rIns="0">
            <a:spAutoFit/>
          </a:bodyPr>
          <a:lstStyle/>
          <a:p>
            <a:pPr algn="ctr">
              <a:lnSpc>
                <a:spcPts val="2356"/>
              </a:lnSpc>
            </a:pPr>
            <a:r>
              <a:rPr lang="en-US" sz="1500" u="sng">
                <a:solidFill>
                  <a:srgbClr val="E2E6E9"/>
                </a:solidFill>
                <a:latin typeface="Merriweather"/>
                <a:ea typeface="Merriweather"/>
                <a:cs typeface="Merriweather"/>
                <a:sym typeface="Merriweather"/>
              </a:rPr>
              <a:t>Mason Miller transfers  money to Neha Sharma’s </a:t>
            </a:r>
          </a:p>
          <a:p>
            <a:pPr algn="ctr">
              <a:lnSpc>
                <a:spcPts val="2357"/>
              </a:lnSpc>
            </a:pPr>
            <a:r>
              <a:rPr lang="en-US" sz="1500" u="sng">
                <a:solidFill>
                  <a:srgbClr val="E2E6E9"/>
                </a:solidFill>
                <a:latin typeface="Merriweather"/>
                <a:ea typeface="Merriweather"/>
                <a:cs typeface="Merriweather"/>
                <a:sym typeface="Merriweather"/>
              </a:rPr>
              <a:t>Bank account</a:t>
            </a:r>
          </a:p>
        </p:txBody>
      </p:sp>
      <p:sp>
        <p:nvSpPr>
          <p:cNvPr name="TextBox 51" id="51"/>
          <p:cNvSpPr txBox="true"/>
          <p:nvPr/>
        </p:nvSpPr>
        <p:spPr>
          <a:xfrm rot="0">
            <a:off x="2267214" y="6487912"/>
            <a:ext cx="4033102" cy="343717"/>
          </a:xfrm>
          <a:prstGeom prst="rect">
            <a:avLst/>
          </a:prstGeom>
        </p:spPr>
        <p:txBody>
          <a:bodyPr anchor="t" rtlCol="false" tIns="0" lIns="0" bIns="0" rIns="0">
            <a:spAutoFit/>
          </a:bodyPr>
          <a:lstStyle/>
          <a:p>
            <a:pPr algn="ctr">
              <a:lnSpc>
                <a:spcPts val="2828"/>
              </a:lnSpc>
            </a:pPr>
            <a:r>
              <a:rPr lang="en-US" sz="1799">
                <a:solidFill>
                  <a:srgbClr val="E2E6E9"/>
                </a:solidFill>
                <a:latin typeface="Merriweather"/>
                <a:ea typeface="Merriweather"/>
                <a:cs typeface="Merriweather"/>
                <a:sym typeface="Merriweather"/>
              </a:rPr>
              <a:t>Currency Conversion at ICICI bank</a:t>
            </a:r>
          </a:p>
        </p:txBody>
      </p:sp>
      <p:sp>
        <p:nvSpPr>
          <p:cNvPr name="TextBox 52" id="52"/>
          <p:cNvSpPr txBox="true"/>
          <p:nvPr/>
        </p:nvSpPr>
        <p:spPr>
          <a:xfrm rot="0">
            <a:off x="4601661" y="2992459"/>
            <a:ext cx="2895657" cy="610369"/>
          </a:xfrm>
          <a:prstGeom prst="rect">
            <a:avLst/>
          </a:prstGeom>
        </p:spPr>
        <p:txBody>
          <a:bodyPr anchor="t" rtlCol="false" tIns="0" lIns="0" bIns="0" rIns="0">
            <a:spAutoFit/>
          </a:bodyPr>
          <a:lstStyle/>
          <a:p>
            <a:pPr algn="ctr">
              <a:lnSpc>
                <a:spcPts val="2513"/>
              </a:lnSpc>
            </a:pPr>
            <a:r>
              <a:rPr lang="en-US" sz="1599">
                <a:solidFill>
                  <a:srgbClr val="E2E6E9"/>
                </a:solidFill>
                <a:latin typeface="Merriweather"/>
                <a:ea typeface="Merriweather"/>
                <a:cs typeface="Merriweather"/>
                <a:sym typeface="Merriweather"/>
              </a:rPr>
              <a:t>Messaging(SWIFT)</a:t>
            </a:r>
          </a:p>
          <a:p>
            <a:pPr algn="ctr">
              <a:lnSpc>
                <a:spcPts val="2514"/>
              </a:lnSpc>
            </a:pPr>
            <a:r>
              <a:rPr lang="en-US" sz="1599">
                <a:solidFill>
                  <a:srgbClr val="E2E6E9"/>
                </a:solidFill>
                <a:latin typeface="Merriweather"/>
                <a:ea typeface="Merriweather"/>
                <a:cs typeface="Merriweather"/>
                <a:sym typeface="Merriweather"/>
              </a:rPr>
              <a:t>(from jp morgan to Icici)</a:t>
            </a:r>
          </a:p>
        </p:txBody>
      </p:sp>
      <p:sp>
        <p:nvSpPr>
          <p:cNvPr name="TextBox 53" id="53"/>
          <p:cNvSpPr txBox="true"/>
          <p:nvPr/>
        </p:nvSpPr>
        <p:spPr>
          <a:xfrm rot="0">
            <a:off x="2092542" y="4759774"/>
            <a:ext cx="4259493" cy="696191"/>
          </a:xfrm>
          <a:prstGeom prst="rect">
            <a:avLst/>
          </a:prstGeom>
        </p:spPr>
        <p:txBody>
          <a:bodyPr anchor="t" rtlCol="false" tIns="0" lIns="0" bIns="0" rIns="0">
            <a:spAutoFit/>
          </a:bodyPr>
          <a:lstStyle/>
          <a:p>
            <a:pPr algn="ctr">
              <a:lnSpc>
                <a:spcPts val="2827"/>
              </a:lnSpc>
            </a:pPr>
            <a:r>
              <a:rPr lang="en-US" sz="1799">
                <a:solidFill>
                  <a:srgbClr val="E2E6E9"/>
                </a:solidFill>
                <a:latin typeface="Merriweather"/>
                <a:ea typeface="Merriweather"/>
                <a:cs typeface="Merriweather"/>
                <a:sym typeface="Merriweather"/>
              </a:rPr>
              <a:t>Bank of America </a:t>
            </a:r>
          </a:p>
          <a:p>
            <a:pPr algn="ctr">
              <a:lnSpc>
                <a:spcPts val="2828"/>
              </a:lnSpc>
            </a:pPr>
            <a:r>
              <a:rPr lang="en-US" sz="1799">
                <a:solidFill>
                  <a:srgbClr val="E2E6E9"/>
                </a:solidFill>
                <a:latin typeface="Merriweather"/>
                <a:ea typeface="Merriweather"/>
                <a:cs typeface="Merriweather"/>
                <a:sym typeface="Merriweather"/>
              </a:rPr>
              <a:t>(Holds Nostro Account of Icici Bank)</a:t>
            </a:r>
          </a:p>
        </p:txBody>
      </p:sp>
      <p:sp>
        <p:nvSpPr>
          <p:cNvPr name="TextBox 54" id="54"/>
          <p:cNvSpPr txBox="true"/>
          <p:nvPr/>
        </p:nvSpPr>
        <p:spPr>
          <a:xfrm rot="0">
            <a:off x="12718095" y="1449990"/>
            <a:ext cx="1687455" cy="1153432"/>
          </a:xfrm>
          <a:prstGeom prst="rect">
            <a:avLst/>
          </a:prstGeom>
        </p:spPr>
        <p:txBody>
          <a:bodyPr anchor="t" rtlCol="false" tIns="0" lIns="0" bIns="0" rIns="0">
            <a:spAutoFit/>
          </a:bodyPr>
          <a:lstStyle/>
          <a:p>
            <a:pPr algn="ctr">
              <a:lnSpc>
                <a:spcPts val="3142"/>
              </a:lnSpc>
            </a:pPr>
            <a:r>
              <a:rPr lang="en-US" sz="2000">
                <a:solidFill>
                  <a:srgbClr val="E2E6E9"/>
                </a:solidFill>
                <a:latin typeface="Merriweather"/>
                <a:ea typeface="Merriweather"/>
                <a:cs typeface="Merriweather"/>
                <a:sym typeface="Merriweather"/>
              </a:rPr>
              <a:t>JP Morgan Chase NY Branch(USD)</a:t>
            </a:r>
          </a:p>
        </p:txBody>
      </p:sp>
      <p:sp>
        <p:nvSpPr>
          <p:cNvPr name="TextBox 55" id="55"/>
          <p:cNvSpPr txBox="true"/>
          <p:nvPr/>
        </p:nvSpPr>
        <p:spPr>
          <a:xfrm rot="0">
            <a:off x="15006736" y="1609627"/>
            <a:ext cx="2998183" cy="862733"/>
          </a:xfrm>
          <a:prstGeom prst="rect">
            <a:avLst/>
          </a:prstGeom>
        </p:spPr>
        <p:txBody>
          <a:bodyPr anchor="t" rtlCol="false" tIns="0" lIns="0" bIns="0" rIns="0">
            <a:spAutoFit/>
          </a:bodyPr>
          <a:lstStyle/>
          <a:p>
            <a:pPr algn="ctr">
              <a:lnSpc>
                <a:spcPts val="2356"/>
              </a:lnSpc>
            </a:pPr>
            <a:r>
              <a:rPr lang="en-US" sz="1500" u="sng">
                <a:solidFill>
                  <a:srgbClr val="E2E6E9"/>
                </a:solidFill>
                <a:latin typeface="Merriweather"/>
                <a:ea typeface="Merriweather"/>
                <a:cs typeface="Merriweather"/>
                <a:sym typeface="Merriweather"/>
              </a:rPr>
              <a:t>Mason Miller transfers  money to Neha Sharma’s </a:t>
            </a:r>
          </a:p>
          <a:p>
            <a:pPr algn="ctr">
              <a:lnSpc>
                <a:spcPts val="2357"/>
              </a:lnSpc>
            </a:pPr>
            <a:r>
              <a:rPr lang="en-US" sz="1500" u="sng">
                <a:solidFill>
                  <a:srgbClr val="E2E6E9"/>
                </a:solidFill>
                <a:latin typeface="Merriweather"/>
                <a:ea typeface="Merriweather"/>
                <a:cs typeface="Merriweather"/>
                <a:sym typeface="Merriweather"/>
              </a:rPr>
              <a:t>Bank account</a:t>
            </a:r>
          </a:p>
        </p:txBody>
      </p:sp>
      <p:sp>
        <p:nvSpPr>
          <p:cNvPr name="TextBox 56" id="56"/>
          <p:cNvSpPr txBox="true"/>
          <p:nvPr/>
        </p:nvSpPr>
        <p:spPr>
          <a:xfrm rot="0">
            <a:off x="12373290" y="8550648"/>
            <a:ext cx="2334004" cy="1153486"/>
          </a:xfrm>
          <a:prstGeom prst="rect">
            <a:avLst/>
          </a:prstGeom>
        </p:spPr>
        <p:txBody>
          <a:bodyPr anchor="t" rtlCol="false" tIns="0" lIns="0" bIns="0" rIns="0">
            <a:spAutoFit/>
          </a:bodyPr>
          <a:lstStyle/>
          <a:p>
            <a:pPr algn="ctr">
              <a:lnSpc>
                <a:spcPts val="3142"/>
              </a:lnSpc>
            </a:pPr>
            <a:r>
              <a:rPr lang="en-US" sz="2000">
                <a:solidFill>
                  <a:srgbClr val="E2E6E9"/>
                </a:solidFill>
                <a:latin typeface="Merriweather"/>
                <a:ea typeface="Merriweather"/>
                <a:cs typeface="Merriweather"/>
                <a:sym typeface="Merriweather"/>
              </a:rPr>
              <a:t>ICICI Bank Mumbai Branch </a:t>
            </a:r>
          </a:p>
          <a:p>
            <a:pPr algn="ctr">
              <a:lnSpc>
                <a:spcPts val="3142"/>
              </a:lnSpc>
            </a:pPr>
            <a:r>
              <a:rPr lang="en-US" sz="2000">
                <a:solidFill>
                  <a:srgbClr val="E2E6E9"/>
                </a:solidFill>
                <a:latin typeface="Merriweather"/>
                <a:ea typeface="Merriweather"/>
                <a:cs typeface="Merriweather"/>
                <a:sym typeface="Merriweather"/>
              </a:rPr>
              <a:t>(INR)</a:t>
            </a:r>
          </a:p>
        </p:txBody>
      </p:sp>
      <p:sp>
        <p:nvSpPr>
          <p:cNvPr name="TextBox 57" id="57"/>
          <p:cNvSpPr txBox="true"/>
          <p:nvPr/>
        </p:nvSpPr>
        <p:spPr>
          <a:xfrm rot="0">
            <a:off x="10249500" y="8658521"/>
            <a:ext cx="2013842" cy="1153486"/>
          </a:xfrm>
          <a:prstGeom prst="rect">
            <a:avLst/>
          </a:prstGeom>
        </p:spPr>
        <p:txBody>
          <a:bodyPr anchor="t" rtlCol="false" tIns="0" lIns="0" bIns="0" rIns="0">
            <a:spAutoFit/>
          </a:bodyPr>
          <a:lstStyle/>
          <a:p>
            <a:pPr algn="ctr">
              <a:lnSpc>
                <a:spcPts val="3142"/>
              </a:lnSpc>
            </a:pPr>
            <a:r>
              <a:rPr lang="en-US" sz="2000" u="sng">
                <a:solidFill>
                  <a:srgbClr val="E2E6E9"/>
                </a:solidFill>
                <a:latin typeface="Merriweather"/>
                <a:ea typeface="Merriweather"/>
                <a:cs typeface="Merriweather"/>
                <a:sym typeface="Merriweather"/>
              </a:rPr>
              <a:t>Neha Sharma’s </a:t>
            </a:r>
          </a:p>
          <a:p>
            <a:pPr algn="ctr">
              <a:lnSpc>
                <a:spcPts val="3142"/>
              </a:lnSpc>
            </a:pPr>
            <a:r>
              <a:rPr lang="en-US" sz="2000" u="sng">
                <a:solidFill>
                  <a:srgbClr val="E2E6E9"/>
                </a:solidFill>
                <a:latin typeface="Merriweather"/>
                <a:ea typeface="Merriweather"/>
                <a:cs typeface="Merriweather"/>
                <a:sym typeface="Merriweather"/>
              </a:rPr>
              <a:t>Bank account in India</a:t>
            </a:r>
          </a:p>
        </p:txBody>
      </p:sp>
      <p:sp>
        <p:nvSpPr>
          <p:cNvPr name="TextBox 58" id="58"/>
          <p:cNvSpPr txBox="true"/>
          <p:nvPr/>
        </p:nvSpPr>
        <p:spPr>
          <a:xfrm rot="0">
            <a:off x="2028808" y="5539020"/>
            <a:ext cx="4271508" cy="696191"/>
          </a:xfrm>
          <a:prstGeom prst="rect">
            <a:avLst/>
          </a:prstGeom>
        </p:spPr>
        <p:txBody>
          <a:bodyPr anchor="t" rtlCol="false" tIns="0" lIns="0" bIns="0" rIns="0">
            <a:spAutoFit/>
          </a:bodyPr>
          <a:lstStyle/>
          <a:p>
            <a:pPr algn="ctr">
              <a:lnSpc>
                <a:spcPts val="2827"/>
              </a:lnSpc>
            </a:pPr>
            <a:r>
              <a:rPr lang="en-US" sz="1799">
                <a:solidFill>
                  <a:srgbClr val="E2E6E9"/>
                </a:solidFill>
                <a:latin typeface="Merriweather"/>
                <a:ea typeface="Merriweather"/>
                <a:cs typeface="Merriweather"/>
                <a:sym typeface="Merriweather"/>
              </a:rPr>
              <a:t>Messaging(SWIFT)</a:t>
            </a:r>
          </a:p>
          <a:p>
            <a:pPr algn="ctr">
              <a:lnSpc>
                <a:spcPts val="2828"/>
              </a:lnSpc>
            </a:pPr>
            <a:r>
              <a:rPr lang="en-US" sz="1799">
                <a:solidFill>
                  <a:srgbClr val="E2E6E9"/>
                </a:solidFill>
                <a:latin typeface="Merriweather"/>
                <a:ea typeface="Merriweather"/>
                <a:cs typeface="Merriweather"/>
                <a:sym typeface="Merriweather"/>
              </a:rPr>
              <a:t>(from Bank of America to Icici)</a:t>
            </a:r>
          </a:p>
        </p:txBody>
      </p:sp>
      <p:sp>
        <p:nvSpPr>
          <p:cNvPr name="TextBox 59" id="59"/>
          <p:cNvSpPr txBox="true"/>
          <p:nvPr/>
        </p:nvSpPr>
        <p:spPr>
          <a:xfrm rot="0">
            <a:off x="2040822" y="4194551"/>
            <a:ext cx="4259493" cy="343717"/>
          </a:xfrm>
          <a:prstGeom prst="rect">
            <a:avLst/>
          </a:prstGeom>
        </p:spPr>
        <p:txBody>
          <a:bodyPr anchor="t" rtlCol="false" tIns="0" lIns="0" bIns="0" rIns="0">
            <a:spAutoFit/>
          </a:bodyPr>
          <a:lstStyle/>
          <a:p>
            <a:pPr algn="ctr">
              <a:lnSpc>
                <a:spcPts val="2828"/>
              </a:lnSpc>
            </a:pPr>
            <a:r>
              <a:rPr lang="en-US" sz="1799">
                <a:solidFill>
                  <a:srgbClr val="E2E6E9"/>
                </a:solidFill>
                <a:latin typeface="Merriweather"/>
                <a:ea typeface="Merriweather"/>
                <a:cs typeface="Merriweather"/>
                <a:sym typeface="Merriweather"/>
              </a:rPr>
              <a:t>Fedwire system</a:t>
            </a:r>
          </a:p>
        </p:txBody>
      </p:sp>
      <p:sp>
        <p:nvSpPr>
          <p:cNvPr name="Freeform 60" id="60"/>
          <p:cNvSpPr/>
          <p:nvPr/>
        </p:nvSpPr>
        <p:spPr>
          <a:xfrm flipH="false" flipV="false" rot="0">
            <a:off x="11792995" y="6875747"/>
            <a:ext cx="659889" cy="687726"/>
          </a:xfrm>
          <a:custGeom>
            <a:avLst/>
            <a:gdLst/>
            <a:ahLst/>
            <a:cxnLst/>
            <a:rect r="r" b="b" t="t" l="l"/>
            <a:pathLst>
              <a:path h="687726" w="659889">
                <a:moveTo>
                  <a:pt x="0" y="0"/>
                </a:moveTo>
                <a:lnTo>
                  <a:pt x="659888" y="0"/>
                </a:lnTo>
                <a:lnTo>
                  <a:pt x="659888" y="687726"/>
                </a:lnTo>
                <a:lnTo>
                  <a:pt x="0" y="68772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0910"/>
            <a:ext cx="18288000" cy="10350032"/>
            <a:chOff x="0" y="0"/>
            <a:chExt cx="24384000" cy="13800043"/>
          </a:xfrm>
        </p:grpSpPr>
        <p:sp>
          <p:nvSpPr>
            <p:cNvPr name="Freeform 3" id="3" descr="preencoded.png"/>
            <p:cNvSpPr/>
            <p:nvPr/>
          </p:nvSpPr>
          <p:spPr>
            <a:xfrm flipH="false" flipV="false" rot="0">
              <a:off x="0" y="0"/>
              <a:ext cx="24384000" cy="13800043"/>
            </a:xfrm>
            <a:custGeom>
              <a:avLst/>
              <a:gdLst/>
              <a:ahLst/>
              <a:cxnLst/>
              <a:rect r="r" b="b" t="t" l="l"/>
              <a:pathLst>
                <a:path h="13800043" w="24384000">
                  <a:moveTo>
                    <a:pt x="0" y="0"/>
                  </a:moveTo>
                  <a:lnTo>
                    <a:pt x="24384000" y="0"/>
                  </a:lnTo>
                  <a:lnTo>
                    <a:pt x="24384000" y="13800043"/>
                  </a:lnTo>
                  <a:lnTo>
                    <a:pt x="0" y="13800043"/>
                  </a:lnTo>
                  <a:lnTo>
                    <a:pt x="0" y="0"/>
                  </a:lnTo>
                  <a:close/>
                </a:path>
              </a:pathLst>
            </a:custGeom>
            <a:blipFill>
              <a:blip r:embed="rId3"/>
              <a:stretch>
                <a:fillRect l="-306" t="0" r="-306" b="0"/>
              </a:stretch>
            </a:blipFill>
          </p:spPr>
        </p:sp>
      </p:grpSp>
      <p:grpSp>
        <p:nvGrpSpPr>
          <p:cNvPr name="Group 4" id="4"/>
          <p:cNvGrpSpPr/>
          <p:nvPr/>
        </p:nvGrpSpPr>
        <p:grpSpPr>
          <a:xfrm rot="0">
            <a:off x="-174790" y="-27984"/>
            <a:ext cx="18462790" cy="10343709"/>
            <a:chOff x="0" y="0"/>
            <a:chExt cx="24617053" cy="13791613"/>
          </a:xfrm>
        </p:grpSpPr>
        <p:sp>
          <p:nvSpPr>
            <p:cNvPr name="Freeform 5" id="5"/>
            <p:cNvSpPr/>
            <p:nvPr/>
          </p:nvSpPr>
          <p:spPr>
            <a:xfrm flipH="false" flipV="false" rot="0">
              <a:off x="0" y="0"/>
              <a:ext cx="24617052" cy="13791612"/>
            </a:xfrm>
            <a:custGeom>
              <a:avLst/>
              <a:gdLst/>
              <a:ahLst/>
              <a:cxnLst/>
              <a:rect r="r" b="b" t="t" l="l"/>
              <a:pathLst>
                <a:path h="13791612" w="24617052">
                  <a:moveTo>
                    <a:pt x="0" y="0"/>
                  </a:moveTo>
                  <a:lnTo>
                    <a:pt x="24617052" y="0"/>
                  </a:lnTo>
                  <a:lnTo>
                    <a:pt x="24617052" y="13791612"/>
                  </a:lnTo>
                  <a:lnTo>
                    <a:pt x="0" y="13791612"/>
                  </a:lnTo>
                  <a:close/>
                </a:path>
              </a:pathLst>
            </a:custGeom>
            <a:solidFill>
              <a:srgbClr val="022349">
                <a:alpha val="64706"/>
              </a:srgbClr>
            </a:solidFill>
          </p:spPr>
        </p:sp>
      </p:grpSp>
      <p:grpSp>
        <p:nvGrpSpPr>
          <p:cNvPr name="Group 6" id="6"/>
          <p:cNvGrpSpPr/>
          <p:nvPr/>
        </p:nvGrpSpPr>
        <p:grpSpPr>
          <a:xfrm rot="0">
            <a:off x="0" y="0"/>
            <a:ext cx="4702939" cy="10287000"/>
            <a:chOff x="0" y="0"/>
            <a:chExt cx="6270586" cy="13716000"/>
          </a:xfrm>
        </p:grpSpPr>
        <p:sp>
          <p:nvSpPr>
            <p:cNvPr name="Freeform 7" id="7" descr="preencoded.png"/>
            <p:cNvSpPr/>
            <p:nvPr/>
          </p:nvSpPr>
          <p:spPr>
            <a:xfrm flipH="false" flipV="false" rot="0">
              <a:off x="0" y="0"/>
              <a:ext cx="6270586" cy="13716000"/>
            </a:xfrm>
            <a:custGeom>
              <a:avLst/>
              <a:gdLst/>
              <a:ahLst/>
              <a:cxnLst/>
              <a:rect r="r" b="b" t="t" l="l"/>
              <a:pathLst>
                <a:path h="13716000" w="6270586">
                  <a:moveTo>
                    <a:pt x="0" y="0"/>
                  </a:moveTo>
                  <a:lnTo>
                    <a:pt x="6270586" y="0"/>
                  </a:lnTo>
                  <a:lnTo>
                    <a:pt x="6270586" y="13716000"/>
                  </a:lnTo>
                  <a:lnTo>
                    <a:pt x="0" y="13716000"/>
                  </a:lnTo>
                  <a:lnTo>
                    <a:pt x="0" y="0"/>
                  </a:lnTo>
                  <a:close/>
                </a:path>
              </a:pathLst>
            </a:custGeom>
            <a:blipFill>
              <a:blip r:embed="rId4"/>
              <a:stretch>
                <a:fillRect l="-22911" t="0" r="-22911" b="0"/>
              </a:stretch>
            </a:blipFill>
          </p:spPr>
        </p:sp>
      </p:grpSp>
      <p:sp>
        <p:nvSpPr>
          <p:cNvPr name="Freeform 8" id="8"/>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5"/>
            <a:stretch>
              <a:fillRect l="0" t="0" r="0" b="0"/>
            </a:stretch>
          </a:blipFill>
        </p:spPr>
      </p:sp>
      <p:grpSp>
        <p:nvGrpSpPr>
          <p:cNvPr name="Group 9" id="9"/>
          <p:cNvGrpSpPr/>
          <p:nvPr/>
        </p:nvGrpSpPr>
        <p:grpSpPr>
          <a:xfrm rot="0">
            <a:off x="5946435" y="1551952"/>
            <a:ext cx="5095545" cy="76941"/>
            <a:chOff x="0" y="0"/>
            <a:chExt cx="6728618" cy="101600"/>
          </a:xfrm>
        </p:grpSpPr>
        <p:sp>
          <p:nvSpPr>
            <p:cNvPr name="Freeform 10" id="10"/>
            <p:cNvSpPr/>
            <p:nvPr/>
          </p:nvSpPr>
          <p:spPr>
            <a:xfrm flipH="false" flipV="false" rot="0">
              <a:off x="0" y="0"/>
              <a:ext cx="6728587" cy="101600"/>
            </a:xfrm>
            <a:custGeom>
              <a:avLst/>
              <a:gdLst/>
              <a:ahLst/>
              <a:cxnLst/>
              <a:rect r="r" b="b" t="t" l="l"/>
              <a:pathLst>
                <a:path h="101600" w="6728587">
                  <a:moveTo>
                    <a:pt x="0" y="50800"/>
                  </a:moveTo>
                  <a:cubicBezTo>
                    <a:pt x="0" y="22733"/>
                    <a:pt x="22733" y="0"/>
                    <a:pt x="50800" y="0"/>
                  </a:cubicBezTo>
                  <a:lnTo>
                    <a:pt x="6677787" y="0"/>
                  </a:lnTo>
                  <a:cubicBezTo>
                    <a:pt x="6705854" y="0"/>
                    <a:pt x="6728587" y="22733"/>
                    <a:pt x="6728587" y="50800"/>
                  </a:cubicBezTo>
                  <a:cubicBezTo>
                    <a:pt x="6728587" y="78867"/>
                    <a:pt x="6705854" y="101600"/>
                    <a:pt x="6677787" y="101600"/>
                  </a:cubicBezTo>
                  <a:lnTo>
                    <a:pt x="50800" y="101600"/>
                  </a:lnTo>
                  <a:cubicBezTo>
                    <a:pt x="22733" y="101600"/>
                    <a:pt x="0" y="78867"/>
                    <a:pt x="0" y="50800"/>
                  </a:cubicBezTo>
                  <a:close/>
                </a:path>
              </a:pathLst>
            </a:custGeom>
            <a:solidFill>
              <a:srgbClr val="FFFFFF"/>
            </a:solidFill>
          </p:spPr>
        </p:sp>
      </p:grpSp>
      <p:grpSp>
        <p:nvGrpSpPr>
          <p:cNvPr name="Group 11" id="11"/>
          <p:cNvGrpSpPr/>
          <p:nvPr/>
        </p:nvGrpSpPr>
        <p:grpSpPr>
          <a:xfrm rot="5400000">
            <a:off x="7461940" y="5066374"/>
            <a:ext cx="7143940" cy="116578"/>
            <a:chOff x="0" y="0"/>
            <a:chExt cx="5524377" cy="90149"/>
          </a:xfrm>
        </p:grpSpPr>
        <p:sp>
          <p:nvSpPr>
            <p:cNvPr name="Freeform 12" id="12"/>
            <p:cNvSpPr/>
            <p:nvPr/>
          </p:nvSpPr>
          <p:spPr>
            <a:xfrm flipH="false" flipV="false" rot="0">
              <a:off x="0" y="0"/>
              <a:ext cx="5524352" cy="90149"/>
            </a:xfrm>
            <a:custGeom>
              <a:avLst/>
              <a:gdLst/>
              <a:ahLst/>
              <a:cxnLst/>
              <a:rect r="r" b="b" t="t" l="l"/>
              <a:pathLst>
                <a:path h="90149" w="5524352">
                  <a:moveTo>
                    <a:pt x="0" y="45075"/>
                  </a:moveTo>
                  <a:cubicBezTo>
                    <a:pt x="0" y="20171"/>
                    <a:pt x="18664" y="0"/>
                    <a:pt x="41708" y="0"/>
                  </a:cubicBezTo>
                  <a:lnTo>
                    <a:pt x="5482644" y="0"/>
                  </a:lnTo>
                  <a:cubicBezTo>
                    <a:pt x="5505688" y="0"/>
                    <a:pt x="5524352" y="20171"/>
                    <a:pt x="5524352" y="45075"/>
                  </a:cubicBezTo>
                  <a:cubicBezTo>
                    <a:pt x="5524352" y="69978"/>
                    <a:pt x="5505688" y="90149"/>
                    <a:pt x="5482644" y="90149"/>
                  </a:cubicBezTo>
                  <a:lnTo>
                    <a:pt x="41708" y="90149"/>
                  </a:lnTo>
                  <a:cubicBezTo>
                    <a:pt x="18664" y="90149"/>
                    <a:pt x="0" y="69978"/>
                    <a:pt x="0" y="45075"/>
                  </a:cubicBezTo>
                  <a:close/>
                </a:path>
              </a:pathLst>
            </a:custGeom>
            <a:solidFill>
              <a:srgbClr val="FFFFFF"/>
            </a:solidFill>
          </p:spPr>
        </p:sp>
      </p:grpSp>
      <p:grpSp>
        <p:nvGrpSpPr>
          <p:cNvPr name="Group 13" id="13"/>
          <p:cNvGrpSpPr/>
          <p:nvPr/>
        </p:nvGrpSpPr>
        <p:grpSpPr>
          <a:xfrm rot="0">
            <a:off x="6003886" y="8658218"/>
            <a:ext cx="5088196" cy="76830"/>
            <a:chOff x="0" y="0"/>
            <a:chExt cx="6728618" cy="101600"/>
          </a:xfrm>
        </p:grpSpPr>
        <p:sp>
          <p:nvSpPr>
            <p:cNvPr name="Freeform 14" id="14"/>
            <p:cNvSpPr/>
            <p:nvPr/>
          </p:nvSpPr>
          <p:spPr>
            <a:xfrm flipH="false" flipV="false" rot="0">
              <a:off x="0" y="0"/>
              <a:ext cx="6728587" cy="101600"/>
            </a:xfrm>
            <a:custGeom>
              <a:avLst/>
              <a:gdLst/>
              <a:ahLst/>
              <a:cxnLst/>
              <a:rect r="r" b="b" t="t" l="l"/>
              <a:pathLst>
                <a:path h="101600" w="6728587">
                  <a:moveTo>
                    <a:pt x="0" y="50800"/>
                  </a:moveTo>
                  <a:cubicBezTo>
                    <a:pt x="0" y="22733"/>
                    <a:pt x="22733" y="0"/>
                    <a:pt x="50800" y="0"/>
                  </a:cubicBezTo>
                  <a:lnTo>
                    <a:pt x="6677787" y="0"/>
                  </a:lnTo>
                  <a:cubicBezTo>
                    <a:pt x="6705854" y="0"/>
                    <a:pt x="6728587" y="22733"/>
                    <a:pt x="6728587" y="50800"/>
                  </a:cubicBezTo>
                  <a:cubicBezTo>
                    <a:pt x="6728587" y="78867"/>
                    <a:pt x="6705854" y="101600"/>
                    <a:pt x="6677787" y="101600"/>
                  </a:cubicBezTo>
                  <a:lnTo>
                    <a:pt x="50800" y="101600"/>
                  </a:lnTo>
                  <a:cubicBezTo>
                    <a:pt x="22733" y="101600"/>
                    <a:pt x="0" y="78867"/>
                    <a:pt x="0" y="50800"/>
                  </a:cubicBezTo>
                  <a:close/>
                </a:path>
              </a:pathLst>
            </a:custGeom>
            <a:solidFill>
              <a:srgbClr val="FFFFFF"/>
            </a:solidFill>
          </p:spPr>
        </p:sp>
      </p:grpSp>
      <p:grpSp>
        <p:nvGrpSpPr>
          <p:cNvPr name="Group 15" id="15"/>
          <p:cNvGrpSpPr/>
          <p:nvPr/>
        </p:nvGrpSpPr>
        <p:grpSpPr>
          <a:xfrm rot="5400000">
            <a:off x="2412709" y="5085398"/>
            <a:ext cx="7182355" cy="116945"/>
            <a:chOff x="0" y="0"/>
            <a:chExt cx="5536647" cy="90149"/>
          </a:xfrm>
        </p:grpSpPr>
        <p:sp>
          <p:nvSpPr>
            <p:cNvPr name="Freeform 16" id="16"/>
            <p:cNvSpPr/>
            <p:nvPr/>
          </p:nvSpPr>
          <p:spPr>
            <a:xfrm flipH="false" flipV="false" rot="0">
              <a:off x="0" y="0"/>
              <a:ext cx="5536621" cy="90149"/>
            </a:xfrm>
            <a:custGeom>
              <a:avLst/>
              <a:gdLst/>
              <a:ahLst/>
              <a:cxnLst/>
              <a:rect r="r" b="b" t="t" l="l"/>
              <a:pathLst>
                <a:path h="90149" w="5536621">
                  <a:moveTo>
                    <a:pt x="0" y="45075"/>
                  </a:moveTo>
                  <a:cubicBezTo>
                    <a:pt x="0" y="20171"/>
                    <a:pt x="18706" y="0"/>
                    <a:pt x="41801" y="0"/>
                  </a:cubicBezTo>
                  <a:lnTo>
                    <a:pt x="5494820" y="0"/>
                  </a:lnTo>
                  <a:cubicBezTo>
                    <a:pt x="5517915" y="0"/>
                    <a:pt x="5536621" y="20171"/>
                    <a:pt x="5536621" y="45075"/>
                  </a:cubicBezTo>
                  <a:cubicBezTo>
                    <a:pt x="5536621" y="69978"/>
                    <a:pt x="5517915" y="90149"/>
                    <a:pt x="5494820" y="90149"/>
                  </a:cubicBezTo>
                  <a:lnTo>
                    <a:pt x="41801" y="90149"/>
                  </a:lnTo>
                  <a:cubicBezTo>
                    <a:pt x="18706" y="90149"/>
                    <a:pt x="0" y="69978"/>
                    <a:pt x="0" y="45075"/>
                  </a:cubicBezTo>
                  <a:close/>
                </a:path>
              </a:pathLst>
            </a:custGeom>
            <a:solidFill>
              <a:srgbClr val="FFFFFF"/>
            </a:solidFill>
          </p:spPr>
        </p:sp>
      </p:grpSp>
      <p:grpSp>
        <p:nvGrpSpPr>
          <p:cNvPr name="Group 17" id="17"/>
          <p:cNvGrpSpPr/>
          <p:nvPr/>
        </p:nvGrpSpPr>
        <p:grpSpPr>
          <a:xfrm rot="0">
            <a:off x="6405966" y="3566696"/>
            <a:ext cx="4127402" cy="74264"/>
            <a:chOff x="0" y="0"/>
            <a:chExt cx="5503202" cy="99019"/>
          </a:xfrm>
        </p:grpSpPr>
        <p:sp>
          <p:nvSpPr>
            <p:cNvPr name="Freeform 18" id="18"/>
            <p:cNvSpPr/>
            <p:nvPr/>
          </p:nvSpPr>
          <p:spPr>
            <a:xfrm flipH="false" flipV="false" rot="0">
              <a:off x="0" y="0"/>
              <a:ext cx="5503177" cy="99019"/>
            </a:xfrm>
            <a:custGeom>
              <a:avLst/>
              <a:gdLst/>
              <a:ahLst/>
              <a:cxnLst/>
              <a:rect r="r" b="b" t="t" l="l"/>
              <a:pathLst>
                <a:path h="99019" w="5503177">
                  <a:moveTo>
                    <a:pt x="0" y="49510"/>
                  </a:moveTo>
                  <a:cubicBezTo>
                    <a:pt x="0" y="22156"/>
                    <a:pt x="18593" y="0"/>
                    <a:pt x="41548" y="0"/>
                  </a:cubicBezTo>
                  <a:lnTo>
                    <a:pt x="5461629" y="0"/>
                  </a:lnTo>
                  <a:cubicBezTo>
                    <a:pt x="5484584" y="0"/>
                    <a:pt x="5503177" y="22156"/>
                    <a:pt x="5503177" y="49510"/>
                  </a:cubicBezTo>
                  <a:cubicBezTo>
                    <a:pt x="5503177" y="76864"/>
                    <a:pt x="5484584" y="99019"/>
                    <a:pt x="5461629" y="99019"/>
                  </a:cubicBezTo>
                  <a:lnTo>
                    <a:pt x="41548" y="99019"/>
                  </a:lnTo>
                  <a:cubicBezTo>
                    <a:pt x="18593" y="99019"/>
                    <a:pt x="0" y="76864"/>
                    <a:pt x="0" y="49510"/>
                  </a:cubicBezTo>
                  <a:close/>
                </a:path>
              </a:pathLst>
            </a:custGeom>
            <a:solidFill>
              <a:srgbClr val="FFFFFF"/>
            </a:solidFill>
          </p:spPr>
        </p:sp>
      </p:grpSp>
      <p:grpSp>
        <p:nvGrpSpPr>
          <p:cNvPr name="Group 19" id="19"/>
          <p:cNvGrpSpPr/>
          <p:nvPr/>
        </p:nvGrpSpPr>
        <p:grpSpPr>
          <a:xfrm rot="0">
            <a:off x="6455558" y="5493046"/>
            <a:ext cx="4127402" cy="74264"/>
            <a:chOff x="0" y="0"/>
            <a:chExt cx="5503202" cy="99019"/>
          </a:xfrm>
        </p:grpSpPr>
        <p:sp>
          <p:nvSpPr>
            <p:cNvPr name="Freeform 20" id="20"/>
            <p:cNvSpPr/>
            <p:nvPr/>
          </p:nvSpPr>
          <p:spPr>
            <a:xfrm flipH="false" flipV="false" rot="0">
              <a:off x="0" y="0"/>
              <a:ext cx="5503177" cy="99019"/>
            </a:xfrm>
            <a:custGeom>
              <a:avLst/>
              <a:gdLst/>
              <a:ahLst/>
              <a:cxnLst/>
              <a:rect r="r" b="b" t="t" l="l"/>
              <a:pathLst>
                <a:path h="99019" w="5503177">
                  <a:moveTo>
                    <a:pt x="0" y="49510"/>
                  </a:moveTo>
                  <a:cubicBezTo>
                    <a:pt x="0" y="22156"/>
                    <a:pt x="18593" y="0"/>
                    <a:pt x="41548" y="0"/>
                  </a:cubicBezTo>
                  <a:lnTo>
                    <a:pt x="5461629" y="0"/>
                  </a:lnTo>
                  <a:cubicBezTo>
                    <a:pt x="5484584" y="0"/>
                    <a:pt x="5503177" y="22156"/>
                    <a:pt x="5503177" y="49510"/>
                  </a:cubicBezTo>
                  <a:cubicBezTo>
                    <a:pt x="5503177" y="76864"/>
                    <a:pt x="5484584" y="99019"/>
                    <a:pt x="5461629" y="99019"/>
                  </a:cubicBezTo>
                  <a:lnTo>
                    <a:pt x="41548" y="99019"/>
                  </a:lnTo>
                  <a:cubicBezTo>
                    <a:pt x="18593" y="99019"/>
                    <a:pt x="0" y="76864"/>
                    <a:pt x="0" y="49510"/>
                  </a:cubicBezTo>
                  <a:close/>
                </a:path>
              </a:pathLst>
            </a:custGeom>
            <a:solidFill>
              <a:srgbClr val="FFFFFF"/>
            </a:solidFill>
          </p:spPr>
        </p:sp>
      </p:grpSp>
      <p:sp>
        <p:nvSpPr>
          <p:cNvPr name="Freeform 21" id="21"/>
          <p:cNvSpPr/>
          <p:nvPr/>
        </p:nvSpPr>
        <p:spPr>
          <a:xfrm flipH="false" flipV="false" rot="0">
            <a:off x="6280656" y="2535566"/>
            <a:ext cx="483052" cy="586487"/>
          </a:xfrm>
          <a:custGeom>
            <a:avLst/>
            <a:gdLst/>
            <a:ahLst/>
            <a:cxnLst/>
            <a:rect r="r" b="b" t="t" l="l"/>
            <a:pathLst>
              <a:path h="586487" w="483052">
                <a:moveTo>
                  <a:pt x="0" y="0"/>
                </a:moveTo>
                <a:lnTo>
                  <a:pt x="483052" y="0"/>
                </a:lnTo>
                <a:lnTo>
                  <a:pt x="483052" y="586486"/>
                </a:lnTo>
                <a:lnTo>
                  <a:pt x="0" y="5864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6146306" y="4350447"/>
            <a:ext cx="397768" cy="651108"/>
          </a:xfrm>
          <a:custGeom>
            <a:avLst/>
            <a:gdLst/>
            <a:ahLst/>
            <a:cxnLst/>
            <a:rect r="r" b="b" t="t" l="l"/>
            <a:pathLst>
              <a:path h="651108" w="397768">
                <a:moveTo>
                  <a:pt x="0" y="0"/>
                </a:moveTo>
                <a:lnTo>
                  <a:pt x="397768" y="0"/>
                </a:lnTo>
                <a:lnTo>
                  <a:pt x="397768" y="651108"/>
                </a:lnTo>
                <a:lnTo>
                  <a:pt x="0" y="6511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6305950" y="4701417"/>
            <a:ext cx="514509" cy="514509"/>
          </a:xfrm>
          <a:custGeom>
            <a:avLst/>
            <a:gdLst/>
            <a:ahLst/>
            <a:cxnLst/>
            <a:rect r="r" b="b" t="t" l="l"/>
            <a:pathLst>
              <a:path h="514509" w="514509">
                <a:moveTo>
                  <a:pt x="0" y="0"/>
                </a:moveTo>
                <a:lnTo>
                  <a:pt x="514509" y="0"/>
                </a:lnTo>
                <a:lnTo>
                  <a:pt x="514509" y="514509"/>
                </a:lnTo>
                <a:lnTo>
                  <a:pt x="0" y="514509"/>
                </a:lnTo>
                <a:lnTo>
                  <a:pt x="0" y="0"/>
                </a:lnTo>
                <a:close/>
              </a:path>
            </a:pathLst>
          </a:custGeom>
          <a:blipFill>
            <a:blip r:embed="rId10"/>
            <a:stretch>
              <a:fillRect l="0" t="0" r="0" b="0"/>
            </a:stretch>
          </a:blipFill>
        </p:spPr>
      </p:sp>
      <p:sp>
        <p:nvSpPr>
          <p:cNvPr name="Freeform 24" id="24"/>
          <p:cNvSpPr/>
          <p:nvPr/>
        </p:nvSpPr>
        <p:spPr>
          <a:xfrm flipH="false" flipV="false" rot="0">
            <a:off x="6223904" y="6103232"/>
            <a:ext cx="640340" cy="597990"/>
          </a:xfrm>
          <a:custGeom>
            <a:avLst/>
            <a:gdLst/>
            <a:ahLst/>
            <a:cxnLst/>
            <a:rect r="r" b="b" t="t" l="l"/>
            <a:pathLst>
              <a:path h="597990" w="640340">
                <a:moveTo>
                  <a:pt x="0" y="0"/>
                </a:moveTo>
                <a:lnTo>
                  <a:pt x="640340" y="0"/>
                </a:lnTo>
                <a:lnTo>
                  <a:pt x="640340" y="597989"/>
                </a:lnTo>
                <a:lnTo>
                  <a:pt x="0" y="5979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5" id="25"/>
          <p:cNvGrpSpPr/>
          <p:nvPr/>
        </p:nvGrpSpPr>
        <p:grpSpPr>
          <a:xfrm rot="0">
            <a:off x="6455558" y="7071255"/>
            <a:ext cx="4127402" cy="74264"/>
            <a:chOff x="0" y="0"/>
            <a:chExt cx="5503202" cy="99019"/>
          </a:xfrm>
        </p:grpSpPr>
        <p:sp>
          <p:nvSpPr>
            <p:cNvPr name="Freeform 26" id="26"/>
            <p:cNvSpPr/>
            <p:nvPr/>
          </p:nvSpPr>
          <p:spPr>
            <a:xfrm flipH="false" flipV="false" rot="0">
              <a:off x="0" y="0"/>
              <a:ext cx="5503177" cy="99019"/>
            </a:xfrm>
            <a:custGeom>
              <a:avLst/>
              <a:gdLst/>
              <a:ahLst/>
              <a:cxnLst/>
              <a:rect r="r" b="b" t="t" l="l"/>
              <a:pathLst>
                <a:path h="99019" w="5503177">
                  <a:moveTo>
                    <a:pt x="0" y="49510"/>
                  </a:moveTo>
                  <a:cubicBezTo>
                    <a:pt x="0" y="22156"/>
                    <a:pt x="18593" y="0"/>
                    <a:pt x="41548" y="0"/>
                  </a:cubicBezTo>
                  <a:lnTo>
                    <a:pt x="5461629" y="0"/>
                  </a:lnTo>
                  <a:cubicBezTo>
                    <a:pt x="5484584" y="0"/>
                    <a:pt x="5503177" y="22156"/>
                    <a:pt x="5503177" y="49510"/>
                  </a:cubicBezTo>
                  <a:cubicBezTo>
                    <a:pt x="5503177" y="76864"/>
                    <a:pt x="5484584" y="99019"/>
                    <a:pt x="5461629" y="99019"/>
                  </a:cubicBezTo>
                  <a:lnTo>
                    <a:pt x="41548" y="99019"/>
                  </a:lnTo>
                  <a:cubicBezTo>
                    <a:pt x="18593" y="99019"/>
                    <a:pt x="0" y="76864"/>
                    <a:pt x="0" y="49510"/>
                  </a:cubicBezTo>
                  <a:close/>
                </a:path>
              </a:pathLst>
            </a:custGeom>
            <a:solidFill>
              <a:srgbClr val="FFFFFF"/>
            </a:solidFill>
          </p:spPr>
        </p:sp>
      </p:grpSp>
      <p:grpSp>
        <p:nvGrpSpPr>
          <p:cNvPr name="Group 27" id="27"/>
          <p:cNvGrpSpPr/>
          <p:nvPr/>
        </p:nvGrpSpPr>
        <p:grpSpPr>
          <a:xfrm rot="0">
            <a:off x="11878064" y="1516737"/>
            <a:ext cx="5095545" cy="76941"/>
            <a:chOff x="0" y="0"/>
            <a:chExt cx="6728618" cy="101600"/>
          </a:xfrm>
        </p:grpSpPr>
        <p:sp>
          <p:nvSpPr>
            <p:cNvPr name="Freeform 28" id="28"/>
            <p:cNvSpPr/>
            <p:nvPr/>
          </p:nvSpPr>
          <p:spPr>
            <a:xfrm flipH="false" flipV="false" rot="0">
              <a:off x="0" y="0"/>
              <a:ext cx="6728587" cy="101600"/>
            </a:xfrm>
            <a:custGeom>
              <a:avLst/>
              <a:gdLst/>
              <a:ahLst/>
              <a:cxnLst/>
              <a:rect r="r" b="b" t="t" l="l"/>
              <a:pathLst>
                <a:path h="101600" w="6728587">
                  <a:moveTo>
                    <a:pt x="0" y="50800"/>
                  </a:moveTo>
                  <a:cubicBezTo>
                    <a:pt x="0" y="22733"/>
                    <a:pt x="22733" y="0"/>
                    <a:pt x="50800" y="0"/>
                  </a:cubicBezTo>
                  <a:lnTo>
                    <a:pt x="6677787" y="0"/>
                  </a:lnTo>
                  <a:cubicBezTo>
                    <a:pt x="6705854" y="0"/>
                    <a:pt x="6728587" y="22733"/>
                    <a:pt x="6728587" y="50800"/>
                  </a:cubicBezTo>
                  <a:cubicBezTo>
                    <a:pt x="6728587" y="78867"/>
                    <a:pt x="6705854" y="101600"/>
                    <a:pt x="6677787" y="101600"/>
                  </a:cubicBezTo>
                  <a:lnTo>
                    <a:pt x="50800" y="101600"/>
                  </a:lnTo>
                  <a:cubicBezTo>
                    <a:pt x="22733" y="101600"/>
                    <a:pt x="0" y="78867"/>
                    <a:pt x="0" y="50800"/>
                  </a:cubicBezTo>
                  <a:close/>
                </a:path>
              </a:pathLst>
            </a:custGeom>
            <a:solidFill>
              <a:srgbClr val="FFFFFF"/>
            </a:solidFill>
          </p:spPr>
        </p:sp>
      </p:grpSp>
      <p:grpSp>
        <p:nvGrpSpPr>
          <p:cNvPr name="Group 29" id="29"/>
          <p:cNvGrpSpPr/>
          <p:nvPr/>
        </p:nvGrpSpPr>
        <p:grpSpPr>
          <a:xfrm rot="5400000">
            <a:off x="13393570" y="5031159"/>
            <a:ext cx="7143940" cy="116578"/>
            <a:chOff x="0" y="0"/>
            <a:chExt cx="5524377" cy="90149"/>
          </a:xfrm>
        </p:grpSpPr>
        <p:sp>
          <p:nvSpPr>
            <p:cNvPr name="Freeform 30" id="30"/>
            <p:cNvSpPr/>
            <p:nvPr/>
          </p:nvSpPr>
          <p:spPr>
            <a:xfrm flipH="false" flipV="false" rot="0">
              <a:off x="0" y="0"/>
              <a:ext cx="5524352" cy="90149"/>
            </a:xfrm>
            <a:custGeom>
              <a:avLst/>
              <a:gdLst/>
              <a:ahLst/>
              <a:cxnLst/>
              <a:rect r="r" b="b" t="t" l="l"/>
              <a:pathLst>
                <a:path h="90149" w="5524352">
                  <a:moveTo>
                    <a:pt x="0" y="45075"/>
                  </a:moveTo>
                  <a:cubicBezTo>
                    <a:pt x="0" y="20171"/>
                    <a:pt x="18664" y="0"/>
                    <a:pt x="41708" y="0"/>
                  </a:cubicBezTo>
                  <a:lnTo>
                    <a:pt x="5482644" y="0"/>
                  </a:lnTo>
                  <a:cubicBezTo>
                    <a:pt x="5505688" y="0"/>
                    <a:pt x="5524352" y="20171"/>
                    <a:pt x="5524352" y="45075"/>
                  </a:cubicBezTo>
                  <a:cubicBezTo>
                    <a:pt x="5524352" y="69978"/>
                    <a:pt x="5505688" y="90149"/>
                    <a:pt x="5482644" y="90149"/>
                  </a:cubicBezTo>
                  <a:lnTo>
                    <a:pt x="41708" y="90149"/>
                  </a:lnTo>
                  <a:cubicBezTo>
                    <a:pt x="18664" y="90149"/>
                    <a:pt x="0" y="69978"/>
                    <a:pt x="0" y="45075"/>
                  </a:cubicBezTo>
                  <a:close/>
                </a:path>
              </a:pathLst>
            </a:custGeom>
            <a:solidFill>
              <a:srgbClr val="FFFFFF"/>
            </a:solidFill>
          </p:spPr>
        </p:sp>
      </p:grpSp>
      <p:grpSp>
        <p:nvGrpSpPr>
          <p:cNvPr name="Group 31" id="31"/>
          <p:cNvGrpSpPr/>
          <p:nvPr/>
        </p:nvGrpSpPr>
        <p:grpSpPr>
          <a:xfrm rot="0">
            <a:off x="11935516" y="8623003"/>
            <a:ext cx="5088196" cy="76830"/>
            <a:chOff x="0" y="0"/>
            <a:chExt cx="6728618" cy="101600"/>
          </a:xfrm>
        </p:grpSpPr>
        <p:sp>
          <p:nvSpPr>
            <p:cNvPr name="Freeform 32" id="32"/>
            <p:cNvSpPr/>
            <p:nvPr/>
          </p:nvSpPr>
          <p:spPr>
            <a:xfrm flipH="false" flipV="false" rot="0">
              <a:off x="0" y="0"/>
              <a:ext cx="6728587" cy="101600"/>
            </a:xfrm>
            <a:custGeom>
              <a:avLst/>
              <a:gdLst/>
              <a:ahLst/>
              <a:cxnLst/>
              <a:rect r="r" b="b" t="t" l="l"/>
              <a:pathLst>
                <a:path h="101600" w="6728587">
                  <a:moveTo>
                    <a:pt x="0" y="50800"/>
                  </a:moveTo>
                  <a:cubicBezTo>
                    <a:pt x="0" y="22733"/>
                    <a:pt x="22733" y="0"/>
                    <a:pt x="50800" y="0"/>
                  </a:cubicBezTo>
                  <a:lnTo>
                    <a:pt x="6677787" y="0"/>
                  </a:lnTo>
                  <a:cubicBezTo>
                    <a:pt x="6705854" y="0"/>
                    <a:pt x="6728587" y="22733"/>
                    <a:pt x="6728587" y="50800"/>
                  </a:cubicBezTo>
                  <a:cubicBezTo>
                    <a:pt x="6728587" y="78867"/>
                    <a:pt x="6705854" y="101600"/>
                    <a:pt x="6677787" y="101600"/>
                  </a:cubicBezTo>
                  <a:lnTo>
                    <a:pt x="50800" y="101600"/>
                  </a:lnTo>
                  <a:cubicBezTo>
                    <a:pt x="22733" y="101600"/>
                    <a:pt x="0" y="78867"/>
                    <a:pt x="0" y="50800"/>
                  </a:cubicBezTo>
                  <a:close/>
                </a:path>
              </a:pathLst>
            </a:custGeom>
            <a:solidFill>
              <a:srgbClr val="FFFFFF"/>
            </a:solidFill>
          </p:spPr>
        </p:sp>
      </p:grpSp>
      <p:grpSp>
        <p:nvGrpSpPr>
          <p:cNvPr name="Group 33" id="33"/>
          <p:cNvGrpSpPr/>
          <p:nvPr/>
        </p:nvGrpSpPr>
        <p:grpSpPr>
          <a:xfrm rot="5400000">
            <a:off x="8344338" y="5050183"/>
            <a:ext cx="7182355" cy="116945"/>
            <a:chOff x="0" y="0"/>
            <a:chExt cx="5536647" cy="90149"/>
          </a:xfrm>
        </p:grpSpPr>
        <p:sp>
          <p:nvSpPr>
            <p:cNvPr name="Freeform 34" id="34"/>
            <p:cNvSpPr/>
            <p:nvPr/>
          </p:nvSpPr>
          <p:spPr>
            <a:xfrm flipH="false" flipV="false" rot="0">
              <a:off x="0" y="0"/>
              <a:ext cx="5536621" cy="90149"/>
            </a:xfrm>
            <a:custGeom>
              <a:avLst/>
              <a:gdLst/>
              <a:ahLst/>
              <a:cxnLst/>
              <a:rect r="r" b="b" t="t" l="l"/>
              <a:pathLst>
                <a:path h="90149" w="5536621">
                  <a:moveTo>
                    <a:pt x="0" y="45075"/>
                  </a:moveTo>
                  <a:cubicBezTo>
                    <a:pt x="0" y="20171"/>
                    <a:pt x="18706" y="0"/>
                    <a:pt x="41801" y="0"/>
                  </a:cubicBezTo>
                  <a:lnTo>
                    <a:pt x="5494820" y="0"/>
                  </a:lnTo>
                  <a:cubicBezTo>
                    <a:pt x="5517915" y="0"/>
                    <a:pt x="5536621" y="20171"/>
                    <a:pt x="5536621" y="45075"/>
                  </a:cubicBezTo>
                  <a:cubicBezTo>
                    <a:pt x="5536621" y="69978"/>
                    <a:pt x="5517915" y="90149"/>
                    <a:pt x="5494820" y="90149"/>
                  </a:cubicBezTo>
                  <a:lnTo>
                    <a:pt x="41801" y="90149"/>
                  </a:lnTo>
                  <a:cubicBezTo>
                    <a:pt x="18706" y="90149"/>
                    <a:pt x="0" y="69978"/>
                    <a:pt x="0" y="45075"/>
                  </a:cubicBezTo>
                  <a:close/>
                </a:path>
              </a:pathLst>
            </a:custGeom>
            <a:solidFill>
              <a:srgbClr val="FFFFFF"/>
            </a:solidFill>
          </p:spPr>
        </p:sp>
      </p:grpSp>
      <p:grpSp>
        <p:nvGrpSpPr>
          <p:cNvPr name="Group 35" id="35"/>
          <p:cNvGrpSpPr/>
          <p:nvPr/>
        </p:nvGrpSpPr>
        <p:grpSpPr>
          <a:xfrm rot="0">
            <a:off x="12337595" y="3531481"/>
            <a:ext cx="4127402" cy="74264"/>
            <a:chOff x="0" y="0"/>
            <a:chExt cx="5503202" cy="99019"/>
          </a:xfrm>
        </p:grpSpPr>
        <p:sp>
          <p:nvSpPr>
            <p:cNvPr name="Freeform 36" id="36"/>
            <p:cNvSpPr/>
            <p:nvPr/>
          </p:nvSpPr>
          <p:spPr>
            <a:xfrm flipH="false" flipV="false" rot="0">
              <a:off x="0" y="0"/>
              <a:ext cx="5503177" cy="99019"/>
            </a:xfrm>
            <a:custGeom>
              <a:avLst/>
              <a:gdLst/>
              <a:ahLst/>
              <a:cxnLst/>
              <a:rect r="r" b="b" t="t" l="l"/>
              <a:pathLst>
                <a:path h="99019" w="5503177">
                  <a:moveTo>
                    <a:pt x="0" y="49510"/>
                  </a:moveTo>
                  <a:cubicBezTo>
                    <a:pt x="0" y="22156"/>
                    <a:pt x="18593" y="0"/>
                    <a:pt x="41548" y="0"/>
                  </a:cubicBezTo>
                  <a:lnTo>
                    <a:pt x="5461629" y="0"/>
                  </a:lnTo>
                  <a:cubicBezTo>
                    <a:pt x="5484584" y="0"/>
                    <a:pt x="5503177" y="22156"/>
                    <a:pt x="5503177" y="49510"/>
                  </a:cubicBezTo>
                  <a:cubicBezTo>
                    <a:pt x="5503177" y="76864"/>
                    <a:pt x="5484584" y="99019"/>
                    <a:pt x="5461629" y="99019"/>
                  </a:cubicBezTo>
                  <a:lnTo>
                    <a:pt x="41548" y="99019"/>
                  </a:lnTo>
                  <a:cubicBezTo>
                    <a:pt x="18593" y="99019"/>
                    <a:pt x="0" y="76864"/>
                    <a:pt x="0" y="49510"/>
                  </a:cubicBezTo>
                  <a:close/>
                </a:path>
              </a:pathLst>
            </a:custGeom>
            <a:solidFill>
              <a:srgbClr val="FFFFFF"/>
            </a:solidFill>
          </p:spPr>
        </p:sp>
      </p:grpSp>
      <p:grpSp>
        <p:nvGrpSpPr>
          <p:cNvPr name="Group 37" id="37"/>
          <p:cNvGrpSpPr/>
          <p:nvPr/>
        </p:nvGrpSpPr>
        <p:grpSpPr>
          <a:xfrm rot="0">
            <a:off x="12387187" y="5457831"/>
            <a:ext cx="4127402" cy="74264"/>
            <a:chOff x="0" y="0"/>
            <a:chExt cx="5503202" cy="99019"/>
          </a:xfrm>
        </p:grpSpPr>
        <p:sp>
          <p:nvSpPr>
            <p:cNvPr name="Freeform 38" id="38"/>
            <p:cNvSpPr/>
            <p:nvPr/>
          </p:nvSpPr>
          <p:spPr>
            <a:xfrm flipH="false" flipV="false" rot="0">
              <a:off x="0" y="0"/>
              <a:ext cx="5503177" cy="99019"/>
            </a:xfrm>
            <a:custGeom>
              <a:avLst/>
              <a:gdLst/>
              <a:ahLst/>
              <a:cxnLst/>
              <a:rect r="r" b="b" t="t" l="l"/>
              <a:pathLst>
                <a:path h="99019" w="5503177">
                  <a:moveTo>
                    <a:pt x="0" y="49510"/>
                  </a:moveTo>
                  <a:cubicBezTo>
                    <a:pt x="0" y="22156"/>
                    <a:pt x="18593" y="0"/>
                    <a:pt x="41548" y="0"/>
                  </a:cubicBezTo>
                  <a:lnTo>
                    <a:pt x="5461629" y="0"/>
                  </a:lnTo>
                  <a:cubicBezTo>
                    <a:pt x="5484584" y="0"/>
                    <a:pt x="5503177" y="22156"/>
                    <a:pt x="5503177" y="49510"/>
                  </a:cubicBezTo>
                  <a:cubicBezTo>
                    <a:pt x="5503177" y="76864"/>
                    <a:pt x="5484584" y="99019"/>
                    <a:pt x="5461629" y="99019"/>
                  </a:cubicBezTo>
                  <a:lnTo>
                    <a:pt x="41548" y="99019"/>
                  </a:lnTo>
                  <a:cubicBezTo>
                    <a:pt x="18593" y="99019"/>
                    <a:pt x="0" y="76864"/>
                    <a:pt x="0" y="49510"/>
                  </a:cubicBezTo>
                  <a:close/>
                </a:path>
              </a:pathLst>
            </a:custGeom>
            <a:solidFill>
              <a:srgbClr val="FFFFFF"/>
            </a:solidFill>
          </p:spPr>
        </p:sp>
      </p:grpSp>
      <p:sp>
        <p:nvSpPr>
          <p:cNvPr name="Freeform 39" id="39"/>
          <p:cNvSpPr/>
          <p:nvPr/>
        </p:nvSpPr>
        <p:spPr>
          <a:xfrm flipH="false" flipV="false" rot="0">
            <a:off x="12185750" y="2506525"/>
            <a:ext cx="490751" cy="595834"/>
          </a:xfrm>
          <a:custGeom>
            <a:avLst/>
            <a:gdLst/>
            <a:ahLst/>
            <a:cxnLst/>
            <a:rect r="r" b="b" t="t" l="l"/>
            <a:pathLst>
              <a:path h="595834" w="490751">
                <a:moveTo>
                  <a:pt x="0" y="0"/>
                </a:moveTo>
                <a:lnTo>
                  <a:pt x="490750" y="0"/>
                </a:lnTo>
                <a:lnTo>
                  <a:pt x="490750" y="595834"/>
                </a:lnTo>
                <a:lnTo>
                  <a:pt x="0" y="5958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false" flipV="false" rot="0">
            <a:off x="12179621" y="4350447"/>
            <a:ext cx="415132" cy="679531"/>
          </a:xfrm>
          <a:custGeom>
            <a:avLst/>
            <a:gdLst/>
            <a:ahLst/>
            <a:cxnLst/>
            <a:rect r="r" b="b" t="t" l="l"/>
            <a:pathLst>
              <a:path h="679531" w="415132">
                <a:moveTo>
                  <a:pt x="0" y="0"/>
                </a:moveTo>
                <a:lnTo>
                  <a:pt x="415132" y="0"/>
                </a:lnTo>
                <a:lnTo>
                  <a:pt x="415132" y="679531"/>
                </a:lnTo>
                <a:lnTo>
                  <a:pt x="0" y="6795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1" id="41"/>
          <p:cNvSpPr/>
          <p:nvPr/>
        </p:nvSpPr>
        <p:spPr>
          <a:xfrm flipH="false" flipV="false" rot="0">
            <a:off x="12387187" y="4701417"/>
            <a:ext cx="473594" cy="473594"/>
          </a:xfrm>
          <a:custGeom>
            <a:avLst/>
            <a:gdLst/>
            <a:ahLst/>
            <a:cxnLst/>
            <a:rect r="r" b="b" t="t" l="l"/>
            <a:pathLst>
              <a:path h="473594" w="473594">
                <a:moveTo>
                  <a:pt x="0" y="0"/>
                </a:moveTo>
                <a:lnTo>
                  <a:pt x="473594" y="0"/>
                </a:lnTo>
                <a:lnTo>
                  <a:pt x="473594" y="473593"/>
                </a:lnTo>
                <a:lnTo>
                  <a:pt x="0" y="473593"/>
                </a:lnTo>
                <a:lnTo>
                  <a:pt x="0" y="0"/>
                </a:lnTo>
                <a:close/>
              </a:path>
            </a:pathLst>
          </a:custGeom>
          <a:blipFill>
            <a:blip r:embed="rId10"/>
            <a:stretch>
              <a:fillRect l="0" t="0" r="0" b="0"/>
            </a:stretch>
          </a:blipFill>
        </p:spPr>
      </p:sp>
      <p:sp>
        <p:nvSpPr>
          <p:cNvPr name="Freeform 42" id="42"/>
          <p:cNvSpPr/>
          <p:nvPr/>
        </p:nvSpPr>
        <p:spPr>
          <a:xfrm flipH="false" flipV="false" rot="0">
            <a:off x="12274583" y="6103232"/>
            <a:ext cx="640340" cy="597990"/>
          </a:xfrm>
          <a:custGeom>
            <a:avLst/>
            <a:gdLst/>
            <a:ahLst/>
            <a:cxnLst/>
            <a:rect r="r" b="b" t="t" l="l"/>
            <a:pathLst>
              <a:path h="597990" w="640340">
                <a:moveTo>
                  <a:pt x="0" y="0"/>
                </a:moveTo>
                <a:lnTo>
                  <a:pt x="640340" y="0"/>
                </a:lnTo>
                <a:lnTo>
                  <a:pt x="640340" y="597989"/>
                </a:lnTo>
                <a:lnTo>
                  <a:pt x="0" y="5979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3" id="43"/>
          <p:cNvGrpSpPr/>
          <p:nvPr/>
        </p:nvGrpSpPr>
        <p:grpSpPr>
          <a:xfrm rot="0">
            <a:off x="12387187" y="7036040"/>
            <a:ext cx="4127402" cy="74264"/>
            <a:chOff x="0" y="0"/>
            <a:chExt cx="5503202" cy="99019"/>
          </a:xfrm>
        </p:grpSpPr>
        <p:sp>
          <p:nvSpPr>
            <p:cNvPr name="Freeform 44" id="44"/>
            <p:cNvSpPr/>
            <p:nvPr/>
          </p:nvSpPr>
          <p:spPr>
            <a:xfrm flipH="false" flipV="false" rot="0">
              <a:off x="0" y="0"/>
              <a:ext cx="5503177" cy="99019"/>
            </a:xfrm>
            <a:custGeom>
              <a:avLst/>
              <a:gdLst/>
              <a:ahLst/>
              <a:cxnLst/>
              <a:rect r="r" b="b" t="t" l="l"/>
              <a:pathLst>
                <a:path h="99019" w="5503177">
                  <a:moveTo>
                    <a:pt x="0" y="49510"/>
                  </a:moveTo>
                  <a:cubicBezTo>
                    <a:pt x="0" y="22156"/>
                    <a:pt x="18593" y="0"/>
                    <a:pt x="41548" y="0"/>
                  </a:cubicBezTo>
                  <a:lnTo>
                    <a:pt x="5461629" y="0"/>
                  </a:lnTo>
                  <a:cubicBezTo>
                    <a:pt x="5484584" y="0"/>
                    <a:pt x="5503177" y="22156"/>
                    <a:pt x="5503177" y="49510"/>
                  </a:cubicBezTo>
                  <a:cubicBezTo>
                    <a:pt x="5503177" y="76864"/>
                    <a:pt x="5484584" y="99019"/>
                    <a:pt x="5461629" y="99019"/>
                  </a:cubicBezTo>
                  <a:lnTo>
                    <a:pt x="41548" y="99019"/>
                  </a:lnTo>
                  <a:cubicBezTo>
                    <a:pt x="18593" y="99019"/>
                    <a:pt x="0" y="76864"/>
                    <a:pt x="0" y="49510"/>
                  </a:cubicBezTo>
                  <a:close/>
                </a:path>
              </a:pathLst>
            </a:custGeom>
            <a:solidFill>
              <a:srgbClr val="FFFFFF"/>
            </a:solidFill>
          </p:spPr>
        </p:sp>
      </p:grpSp>
      <p:sp>
        <p:nvSpPr>
          <p:cNvPr name="Freeform 45" id="45"/>
          <p:cNvSpPr/>
          <p:nvPr/>
        </p:nvSpPr>
        <p:spPr>
          <a:xfrm flipH="false" flipV="false" rot="0">
            <a:off x="6163852" y="7488420"/>
            <a:ext cx="798705" cy="771113"/>
          </a:xfrm>
          <a:custGeom>
            <a:avLst/>
            <a:gdLst/>
            <a:ahLst/>
            <a:cxnLst/>
            <a:rect r="r" b="b" t="t" l="l"/>
            <a:pathLst>
              <a:path h="771113" w="798705">
                <a:moveTo>
                  <a:pt x="0" y="0"/>
                </a:moveTo>
                <a:lnTo>
                  <a:pt x="798705" y="0"/>
                </a:lnTo>
                <a:lnTo>
                  <a:pt x="798705" y="771113"/>
                </a:lnTo>
                <a:lnTo>
                  <a:pt x="0" y="77111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6" id="46"/>
          <p:cNvSpPr txBox="true"/>
          <p:nvPr/>
        </p:nvSpPr>
        <p:spPr>
          <a:xfrm rot="0">
            <a:off x="9215778" y="531852"/>
            <a:ext cx="4502261" cy="613410"/>
          </a:xfrm>
          <a:prstGeom prst="rect">
            <a:avLst/>
          </a:prstGeom>
        </p:spPr>
        <p:txBody>
          <a:bodyPr anchor="t" rtlCol="false" tIns="0" lIns="0" bIns="0" rIns="0">
            <a:spAutoFit/>
          </a:bodyPr>
          <a:lstStyle/>
          <a:p>
            <a:pPr algn="l">
              <a:lnSpc>
                <a:spcPts val="5280"/>
              </a:lnSpc>
            </a:pPr>
            <a:r>
              <a:rPr lang="en-US" sz="3300" i="true" u="sng">
                <a:solidFill>
                  <a:srgbClr val="DAECFF"/>
                </a:solidFill>
                <a:latin typeface="Merriweather Italics"/>
                <a:ea typeface="Merriweather Italics"/>
                <a:cs typeface="Merriweather Italics"/>
                <a:sym typeface="Merriweather Italics"/>
              </a:rPr>
              <a:t>SWIFT </a:t>
            </a:r>
            <a:r>
              <a:rPr lang="en-US" sz="3300" i="true">
                <a:solidFill>
                  <a:srgbClr val="DAECFF"/>
                </a:solidFill>
                <a:latin typeface="Merriweather Italics"/>
                <a:ea typeface="Merriweather Italics"/>
                <a:cs typeface="Merriweather Italics"/>
                <a:sym typeface="Merriweather Italics"/>
              </a:rPr>
              <a:t> </a:t>
            </a:r>
            <a:r>
              <a:rPr lang="en-US" sz="3300" i="true" u="sng">
                <a:solidFill>
                  <a:srgbClr val="DAECFF"/>
                </a:solidFill>
                <a:latin typeface="Merriweather Italics"/>
                <a:ea typeface="Merriweather Italics"/>
                <a:cs typeface="Merriweather Italics"/>
                <a:sym typeface="Merriweather Italics"/>
              </a:rPr>
              <a:t>VS</a:t>
            </a:r>
            <a:r>
              <a:rPr lang="en-US" sz="3300" i="true">
                <a:solidFill>
                  <a:srgbClr val="DAECFF"/>
                </a:solidFill>
                <a:latin typeface="Merriweather Italics"/>
                <a:ea typeface="Merriweather Italics"/>
                <a:cs typeface="Merriweather Italics"/>
                <a:sym typeface="Merriweather Italics"/>
              </a:rPr>
              <a:t> </a:t>
            </a:r>
            <a:r>
              <a:rPr lang="en-US" sz="3300" i="true" u="sng">
                <a:solidFill>
                  <a:srgbClr val="DAECFF"/>
                </a:solidFill>
                <a:latin typeface="Merriweather Italics"/>
                <a:ea typeface="Merriweather Italics"/>
                <a:cs typeface="Merriweather Italics"/>
                <a:sym typeface="Merriweather Italics"/>
              </a:rPr>
              <a:t> Blockchain</a:t>
            </a:r>
          </a:p>
        </p:txBody>
      </p:sp>
      <p:sp>
        <p:nvSpPr>
          <p:cNvPr name="TextBox 47" id="47"/>
          <p:cNvSpPr txBox="true"/>
          <p:nvPr/>
        </p:nvSpPr>
        <p:spPr>
          <a:xfrm rot="0">
            <a:off x="6745140" y="2756817"/>
            <a:ext cx="3548238" cy="271553"/>
          </a:xfrm>
          <a:prstGeom prst="rect">
            <a:avLst/>
          </a:prstGeom>
        </p:spPr>
        <p:txBody>
          <a:bodyPr anchor="t" rtlCol="false" tIns="0" lIns="0" bIns="0" rIns="0">
            <a:spAutoFit/>
          </a:bodyPr>
          <a:lstStyle/>
          <a:p>
            <a:pPr algn="ctr">
              <a:lnSpc>
                <a:spcPts val="2376"/>
              </a:lnSpc>
            </a:pPr>
            <a:r>
              <a:rPr lang="en-US" sz="1512" b="true">
                <a:solidFill>
                  <a:srgbClr val="E2E6E9"/>
                </a:solidFill>
                <a:latin typeface="Merriweather Bold"/>
                <a:ea typeface="Merriweather Bold"/>
                <a:cs typeface="Merriweather Bold"/>
                <a:sym typeface="Merriweather Bold"/>
              </a:rPr>
              <a:t>Takes around 1-5 Business days</a:t>
            </a:r>
          </a:p>
        </p:txBody>
      </p:sp>
      <p:sp>
        <p:nvSpPr>
          <p:cNvPr name="TextBox 48" id="48"/>
          <p:cNvSpPr txBox="true"/>
          <p:nvPr/>
        </p:nvSpPr>
        <p:spPr>
          <a:xfrm rot="0">
            <a:off x="8168869" y="3879749"/>
            <a:ext cx="650678" cy="271553"/>
          </a:xfrm>
          <a:prstGeom prst="rect">
            <a:avLst/>
          </a:prstGeom>
        </p:spPr>
        <p:txBody>
          <a:bodyPr anchor="t" rtlCol="false" tIns="0" lIns="0" bIns="0" rIns="0">
            <a:spAutoFit/>
          </a:bodyPr>
          <a:lstStyle/>
          <a:p>
            <a:pPr algn="ctr">
              <a:lnSpc>
                <a:spcPts val="2376"/>
              </a:lnSpc>
            </a:pPr>
            <a:r>
              <a:rPr lang="en-US" b="true" sz="1512" u="sng">
                <a:solidFill>
                  <a:srgbClr val="E2E6E9"/>
                </a:solidFill>
                <a:latin typeface="Merriweather Bold"/>
                <a:ea typeface="Merriweather Bold"/>
                <a:cs typeface="Merriweather Bold"/>
                <a:sym typeface="Merriweather Bold"/>
              </a:rPr>
              <a:t>COST </a:t>
            </a:r>
          </a:p>
        </p:txBody>
      </p:sp>
      <p:sp>
        <p:nvSpPr>
          <p:cNvPr name="TextBox 49" id="49"/>
          <p:cNvSpPr txBox="true"/>
          <p:nvPr/>
        </p:nvSpPr>
        <p:spPr>
          <a:xfrm rot="0">
            <a:off x="6538231" y="4345193"/>
            <a:ext cx="3862871" cy="566828"/>
          </a:xfrm>
          <a:prstGeom prst="rect">
            <a:avLst/>
          </a:prstGeom>
        </p:spPr>
        <p:txBody>
          <a:bodyPr anchor="t" rtlCol="false" tIns="0" lIns="0" bIns="0" rIns="0">
            <a:spAutoFit/>
          </a:bodyPr>
          <a:lstStyle/>
          <a:p>
            <a:pPr algn="ctr">
              <a:lnSpc>
                <a:spcPts val="2376"/>
              </a:lnSpc>
            </a:pPr>
            <a:r>
              <a:rPr lang="en-US" sz="1512" b="true">
                <a:solidFill>
                  <a:srgbClr val="E2E6E9"/>
                </a:solidFill>
                <a:latin typeface="Merriweather Bold"/>
                <a:ea typeface="Merriweather Bold"/>
                <a:cs typeface="Merriweather Bold"/>
                <a:sym typeface="Merriweather Bold"/>
              </a:rPr>
              <a:t>Fees can range from $10 to $50 per transaction</a:t>
            </a:r>
          </a:p>
        </p:txBody>
      </p:sp>
      <p:sp>
        <p:nvSpPr>
          <p:cNvPr name="TextBox 50" id="50"/>
          <p:cNvSpPr txBox="true"/>
          <p:nvPr/>
        </p:nvSpPr>
        <p:spPr>
          <a:xfrm rot="0">
            <a:off x="6820459" y="6161486"/>
            <a:ext cx="3548238" cy="566870"/>
          </a:xfrm>
          <a:prstGeom prst="rect">
            <a:avLst/>
          </a:prstGeom>
        </p:spPr>
        <p:txBody>
          <a:bodyPr anchor="t" rtlCol="false" tIns="0" lIns="0" bIns="0" rIns="0">
            <a:spAutoFit/>
          </a:bodyPr>
          <a:lstStyle/>
          <a:p>
            <a:pPr algn="ctr">
              <a:lnSpc>
                <a:spcPts val="2376"/>
              </a:lnSpc>
            </a:pPr>
            <a:r>
              <a:rPr lang="en-US" sz="1512" b="true">
                <a:solidFill>
                  <a:srgbClr val="E2E6E9"/>
                </a:solidFill>
                <a:latin typeface="Merriweather Bold"/>
                <a:ea typeface="Merriweather Bold"/>
                <a:cs typeface="Merriweather Bold"/>
                <a:sym typeface="Merriweather Bold"/>
              </a:rPr>
              <a:t>Only 5-7 Transaction Per second </a:t>
            </a:r>
          </a:p>
          <a:p>
            <a:pPr algn="ctr">
              <a:lnSpc>
                <a:spcPts val="2376"/>
              </a:lnSpc>
            </a:pPr>
            <a:r>
              <a:rPr lang="en-US" sz="1512" b="true">
                <a:solidFill>
                  <a:srgbClr val="E2E6E9"/>
                </a:solidFill>
                <a:latin typeface="Merriweather Bold"/>
                <a:ea typeface="Merriweather Bold"/>
                <a:cs typeface="Merriweather Bold"/>
                <a:sym typeface="Merriweather Bold"/>
              </a:rPr>
              <a:t>and slow</a:t>
            </a:r>
          </a:p>
        </p:txBody>
      </p:sp>
      <p:sp>
        <p:nvSpPr>
          <p:cNvPr name="TextBox 51" id="51"/>
          <p:cNvSpPr txBox="true"/>
          <p:nvPr/>
        </p:nvSpPr>
        <p:spPr>
          <a:xfrm rot="0">
            <a:off x="6789208" y="7658083"/>
            <a:ext cx="3548238" cy="566828"/>
          </a:xfrm>
          <a:prstGeom prst="rect">
            <a:avLst/>
          </a:prstGeom>
        </p:spPr>
        <p:txBody>
          <a:bodyPr anchor="t" rtlCol="false" tIns="0" lIns="0" bIns="0" rIns="0">
            <a:spAutoFit/>
          </a:bodyPr>
          <a:lstStyle/>
          <a:p>
            <a:pPr algn="ctr">
              <a:lnSpc>
                <a:spcPts val="2376"/>
              </a:lnSpc>
            </a:pPr>
            <a:r>
              <a:rPr lang="en-US" sz="1512" b="true">
                <a:solidFill>
                  <a:srgbClr val="E2E6E9"/>
                </a:solidFill>
                <a:latin typeface="Merriweather Bold"/>
                <a:ea typeface="Merriweather Bold"/>
                <a:cs typeface="Merriweather Bold"/>
                <a:sym typeface="Merriweather Bold"/>
              </a:rPr>
              <a:t>High FX markups, typically 3-5% per transaction</a:t>
            </a:r>
          </a:p>
        </p:txBody>
      </p:sp>
      <p:sp>
        <p:nvSpPr>
          <p:cNvPr name="TextBox 52" id="52"/>
          <p:cNvSpPr txBox="true"/>
          <p:nvPr/>
        </p:nvSpPr>
        <p:spPr>
          <a:xfrm rot="0">
            <a:off x="12179621" y="1756696"/>
            <a:ext cx="4417671" cy="288241"/>
          </a:xfrm>
          <a:prstGeom prst="rect">
            <a:avLst/>
          </a:prstGeom>
        </p:spPr>
        <p:txBody>
          <a:bodyPr anchor="t" rtlCol="false" tIns="0" lIns="0" bIns="0" rIns="0">
            <a:spAutoFit/>
          </a:bodyPr>
          <a:lstStyle/>
          <a:p>
            <a:pPr algn="ctr">
              <a:lnSpc>
                <a:spcPts val="2215"/>
              </a:lnSpc>
            </a:pPr>
            <a:r>
              <a:rPr lang="en-US" b="true" sz="1800" u="sng">
                <a:solidFill>
                  <a:srgbClr val="E2E6E9"/>
                </a:solidFill>
                <a:latin typeface="Merriweather Bold"/>
                <a:ea typeface="Merriweather Bold"/>
                <a:cs typeface="Merriweather Bold"/>
                <a:sym typeface="Merriweather Bold"/>
              </a:rPr>
              <a:t>Ethereum Blockchain Wire Transfer</a:t>
            </a:r>
          </a:p>
        </p:txBody>
      </p:sp>
      <p:sp>
        <p:nvSpPr>
          <p:cNvPr name="TextBox 53" id="53"/>
          <p:cNvSpPr txBox="true"/>
          <p:nvPr/>
        </p:nvSpPr>
        <p:spPr>
          <a:xfrm rot="0">
            <a:off x="14058730" y="3867746"/>
            <a:ext cx="650678" cy="271553"/>
          </a:xfrm>
          <a:prstGeom prst="rect">
            <a:avLst/>
          </a:prstGeom>
        </p:spPr>
        <p:txBody>
          <a:bodyPr anchor="t" rtlCol="false" tIns="0" lIns="0" bIns="0" rIns="0">
            <a:spAutoFit/>
          </a:bodyPr>
          <a:lstStyle/>
          <a:p>
            <a:pPr algn="ctr">
              <a:lnSpc>
                <a:spcPts val="2376"/>
              </a:lnSpc>
            </a:pPr>
            <a:r>
              <a:rPr lang="en-US" b="true" sz="1512" u="sng">
                <a:solidFill>
                  <a:srgbClr val="E2E6E9"/>
                </a:solidFill>
                <a:latin typeface="Merriweather Bold"/>
                <a:ea typeface="Merriweather Bold"/>
                <a:cs typeface="Merriweather Bold"/>
                <a:sym typeface="Merriweather Bold"/>
              </a:rPr>
              <a:t>COST </a:t>
            </a:r>
          </a:p>
        </p:txBody>
      </p:sp>
      <p:sp>
        <p:nvSpPr>
          <p:cNvPr name="TextBox 54" id="54"/>
          <p:cNvSpPr txBox="true"/>
          <p:nvPr/>
        </p:nvSpPr>
        <p:spPr>
          <a:xfrm rot="0">
            <a:off x="13718038" y="5796463"/>
            <a:ext cx="1244959" cy="271553"/>
          </a:xfrm>
          <a:prstGeom prst="rect">
            <a:avLst/>
          </a:prstGeom>
        </p:spPr>
        <p:txBody>
          <a:bodyPr anchor="t" rtlCol="false" tIns="0" lIns="0" bIns="0" rIns="0">
            <a:spAutoFit/>
          </a:bodyPr>
          <a:lstStyle/>
          <a:p>
            <a:pPr algn="ctr">
              <a:lnSpc>
                <a:spcPts val="2376"/>
              </a:lnSpc>
            </a:pPr>
            <a:r>
              <a:rPr lang="en-US" b="true" sz="1512" u="sng">
                <a:solidFill>
                  <a:srgbClr val="E2E6E9"/>
                </a:solidFill>
                <a:latin typeface="Merriweather Bold"/>
                <a:ea typeface="Merriweather Bold"/>
                <a:cs typeface="Merriweather Bold"/>
                <a:sym typeface="Merriweather Bold"/>
              </a:rPr>
              <a:t>SCALABILTY</a:t>
            </a:r>
          </a:p>
        </p:txBody>
      </p:sp>
      <p:sp>
        <p:nvSpPr>
          <p:cNvPr name="TextBox 55" id="55"/>
          <p:cNvSpPr txBox="true"/>
          <p:nvPr/>
        </p:nvSpPr>
        <p:spPr>
          <a:xfrm rot="0">
            <a:off x="12971927" y="6242637"/>
            <a:ext cx="3157457" cy="271553"/>
          </a:xfrm>
          <a:prstGeom prst="rect">
            <a:avLst/>
          </a:prstGeom>
        </p:spPr>
        <p:txBody>
          <a:bodyPr anchor="t" rtlCol="false" tIns="0" lIns="0" bIns="0" rIns="0">
            <a:spAutoFit/>
          </a:bodyPr>
          <a:lstStyle/>
          <a:p>
            <a:pPr algn="ctr">
              <a:lnSpc>
                <a:spcPts val="2376"/>
              </a:lnSpc>
            </a:pPr>
            <a:r>
              <a:rPr lang="en-US" sz="1512" b="true">
                <a:solidFill>
                  <a:srgbClr val="E2E6E9"/>
                </a:solidFill>
                <a:latin typeface="Merriweather Bold"/>
                <a:ea typeface="Merriweather Bold"/>
                <a:cs typeface="Merriweather Bold"/>
                <a:sym typeface="Merriweather Bold"/>
              </a:rPr>
              <a:t>1500 Transactions Per second</a:t>
            </a:r>
          </a:p>
        </p:txBody>
      </p:sp>
      <p:sp>
        <p:nvSpPr>
          <p:cNvPr name="TextBox 56" id="56"/>
          <p:cNvSpPr txBox="true"/>
          <p:nvPr/>
        </p:nvSpPr>
        <p:spPr>
          <a:xfrm rot="0">
            <a:off x="12843451" y="7639373"/>
            <a:ext cx="3548238" cy="566828"/>
          </a:xfrm>
          <a:prstGeom prst="rect">
            <a:avLst/>
          </a:prstGeom>
        </p:spPr>
        <p:txBody>
          <a:bodyPr anchor="t" rtlCol="false" tIns="0" lIns="0" bIns="0" rIns="0">
            <a:spAutoFit/>
          </a:bodyPr>
          <a:lstStyle/>
          <a:p>
            <a:pPr algn="ctr">
              <a:lnSpc>
                <a:spcPts val="2376"/>
              </a:lnSpc>
            </a:pPr>
            <a:r>
              <a:rPr lang="en-US" sz="1512" b="true">
                <a:solidFill>
                  <a:srgbClr val="E2E6E9"/>
                </a:solidFill>
                <a:latin typeface="Merriweather Bold"/>
                <a:ea typeface="Merriweather Bold"/>
                <a:cs typeface="Merriweather Bold"/>
                <a:sym typeface="Merriweather Bold"/>
              </a:rPr>
              <a:t>Low FX markups, typically 0.5-1.5% per transaction</a:t>
            </a:r>
          </a:p>
        </p:txBody>
      </p:sp>
      <p:sp>
        <p:nvSpPr>
          <p:cNvPr name="TextBox 57" id="57"/>
          <p:cNvSpPr txBox="true"/>
          <p:nvPr/>
        </p:nvSpPr>
        <p:spPr>
          <a:xfrm rot="0">
            <a:off x="7328609" y="7224265"/>
            <a:ext cx="2282116" cy="310333"/>
          </a:xfrm>
          <a:prstGeom prst="rect">
            <a:avLst/>
          </a:prstGeom>
        </p:spPr>
        <p:txBody>
          <a:bodyPr anchor="t" rtlCol="false" tIns="0" lIns="0" bIns="0" rIns="0">
            <a:spAutoFit/>
          </a:bodyPr>
          <a:lstStyle/>
          <a:p>
            <a:pPr algn="ctr">
              <a:lnSpc>
                <a:spcPts val="2671"/>
              </a:lnSpc>
            </a:pPr>
            <a:r>
              <a:rPr lang="en-US" b="true" sz="1700" u="sng">
                <a:solidFill>
                  <a:srgbClr val="E2E6E9"/>
                </a:solidFill>
                <a:latin typeface="Merriweather Bold"/>
                <a:ea typeface="Merriweather Bold"/>
                <a:cs typeface="Merriweather Bold"/>
                <a:sym typeface="Merriweather Bold"/>
              </a:rPr>
              <a:t>Foreign Exchange </a:t>
            </a:r>
          </a:p>
        </p:txBody>
      </p:sp>
      <p:sp>
        <p:nvSpPr>
          <p:cNvPr name="TextBox 58" id="58"/>
          <p:cNvSpPr txBox="true"/>
          <p:nvPr/>
        </p:nvSpPr>
        <p:spPr>
          <a:xfrm rot="0">
            <a:off x="7871728" y="5796463"/>
            <a:ext cx="1244959" cy="271553"/>
          </a:xfrm>
          <a:prstGeom prst="rect">
            <a:avLst/>
          </a:prstGeom>
        </p:spPr>
        <p:txBody>
          <a:bodyPr anchor="t" rtlCol="false" tIns="0" lIns="0" bIns="0" rIns="0">
            <a:spAutoFit/>
          </a:bodyPr>
          <a:lstStyle/>
          <a:p>
            <a:pPr algn="ctr">
              <a:lnSpc>
                <a:spcPts val="2376"/>
              </a:lnSpc>
            </a:pPr>
            <a:r>
              <a:rPr lang="en-US" b="true" sz="1512" u="sng">
                <a:solidFill>
                  <a:srgbClr val="E2E6E9"/>
                </a:solidFill>
                <a:latin typeface="Merriweather Bold"/>
                <a:ea typeface="Merriweather Bold"/>
                <a:cs typeface="Merriweather Bold"/>
                <a:sym typeface="Merriweather Bold"/>
              </a:rPr>
              <a:t>SCALABILTY</a:t>
            </a:r>
          </a:p>
        </p:txBody>
      </p:sp>
      <p:sp>
        <p:nvSpPr>
          <p:cNvPr name="TextBox 59" id="59"/>
          <p:cNvSpPr txBox="true"/>
          <p:nvPr/>
        </p:nvSpPr>
        <p:spPr>
          <a:xfrm rot="0">
            <a:off x="6889940" y="1728299"/>
            <a:ext cx="3346774" cy="288241"/>
          </a:xfrm>
          <a:prstGeom prst="rect">
            <a:avLst/>
          </a:prstGeom>
        </p:spPr>
        <p:txBody>
          <a:bodyPr anchor="t" rtlCol="false" tIns="0" lIns="0" bIns="0" rIns="0">
            <a:spAutoFit/>
          </a:bodyPr>
          <a:lstStyle/>
          <a:p>
            <a:pPr algn="ctr">
              <a:lnSpc>
                <a:spcPts val="2215"/>
              </a:lnSpc>
            </a:pPr>
            <a:r>
              <a:rPr lang="en-US" b="true" sz="1800" u="sng">
                <a:solidFill>
                  <a:srgbClr val="E2E6E9"/>
                </a:solidFill>
                <a:latin typeface="Merriweather Bold"/>
                <a:ea typeface="Merriweather Bold"/>
                <a:cs typeface="Merriweather Bold"/>
                <a:sym typeface="Merriweather Bold"/>
              </a:rPr>
              <a:t>SWIFT Based Wire Transfers</a:t>
            </a:r>
          </a:p>
        </p:txBody>
      </p:sp>
      <p:sp>
        <p:nvSpPr>
          <p:cNvPr name="TextBox 60" id="60"/>
          <p:cNvSpPr txBox="true"/>
          <p:nvPr/>
        </p:nvSpPr>
        <p:spPr>
          <a:xfrm rot="0">
            <a:off x="8168869" y="2264012"/>
            <a:ext cx="650678" cy="271553"/>
          </a:xfrm>
          <a:prstGeom prst="rect">
            <a:avLst/>
          </a:prstGeom>
        </p:spPr>
        <p:txBody>
          <a:bodyPr anchor="t" rtlCol="false" tIns="0" lIns="0" bIns="0" rIns="0">
            <a:spAutoFit/>
          </a:bodyPr>
          <a:lstStyle/>
          <a:p>
            <a:pPr algn="ctr">
              <a:lnSpc>
                <a:spcPts val="2376"/>
              </a:lnSpc>
            </a:pPr>
            <a:r>
              <a:rPr lang="en-US" sz="1512" b="true">
                <a:solidFill>
                  <a:srgbClr val="E2E6E9"/>
                </a:solidFill>
                <a:latin typeface="Merriweather Bold"/>
                <a:ea typeface="Merriweather Bold"/>
                <a:cs typeface="Merriweather Bold"/>
                <a:sym typeface="Merriweather Bold"/>
              </a:rPr>
              <a:t>SPEED</a:t>
            </a:r>
          </a:p>
        </p:txBody>
      </p:sp>
      <p:sp>
        <p:nvSpPr>
          <p:cNvPr name="TextBox 61" id="61"/>
          <p:cNvSpPr txBox="true"/>
          <p:nvPr/>
        </p:nvSpPr>
        <p:spPr>
          <a:xfrm rot="0">
            <a:off x="14015179" y="2264012"/>
            <a:ext cx="650678" cy="271553"/>
          </a:xfrm>
          <a:prstGeom prst="rect">
            <a:avLst/>
          </a:prstGeom>
        </p:spPr>
        <p:txBody>
          <a:bodyPr anchor="t" rtlCol="false" tIns="0" lIns="0" bIns="0" rIns="0">
            <a:spAutoFit/>
          </a:bodyPr>
          <a:lstStyle/>
          <a:p>
            <a:pPr algn="ctr">
              <a:lnSpc>
                <a:spcPts val="2376"/>
              </a:lnSpc>
            </a:pPr>
            <a:r>
              <a:rPr lang="en-US" sz="1512" b="true">
                <a:solidFill>
                  <a:srgbClr val="E2E6E9"/>
                </a:solidFill>
                <a:latin typeface="Merriweather Bold"/>
                <a:ea typeface="Merriweather Bold"/>
                <a:cs typeface="Merriweather Bold"/>
                <a:sym typeface="Merriweather Bold"/>
              </a:rPr>
              <a:t>SPEED</a:t>
            </a:r>
          </a:p>
        </p:txBody>
      </p:sp>
      <p:sp>
        <p:nvSpPr>
          <p:cNvPr name="TextBox 62" id="62"/>
          <p:cNvSpPr txBox="true"/>
          <p:nvPr/>
        </p:nvSpPr>
        <p:spPr>
          <a:xfrm rot="0">
            <a:off x="13199460" y="7224265"/>
            <a:ext cx="2282116" cy="310333"/>
          </a:xfrm>
          <a:prstGeom prst="rect">
            <a:avLst/>
          </a:prstGeom>
        </p:spPr>
        <p:txBody>
          <a:bodyPr anchor="t" rtlCol="false" tIns="0" lIns="0" bIns="0" rIns="0">
            <a:spAutoFit/>
          </a:bodyPr>
          <a:lstStyle/>
          <a:p>
            <a:pPr algn="ctr">
              <a:lnSpc>
                <a:spcPts val="2671"/>
              </a:lnSpc>
            </a:pPr>
            <a:r>
              <a:rPr lang="en-US" b="true" sz="1700" u="sng">
                <a:solidFill>
                  <a:srgbClr val="E2E6E9"/>
                </a:solidFill>
                <a:latin typeface="Merriweather Bold"/>
                <a:ea typeface="Merriweather Bold"/>
                <a:cs typeface="Merriweather Bold"/>
                <a:sym typeface="Merriweather Bold"/>
              </a:rPr>
              <a:t>Foreign Exchange </a:t>
            </a:r>
          </a:p>
        </p:txBody>
      </p:sp>
      <p:sp>
        <p:nvSpPr>
          <p:cNvPr name="Freeform 63" id="63"/>
          <p:cNvSpPr/>
          <p:nvPr/>
        </p:nvSpPr>
        <p:spPr>
          <a:xfrm flipH="false" flipV="false" rot="0">
            <a:off x="12062076" y="7488420"/>
            <a:ext cx="798705" cy="771113"/>
          </a:xfrm>
          <a:custGeom>
            <a:avLst/>
            <a:gdLst/>
            <a:ahLst/>
            <a:cxnLst/>
            <a:rect r="r" b="b" t="t" l="l"/>
            <a:pathLst>
              <a:path h="771113" w="798705">
                <a:moveTo>
                  <a:pt x="0" y="0"/>
                </a:moveTo>
                <a:lnTo>
                  <a:pt x="798705" y="0"/>
                </a:lnTo>
                <a:lnTo>
                  <a:pt x="798705" y="771113"/>
                </a:lnTo>
                <a:lnTo>
                  <a:pt x="0" y="77111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4" id="64"/>
          <p:cNvSpPr txBox="true"/>
          <p:nvPr/>
        </p:nvSpPr>
        <p:spPr>
          <a:xfrm rot="0">
            <a:off x="12734421" y="4394190"/>
            <a:ext cx="3862871" cy="566828"/>
          </a:xfrm>
          <a:prstGeom prst="rect">
            <a:avLst/>
          </a:prstGeom>
        </p:spPr>
        <p:txBody>
          <a:bodyPr anchor="t" rtlCol="false" tIns="0" lIns="0" bIns="0" rIns="0">
            <a:spAutoFit/>
          </a:bodyPr>
          <a:lstStyle/>
          <a:p>
            <a:pPr algn="ctr">
              <a:lnSpc>
                <a:spcPts val="2376"/>
              </a:lnSpc>
            </a:pPr>
            <a:r>
              <a:rPr lang="en-US" sz="1512" b="true">
                <a:solidFill>
                  <a:srgbClr val="E2E6E9"/>
                </a:solidFill>
                <a:latin typeface="Merriweather Bold"/>
                <a:ea typeface="Merriweather Bold"/>
                <a:cs typeface="Merriweather Bold"/>
                <a:sym typeface="Merriweather Bold"/>
              </a:rPr>
              <a:t>Fees can range from $5 to $10 per transaction</a:t>
            </a:r>
          </a:p>
        </p:txBody>
      </p:sp>
      <p:sp>
        <p:nvSpPr>
          <p:cNvPr name="TextBox 65" id="65"/>
          <p:cNvSpPr txBox="true"/>
          <p:nvPr/>
        </p:nvSpPr>
        <p:spPr>
          <a:xfrm rot="0">
            <a:off x="12705495" y="2697953"/>
            <a:ext cx="3548238" cy="271553"/>
          </a:xfrm>
          <a:prstGeom prst="rect">
            <a:avLst/>
          </a:prstGeom>
        </p:spPr>
        <p:txBody>
          <a:bodyPr anchor="t" rtlCol="false" tIns="0" lIns="0" bIns="0" rIns="0">
            <a:spAutoFit/>
          </a:bodyPr>
          <a:lstStyle/>
          <a:p>
            <a:pPr algn="ctr">
              <a:lnSpc>
                <a:spcPts val="2376"/>
              </a:lnSpc>
            </a:pPr>
            <a:r>
              <a:rPr lang="en-US" sz="1512" b="true">
                <a:solidFill>
                  <a:srgbClr val="E2E6E9"/>
                </a:solidFill>
                <a:latin typeface="Merriweather Bold"/>
                <a:ea typeface="Merriweather Bold"/>
                <a:cs typeface="Merriweather Bold"/>
                <a:sym typeface="Merriweather Bold"/>
              </a:rPr>
              <a:t>Takes around 1 Business days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36488" y="-85725"/>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73725"/>
              </a:srgbClr>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3015049" y="0"/>
            <a:ext cx="5272951" cy="10287000"/>
            <a:chOff x="0" y="0"/>
            <a:chExt cx="7030602" cy="13716000"/>
          </a:xfrm>
        </p:grpSpPr>
        <p:sp>
          <p:nvSpPr>
            <p:cNvPr name="Freeform 9" id="9" descr="preencoded.png"/>
            <p:cNvSpPr/>
            <p:nvPr/>
          </p:nvSpPr>
          <p:spPr>
            <a:xfrm flipH="false" flipV="false" rot="0">
              <a:off x="0" y="0"/>
              <a:ext cx="7030602" cy="13716000"/>
            </a:xfrm>
            <a:custGeom>
              <a:avLst/>
              <a:gdLst/>
              <a:ahLst/>
              <a:cxnLst/>
              <a:rect r="r" b="b" t="t" l="l"/>
              <a:pathLst>
                <a:path h="13716000" w="7030602">
                  <a:moveTo>
                    <a:pt x="0" y="0"/>
                  </a:moveTo>
                  <a:lnTo>
                    <a:pt x="7030602" y="0"/>
                  </a:lnTo>
                  <a:lnTo>
                    <a:pt x="7030602" y="13716000"/>
                  </a:lnTo>
                  <a:lnTo>
                    <a:pt x="0" y="13716000"/>
                  </a:lnTo>
                  <a:lnTo>
                    <a:pt x="0" y="0"/>
                  </a:lnTo>
                  <a:close/>
                </a:path>
              </a:pathLst>
            </a:custGeom>
            <a:blipFill>
              <a:blip r:embed="rId5"/>
              <a:stretch>
                <a:fillRect l="-15029" t="0" r="-15029" b="0"/>
              </a:stretch>
            </a:blipFill>
          </p:spPr>
        </p:sp>
      </p:grpSp>
      <p:sp>
        <p:nvSpPr>
          <p:cNvPr name="TextBox 10" id="10"/>
          <p:cNvSpPr txBox="true"/>
          <p:nvPr/>
        </p:nvSpPr>
        <p:spPr>
          <a:xfrm rot="0">
            <a:off x="825646" y="4313688"/>
            <a:ext cx="11675052" cy="1703276"/>
          </a:xfrm>
          <a:prstGeom prst="rect">
            <a:avLst/>
          </a:prstGeom>
        </p:spPr>
        <p:txBody>
          <a:bodyPr anchor="t" rtlCol="false" tIns="0" lIns="0" bIns="0" rIns="0">
            <a:spAutoFit/>
          </a:bodyPr>
          <a:lstStyle/>
          <a:p>
            <a:pPr algn="ctr">
              <a:lnSpc>
                <a:spcPts val="6793"/>
              </a:lnSpc>
            </a:pPr>
            <a:r>
              <a:rPr lang="en-US" sz="5400" u="sng">
                <a:solidFill>
                  <a:srgbClr val="DAECFF"/>
                </a:solidFill>
                <a:latin typeface="Merriweather"/>
                <a:ea typeface="Merriweather"/>
                <a:cs typeface="Merriweather"/>
                <a:sym typeface="Merriweather"/>
              </a:rPr>
              <a:t>Case Study</a:t>
            </a:r>
            <a:r>
              <a:rPr lang="en-US" sz="5400">
                <a:solidFill>
                  <a:srgbClr val="DAECFF"/>
                </a:solidFill>
                <a:latin typeface="Merriweather"/>
                <a:ea typeface="Merriweather"/>
                <a:cs typeface="Merriweather"/>
                <a:sym typeface="Merriweather"/>
              </a:rPr>
              <a:t> 3: </a:t>
            </a:r>
          </a:p>
          <a:p>
            <a:pPr algn="ctr">
              <a:lnSpc>
                <a:spcPts val="6793"/>
              </a:lnSpc>
            </a:pPr>
            <a:r>
              <a:rPr lang="en-US" sz="5400" u="sng">
                <a:solidFill>
                  <a:srgbClr val="DAECFF"/>
                </a:solidFill>
                <a:latin typeface="Merriweather"/>
                <a:ea typeface="Merriweather"/>
                <a:cs typeface="Merriweather"/>
                <a:sym typeface="Merriweather"/>
              </a:rPr>
              <a:t>Decentralized Finance</a:t>
            </a:r>
            <a:r>
              <a:rPr lang="en-US" sz="5400">
                <a:solidFill>
                  <a:srgbClr val="DAECFF"/>
                </a:solidFill>
                <a:latin typeface="Merriweather"/>
                <a:ea typeface="Merriweather"/>
                <a:cs typeface="Merriweather"/>
                <a:sym typeface="Merriweather"/>
              </a:rPr>
              <a:t> (</a:t>
            </a:r>
            <a:r>
              <a:rPr lang="en-US" sz="5400" u="sng">
                <a:solidFill>
                  <a:srgbClr val="DAECFF"/>
                </a:solidFill>
                <a:latin typeface="Merriweather"/>
                <a:ea typeface="Merriweather"/>
                <a:cs typeface="Merriweather"/>
                <a:sym typeface="Merriweather"/>
              </a:rPr>
              <a:t>DeFi</a:t>
            </a:r>
            <a:r>
              <a:rPr lang="en-US" sz="5400">
                <a:solidFill>
                  <a:srgbClr val="DAECFF"/>
                </a:solidFill>
                <a:latin typeface="Merriweather"/>
                <a:ea typeface="Merriweather"/>
                <a:cs typeface="Merriweather"/>
                <a:sym typeface="Merriweather"/>
              </a:rPr>
              <a:t>)</a:t>
            </a:r>
          </a:p>
        </p:txBody>
      </p:sp>
      <p:sp>
        <p:nvSpPr>
          <p:cNvPr name="Freeform 11" id="11"/>
          <p:cNvSpPr/>
          <p:nvPr/>
        </p:nvSpPr>
        <p:spPr>
          <a:xfrm flipH="false" flipV="false" rot="3153900">
            <a:off x="-1161023" y="7437367"/>
            <a:ext cx="3216981" cy="3641866"/>
          </a:xfrm>
          <a:custGeom>
            <a:avLst/>
            <a:gdLst/>
            <a:ahLst/>
            <a:cxnLst/>
            <a:rect r="r" b="b" t="t" l="l"/>
            <a:pathLst>
              <a:path h="3641866" w="3216981">
                <a:moveTo>
                  <a:pt x="0" y="0"/>
                </a:moveTo>
                <a:lnTo>
                  <a:pt x="3216982" y="0"/>
                </a:lnTo>
                <a:lnTo>
                  <a:pt x="3216982" y="3641866"/>
                </a:lnTo>
                <a:lnTo>
                  <a:pt x="0" y="3641866"/>
                </a:lnTo>
                <a:lnTo>
                  <a:pt x="0" y="0"/>
                </a:lnTo>
                <a:close/>
              </a:path>
            </a:pathLst>
          </a:custGeom>
          <a:blipFill>
            <a:blip r:embed="rId6"/>
            <a:stretch>
              <a:fillRect l="0" t="0" r="0" b="0"/>
            </a:stretch>
          </a:blipFill>
        </p:spPr>
      </p:sp>
      <p:sp>
        <p:nvSpPr>
          <p:cNvPr name="Freeform 12" id="12"/>
          <p:cNvSpPr/>
          <p:nvPr/>
        </p:nvSpPr>
        <p:spPr>
          <a:xfrm flipH="false" flipV="false" rot="-4956693">
            <a:off x="-1572003" y="-1820933"/>
            <a:ext cx="3216981" cy="3641866"/>
          </a:xfrm>
          <a:custGeom>
            <a:avLst/>
            <a:gdLst/>
            <a:ahLst/>
            <a:cxnLst/>
            <a:rect r="r" b="b" t="t" l="l"/>
            <a:pathLst>
              <a:path h="3641866" w="3216981">
                <a:moveTo>
                  <a:pt x="0" y="0"/>
                </a:moveTo>
                <a:lnTo>
                  <a:pt x="3216981" y="0"/>
                </a:lnTo>
                <a:lnTo>
                  <a:pt x="3216981" y="3641866"/>
                </a:lnTo>
                <a:lnTo>
                  <a:pt x="0" y="3641866"/>
                </a:lnTo>
                <a:lnTo>
                  <a:pt x="0" y="0"/>
                </a:lnTo>
                <a:close/>
              </a:path>
            </a:pathLst>
          </a:custGeom>
          <a:blipFill>
            <a:blip r:embed="rId6"/>
            <a:stretch>
              <a:fillRect l="0" t="0" r="0" b="0"/>
            </a:stretch>
          </a:blipFill>
        </p:spPr>
      </p:sp>
      <p:sp>
        <p:nvSpPr>
          <p:cNvPr name="Freeform 13" id="13"/>
          <p:cNvSpPr/>
          <p:nvPr/>
        </p:nvSpPr>
        <p:spPr>
          <a:xfrm flipH="false" flipV="false" rot="0">
            <a:off x="11986349" y="9077618"/>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7"/>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9898"/>
            <a:ext cx="18288000" cy="10386898"/>
            <a:chOff x="0" y="0"/>
            <a:chExt cx="24384000" cy="13849197"/>
          </a:xfrm>
        </p:grpSpPr>
        <p:sp>
          <p:nvSpPr>
            <p:cNvPr name="Freeform 3" id="3" descr="preencoded.png"/>
            <p:cNvSpPr/>
            <p:nvPr/>
          </p:nvSpPr>
          <p:spPr>
            <a:xfrm flipH="false" flipV="false" rot="0">
              <a:off x="0" y="0"/>
              <a:ext cx="24384000" cy="13849198"/>
            </a:xfrm>
            <a:custGeom>
              <a:avLst/>
              <a:gdLst/>
              <a:ahLst/>
              <a:cxnLst/>
              <a:rect r="r" b="b" t="t" l="l"/>
              <a:pathLst>
                <a:path h="13849198" w="24384000">
                  <a:moveTo>
                    <a:pt x="0" y="0"/>
                  </a:moveTo>
                  <a:lnTo>
                    <a:pt x="24384000" y="0"/>
                  </a:lnTo>
                  <a:lnTo>
                    <a:pt x="24384000" y="13849198"/>
                  </a:lnTo>
                  <a:lnTo>
                    <a:pt x="0" y="13849198"/>
                  </a:lnTo>
                  <a:lnTo>
                    <a:pt x="0" y="0"/>
                  </a:lnTo>
                  <a:close/>
                </a:path>
              </a:pathLst>
            </a:custGeom>
            <a:blipFill>
              <a:blip r:embed="rId3"/>
              <a:stretch>
                <a:fillRect l="-485" t="0" r="-485" b="0"/>
              </a:stretch>
            </a:blipFill>
          </p:spPr>
        </p:sp>
      </p:grpSp>
      <p:grpSp>
        <p:nvGrpSpPr>
          <p:cNvPr name="Group 4" id="4"/>
          <p:cNvGrpSpPr/>
          <p:nvPr/>
        </p:nvGrpSpPr>
        <p:grpSpPr>
          <a:xfrm rot="0">
            <a:off x="-8820" y="-95135"/>
            <a:ext cx="18288000" cy="10509679"/>
            <a:chOff x="0" y="0"/>
            <a:chExt cx="24384000" cy="14012905"/>
          </a:xfrm>
        </p:grpSpPr>
        <p:sp>
          <p:nvSpPr>
            <p:cNvPr name="Freeform 5" id="5"/>
            <p:cNvSpPr/>
            <p:nvPr/>
          </p:nvSpPr>
          <p:spPr>
            <a:xfrm flipH="false" flipV="false" rot="0">
              <a:off x="0" y="0"/>
              <a:ext cx="24384000" cy="14012904"/>
            </a:xfrm>
            <a:custGeom>
              <a:avLst/>
              <a:gdLst/>
              <a:ahLst/>
              <a:cxnLst/>
              <a:rect r="r" b="b" t="t" l="l"/>
              <a:pathLst>
                <a:path h="14012904" w="24384000">
                  <a:moveTo>
                    <a:pt x="0" y="0"/>
                  </a:moveTo>
                  <a:lnTo>
                    <a:pt x="24384000" y="0"/>
                  </a:lnTo>
                  <a:lnTo>
                    <a:pt x="24384000" y="14012904"/>
                  </a:lnTo>
                  <a:lnTo>
                    <a:pt x="0" y="14012904"/>
                  </a:lnTo>
                  <a:close/>
                </a:path>
              </a:pathLst>
            </a:custGeom>
            <a:solidFill>
              <a:srgbClr val="09151A">
                <a:alpha val="72157"/>
              </a:srgbClr>
            </a:solidFill>
          </p:spPr>
        </p:sp>
      </p:grpSp>
      <p:grpSp>
        <p:nvGrpSpPr>
          <p:cNvPr name="Group 6" id="6"/>
          <p:cNvGrpSpPr/>
          <p:nvPr/>
        </p:nvGrpSpPr>
        <p:grpSpPr>
          <a:xfrm rot="0">
            <a:off x="9135180" y="828904"/>
            <a:ext cx="109724" cy="9166213"/>
            <a:chOff x="0" y="0"/>
            <a:chExt cx="34224" cy="2859045"/>
          </a:xfrm>
        </p:grpSpPr>
        <p:sp>
          <p:nvSpPr>
            <p:cNvPr name="Freeform 7" id="7"/>
            <p:cNvSpPr/>
            <p:nvPr/>
          </p:nvSpPr>
          <p:spPr>
            <a:xfrm flipH="false" flipV="false" rot="0">
              <a:off x="0" y="0"/>
              <a:ext cx="34224" cy="2858992"/>
            </a:xfrm>
            <a:custGeom>
              <a:avLst/>
              <a:gdLst/>
              <a:ahLst/>
              <a:cxnLst/>
              <a:rect r="r" b="b" t="t" l="l"/>
              <a:pathLst>
                <a:path h="2858992" w="34224">
                  <a:moveTo>
                    <a:pt x="0" y="73002"/>
                  </a:moveTo>
                  <a:cubicBezTo>
                    <a:pt x="0" y="32729"/>
                    <a:pt x="7672" y="0"/>
                    <a:pt x="17112" y="0"/>
                  </a:cubicBezTo>
                  <a:cubicBezTo>
                    <a:pt x="26552" y="0"/>
                    <a:pt x="34224" y="32729"/>
                    <a:pt x="34224" y="73002"/>
                  </a:cubicBezTo>
                  <a:lnTo>
                    <a:pt x="34224" y="2785990"/>
                  </a:lnTo>
                  <a:cubicBezTo>
                    <a:pt x="34224" y="2826263"/>
                    <a:pt x="26552" y="2858992"/>
                    <a:pt x="17112" y="2858992"/>
                  </a:cubicBezTo>
                  <a:cubicBezTo>
                    <a:pt x="7672" y="2858992"/>
                    <a:pt x="0" y="2826263"/>
                    <a:pt x="0" y="2785990"/>
                  </a:cubicBezTo>
                  <a:close/>
                </a:path>
              </a:pathLst>
            </a:custGeom>
            <a:solidFill>
              <a:srgbClr val="0000FF"/>
            </a:solidFill>
          </p:spPr>
        </p:sp>
      </p:grpSp>
      <p:sp>
        <p:nvSpPr>
          <p:cNvPr name="Freeform 8" id="8"/>
          <p:cNvSpPr/>
          <p:nvPr/>
        </p:nvSpPr>
        <p:spPr>
          <a:xfrm flipH="false" flipV="false" rot="0">
            <a:off x="17259300" y="9186062"/>
            <a:ext cx="1100938" cy="1100938"/>
          </a:xfrm>
          <a:custGeom>
            <a:avLst/>
            <a:gdLst/>
            <a:ahLst/>
            <a:cxnLst/>
            <a:rect r="r" b="b" t="t" l="l"/>
            <a:pathLst>
              <a:path h="1100938" w="1100938">
                <a:moveTo>
                  <a:pt x="0" y="0"/>
                </a:moveTo>
                <a:lnTo>
                  <a:pt x="1100938" y="0"/>
                </a:lnTo>
                <a:lnTo>
                  <a:pt x="1100938" y="1100938"/>
                </a:lnTo>
                <a:lnTo>
                  <a:pt x="0" y="1100938"/>
                </a:lnTo>
                <a:lnTo>
                  <a:pt x="0" y="0"/>
                </a:lnTo>
                <a:close/>
              </a:path>
            </a:pathLst>
          </a:custGeom>
          <a:blipFill>
            <a:blip r:embed="rId4"/>
            <a:stretch>
              <a:fillRect l="0" t="0" r="0" b="0"/>
            </a:stretch>
          </a:blipFill>
        </p:spPr>
      </p:sp>
      <p:sp>
        <p:nvSpPr>
          <p:cNvPr name="Freeform 9" id="9"/>
          <p:cNvSpPr/>
          <p:nvPr/>
        </p:nvSpPr>
        <p:spPr>
          <a:xfrm flipH="false" flipV="false" rot="0">
            <a:off x="3052655" y="1817239"/>
            <a:ext cx="949133" cy="949133"/>
          </a:xfrm>
          <a:custGeom>
            <a:avLst/>
            <a:gdLst/>
            <a:ahLst/>
            <a:cxnLst/>
            <a:rect r="r" b="b" t="t" l="l"/>
            <a:pathLst>
              <a:path h="949133" w="949133">
                <a:moveTo>
                  <a:pt x="0" y="0"/>
                </a:moveTo>
                <a:lnTo>
                  <a:pt x="949133" y="0"/>
                </a:lnTo>
                <a:lnTo>
                  <a:pt x="949133" y="949133"/>
                </a:lnTo>
                <a:lnTo>
                  <a:pt x="0" y="9491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4062597" y="8239767"/>
            <a:ext cx="949133" cy="949133"/>
          </a:xfrm>
          <a:custGeom>
            <a:avLst/>
            <a:gdLst/>
            <a:ahLst/>
            <a:cxnLst/>
            <a:rect r="r" b="b" t="t" l="l"/>
            <a:pathLst>
              <a:path h="949133" w="949133">
                <a:moveTo>
                  <a:pt x="0" y="0"/>
                </a:moveTo>
                <a:lnTo>
                  <a:pt x="949133" y="0"/>
                </a:lnTo>
                <a:lnTo>
                  <a:pt x="949133" y="949132"/>
                </a:lnTo>
                <a:lnTo>
                  <a:pt x="0" y="9491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1611832" y="1718741"/>
            <a:ext cx="949966" cy="949966"/>
          </a:xfrm>
          <a:custGeom>
            <a:avLst/>
            <a:gdLst/>
            <a:ahLst/>
            <a:cxnLst/>
            <a:rect r="r" b="b" t="t" l="l"/>
            <a:pathLst>
              <a:path h="949966" w="949966">
                <a:moveTo>
                  <a:pt x="0" y="0"/>
                </a:moveTo>
                <a:lnTo>
                  <a:pt x="949965" y="0"/>
                </a:lnTo>
                <a:lnTo>
                  <a:pt x="949965" y="949965"/>
                </a:lnTo>
                <a:lnTo>
                  <a:pt x="0" y="949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1932039" y="8496942"/>
            <a:ext cx="949966" cy="949966"/>
          </a:xfrm>
          <a:custGeom>
            <a:avLst/>
            <a:gdLst/>
            <a:ahLst/>
            <a:cxnLst/>
            <a:rect r="r" b="b" t="t" l="l"/>
            <a:pathLst>
              <a:path h="949966" w="949966">
                <a:moveTo>
                  <a:pt x="0" y="0"/>
                </a:moveTo>
                <a:lnTo>
                  <a:pt x="949966" y="0"/>
                </a:lnTo>
                <a:lnTo>
                  <a:pt x="949966" y="949965"/>
                </a:lnTo>
                <a:lnTo>
                  <a:pt x="0" y="949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4062597" y="1816823"/>
            <a:ext cx="1227138" cy="1091037"/>
          </a:xfrm>
          <a:custGeom>
            <a:avLst/>
            <a:gdLst/>
            <a:ahLst/>
            <a:cxnLst/>
            <a:rect r="r" b="b" t="t" l="l"/>
            <a:pathLst>
              <a:path h="1091037" w="1227138">
                <a:moveTo>
                  <a:pt x="0" y="0"/>
                </a:moveTo>
                <a:lnTo>
                  <a:pt x="1227138" y="0"/>
                </a:lnTo>
                <a:lnTo>
                  <a:pt x="1227138" y="1091037"/>
                </a:lnTo>
                <a:lnTo>
                  <a:pt x="0" y="10910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2217236" y="4093995"/>
            <a:ext cx="4057871" cy="2725354"/>
          </a:xfrm>
          <a:custGeom>
            <a:avLst/>
            <a:gdLst/>
            <a:ahLst/>
            <a:cxnLst/>
            <a:rect r="r" b="b" t="t" l="l"/>
            <a:pathLst>
              <a:path h="2725354" w="4057871">
                <a:moveTo>
                  <a:pt x="0" y="0"/>
                </a:moveTo>
                <a:lnTo>
                  <a:pt x="4057871" y="0"/>
                </a:lnTo>
                <a:lnTo>
                  <a:pt x="4057871" y="2725354"/>
                </a:lnTo>
                <a:lnTo>
                  <a:pt x="0" y="272535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5" id="15"/>
          <p:cNvSpPr/>
          <p:nvPr/>
        </p:nvSpPr>
        <p:spPr>
          <a:xfrm flipH="false" flipV="false" rot="0">
            <a:off x="2302274" y="4183023"/>
            <a:ext cx="1760322" cy="1699511"/>
          </a:xfrm>
          <a:custGeom>
            <a:avLst/>
            <a:gdLst/>
            <a:ahLst/>
            <a:cxnLst/>
            <a:rect r="r" b="b" t="t" l="l"/>
            <a:pathLst>
              <a:path h="1699511" w="1760322">
                <a:moveTo>
                  <a:pt x="0" y="0"/>
                </a:moveTo>
                <a:lnTo>
                  <a:pt x="1760323" y="0"/>
                </a:lnTo>
                <a:lnTo>
                  <a:pt x="1760323" y="1699511"/>
                </a:lnTo>
                <a:lnTo>
                  <a:pt x="0" y="16995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2755783" y="4678269"/>
            <a:ext cx="853305" cy="709019"/>
          </a:xfrm>
          <a:custGeom>
            <a:avLst/>
            <a:gdLst/>
            <a:ahLst/>
            <a:cxnLst/>
            <a:rect r="r" b="b" t="t" l="l"/>
            <a:pathLst>
              <a:path h="709019" w="853305">
                <a:moveTo>
                  <a:pt x="0" y="0"/>
                </a:moveTo>
                <a:lnTo>
                  <a:pt x="853305" y="0"/>
                </a:lnTo>
                <a:lnTo>
                  <a:pt x="853305" y="709019"/>
                </a:lnTo>
                <a:lnTo>
                  <a:pt x="0" y="70901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7" id="17"/>
          <p:cNvSpPr/>
          <p:nvPr/>
        </p:nvSpPr>
        <p:spPr>
          <a:xfrm flipH="false" flipV="false" rot="0">
            <a:off x="3982567" y="5833626"/>
            <a:ext cx="263604" cy="310455"/>
          </a:xfrm>
          <a:custGeom>
            <a:avLst/>
            <a:gdLst/>
            <a:ahLst/>
            <a:cxnLst/>
            <a:rect r="r" b="b" t="t" l="l"/>
            <a:pathLst>
              <a:path h="310455" w="263604">
                <a:moveTo>
                  <a:pt x="0" y="0"/>
                </a:moveTo>
                <a:lnTo>
                  <a:pt x="263604" y="0"/>
                </a:lnTo>
                <a:lnTo>
                  <a:pt x="263604" y="310455"/>
                </a:lnTo>
                <a:lnTo>
                  <a:pt x="0" y="31045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8" id="18"/>
          <p:cNvSpPr/>
          <p:nvPr/>
        </p:nvSpPr>
        <p:spPr>
          <a:xfrm flipH="false" flipV="false" rot="0">
            <a:off x="3776217" y="6342517"/>
            <a:ext cx="279275" cy="279275"/>
          </a:xfrm>
          <a:custGeom>
            <a:avLst/>
            <a:gdLst/>
            <a:ahLst/>
            <a:cxnLst/>
            <a:rect r="r" b="b" t="t" l="l"/>
            <a:pathLst>
              <a:path h="279275" w="279275">
                <a:moveTo>
                  <a:pt x="0" y="0"/>
                </a:moveTo>
                <a:lnTo>
                  <a:pt x="279275" y="0"/>
                </a:lnTo>
                <a:lnTo>
                  <a:pt x="279275" y="279275"/>
                </a:lnTo>
                <a:lnTo>
                  <a:pt x="0" y="27927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9" id="19"/>
          <p:cNvSpPr txBox="true"/>
          <p:nvPr/>
        </p:nvSpPr>
        <p:spPr>
          <a:xfrm rot="0">
            <a:off x="4001788" y="4446991"/>
            <a:ext cx="1793585" cy="947914"/>
          </a:xfrm>
          <a:prstGeom prst="rect">
            <a:avLst/>
          </a:prstGeom>
        </p:spPr>
        <p:txBody>
          <a:bodyPr anchor="t" rtlCol="false" tIns="0" lIns="0" bIns="0" rIns="0">
            <a:spAutoFit/>
          </a:bodyPr>
          <a:lstStyle/>
          <a:p>
            <a:pPr algn="ctr">
              <a:lnSpc>
                <a:spcPts val="2511"/>
              </a:lnSpc>
            </a:pPr>
            <a:r>
              <a:rPr lang="en-US" b="true" sz="2000" u="sng">
                <a:solidFill>
                  <a:srgbClr val="F5F0F0"/>
                </a:solidFill>
                <a:latin typeface="Merriweather Bold"/>
                <a:ea typeface="Merriweather Bold"/>
                <a:cs typeface="Merriweather Bold"/>
                <a:sym typeface="Merriweather Bold"/>
              </a:rPr>
              <a:t>Stock Exchange (BSE/NSE)</a:t>
            </a:r>
          </a:p>
        </p:txBody>
      </p:sp>
      <p:sp>
        <p:nvSpPr>
          <p:cNvPr name="TextBox 20" id="20"/>
          <p:cNvSpPr txBox="true"/>
          <p:nvPr/>
        </p:nvSpPr>
        <p:spPr>
          <a:xfrm rot="0">
            <a:off x="3915855" y="5824101"/>
            <a:ext cx="2154277" cy="797690"/>
          </a:xfrm>
          <a:prstGeom prst="rect">
            <a:avLst/>
          </a:prstGeom>
        </p:spPr>
        <p:txBody>
          <a:bodyPr anchor="t" rtlCol="false" tIns="0" lIns="0" bIns="0" rIns="0">
            <a:spAutoFit/>
          </a:bodyPr>
          <a:lstStyle/>
          <a:p>
            <a:pPr algn="ctr">
              <a:lnSpc>
                <a:spcPts val="2133"/>
              </a:lnSpc>
            </a:pPr>
            <a:r>
              <a:rPr lang="en-US" sz="1700">
                <a:solidFill>
                  <a:srgbClr val="F5F0F0"/>
                </a:solidFill>
                <a:latin typeface="Merriweather"/>
                <a:ea typeface="Merriweather"/>
                <a:cs typeface="Merriweather"/>
                <a:sym typeface="Merriweather"/>
              </a:rPr>
              <a:t>Verification</a:t>
            </a:r>
          </a:p>
          <a:p>
            <a:pPr algn="ctr">
              <a:lnSpc>
                <a:spcPts val="2133"/>
              </a:lnSpc>
            </a:pPr>
            <a:r>
              <a:rPr lang="en-US" sz="1700">
                <a:solidFill>
                  <a:srgbClr val="F5F0F0"/>
                </a:solidFill>
                <a:latin typeface="Merriweather"/>
                <a:ea typeface="Merriweather"/>
                <a:cs typeface="Merriweather"/>
                <a:sym typeface="Merriweather"/>
              </a:rPr>
              <a:t> </a:t>
            </a:r>
          </a:p>
          <a:p>
            <a:pPr algn="ctr">
              <a:lnSpc>
                <a:spcPts val="2134"/>
              </a:lnSpc>
            </a:pPr>
            <a:r>
              <a:rPr lang="en-US" sz="1700">
                <a:solidFill>
                  <a:srgbClr val="F5F0F0"/>
                </a:solidFill>
                <a:latin typeface="Merriweather"/>
                <a:ea typeface="Merriweather"/>
                <a:cs typeface="Merriweather"/>
                <a:sym typeface="Merriweather"/>
              </a:rPr>
              <a:t>Updating ledger</a:t>
            </a:r>
          </a:p>
        </p:txBody>
      </p:sp>
      <p:sp>
        <p:nvSpPr>
          <p:cNvPr name="Freeform 21" id="21"/>
          <p:cNvSpPr/>
          <p:nvPr/>
        </p:nvSpPr>
        <p:spPr>
          <a:xfrm flipH="false" flipV="false" rot="0">
            <a:off x="14140754" y="3782475"/>
            <a:ext cx="3993952" cy="2682424"/>
          </a:xfrm>
          <a:custGeom>
            <a:avLst/>
            <a:gdLst/>
            <a:ahLst/>
            <a:cxnLst/>
            <a:rect r="r" b="b" t="t" l="l"/>
            <a:pathLst>
              <a:path h="2682424" w="3993952">
                <a:moveTo>
                  <a:pt x="0" y="0"/>
                </a:moveTo>
                <a:lnTo>
                  <a:pt x="3993952" y="0"/>
                </a:lnTo>
                <a:lnTo>
                  <a:pt x="3993952" y="2682425"/>
                </a:lnTo>
                <a:lnTo>
                  <a:pt x="0" y="26824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22" id="22"/>
          <p:cNvSpPr/>
          <p:nvPr/>
        </p:nvSpPr>
        <p:spPr>
          <a:xfrm flipH="false" flipV="false" rot="0">
            <a:off x="14457466" y="4777427"/>
            <a:ext cx="668030" cy="764555"/>
          </a:xfrm>
          <a:custGeom>
            <a:avLst/>
            <a:gdLst/>
            <a:ahLst/>
            <a:cxnLst/>
            <a:rect r="r" b="b" t="t" l="l"/>
            <a:pathLst>
              <a:path h="764555" w="668030">
                <a:moveTo>
                  <a:pt x="0" y="0"/>
                </a:moveTo>
                <a:lnTo>
                  <a:pt x="668031" y="0"/>
                </a:lnTo>
                <a:lnTo>
                  <a:pt x="668031" y="764555"/>
                </a:lnTo>
                <a:lnTo>
                  <a:pt x="0" y="764555"/>
                </a:lnTo>
                <a:lnTo>
                  <a:pt x="0" y="0"/>
                </a:lnTo>
                <a:close/>
              </a:path>
            </a:pathLst>
          </a:custGeom>
          <a:blipFill>
            <a:blip r:embed="rId19"/>
            <a:stretch>
              <a:fillRect l="0" t="0" r="0" b="0"/>
            </a:stretch>
          </a:blipFill>
        </p:spPr>
      </p:sp>
      <p:sp>
        <p:nvSpPr>
          <p:cNvPr name="Freeform 23" id="23"/>
          <p:cNvSpPr/>
          <p:nvPr/>
        </p:nvSpPr>
        <p:spPr>
          <a:xfrm flipH="false" flipV="false" rot="0">
            <a:off x="11041057" y="3935931"/>
            <a:ext cx="3041481" cy="3041481"/>
          </a:xfrm>
          <a:custGeom>
            <a:avLst/>
            <a:gdLst/>
            <a:ahLst/>
            <a:cxnLst/>
            <a:rect r="r" b="b" t="t" l="l"/>
            <a:pathLst>
              <a:path h="3041481" w="3041481">
                <a:moveTo>
                  <a:pt x="0" y="0"/>
                </a:moveTo>
                <a:lnTo>
                  <a:pt x="3041481" y="0"/>
                </a:lnTo>
                <a:lnTo>
                  <a:pt x="3041481" y="3041481"/>
                </a:lnTo>
                <a:lnTo>
                  <a:pt x="0" y="304148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24" id="24"/>
          <p:cNvSpPr txBox="true"/>
          <p:nvPr/>
        </p:nvSpPr>
        <p:spPr>
          <a:xfrm rot="0">
            <a:off x="14809137" y="3904486"/>
            <a:ext cx="2657185" cy="947914"/>
          </a:xfrm>
          <a:prstGeom prst="rect">
            <a:avLst/>
          </a:prstGeom>
        </p:spPr>
        <p:txBody>
          <a:bodyPr anchor="t" rtlCol="false" tIns="0" lIns="0" bIns="0" rIns="0">
            <a:spAutoFit/>
          </a:bodyPr>
          <a:lstStyle/>
          <a:p>
            <a:pPr algn="ctr">
              <a:lnSpc>
                <a:spcPts val="2511"/>
              </a:lnSpc>
            </a:pPr>
            <a:r>
              <a:rPr lang="en-US" b="true" sz="2000" u="sng">
                <a:solidFill>
                  <a:srgbClr val="F5F0F0"/>
                </a:solidFill>
                <a:latin typeface="Merriweather Bold"/>
                <a:ea typeface="Merriweather Bold"/>
                <a:cs typeface="Merriweather Bold"/>
                <a:sym typeface="Merriweather Bold"/>
                <a:hlinkClick r:id="rId22" tooltip="https://www.google.com/search?sca_esv=90bfdfc1a030529e&amp;sxsrf=AE3TifPXJO63PmygSJ2TaAuDmVwb7nedQw%3A1758771551395&amp;q=Decentralized+Autonomous+Organization&amp;sa=X&amp;ved=2ahUKEwjFj7_M_vKPAxUNd2wGHUJpBMIQxccNegQIHRAB&amp;mstk=AUtExfBjyeC9bQwmNYcQ6rPhDhgkZH8EtRYG-SqOi0xfntd2778o8iTuthof52RpzcaaHW1822iG6yvlHjzGCSTK9QaWEjQwUyzd2jgU2DIf52qsOBFerOtGCmPrIUndV_zKL8WVPe6UiVxzF2KGOWkCES1QX0Xx22fzQkm6nrPVeri5fk6SHUImrYApp2d2K-81q_TU9ar6yppHABzO5HwiGtA4UWu-4qA42h7vz5pv8AiqEQIzLNCQteSDcxbhHMZSUE-fdnWcLasG0_ytfZv_Pl1k&amp;csui=3"/>
              </a:rPr>
              <a:t>Decentralized Autonomous Organization</a:t>
            </a:r>
          </a:p>
        </p:txBody>
      </p:sp>
      <p:sp>
        <p:nvSpPr>
          <p:cNvPr name="TextBox 25" id="25"/>
          <p:cNvSpPr txBox="true"/>
          <p:nvPr/>
        </p:nvSpPr>
        <p:spPr>
          <a:xfrm rot="0">
            <a:off x="14588507" y="5215628"/>
            <a:ext cx="3098446" cy="633659"/>
          </a:xfrm>
          <a:prstGeom prst="rect">
            <a:avLst/>
          </a:prstGeom>
        </p:spPr>
        <p:txBody>
          <a:bodyPr anchor="t" rtlCol="false" tIns="0" lIns="0" bIns="0" rIns="0">
            <a:spAutoFit/>
          </a:bodyPr>
          <a:lstStyle/>
          <a:p>
            <a:pPr algn="ctr">
              <a:lnSpc>
                <a:spcPts val="2510"/>
              </a:lnSpc>
            </a:pPr>
            <a:r>
              <a:rPr lang="en-US" sz="2000">
                <a:solidFill>
                  <a:srgbClr val="F5F0F0"/>
                </a:solidFill>
                <a:latin typeface="Merriweather"/>
                <a:ea typeface="Merriweather"/>
                <a:cs typeface="Merriweather"/>
                <a:sym typeface="Merriweather"/>
              </a:rPr>
              <a:t>Ethereum</a:t>
            </a:r>
          </a:p>
          <a:p>
            <a:pPr algn="ctr">
              <a:lnSpc>
                <a:spcPts val="2511"/>
              </a:lnSpc>
            </a:pPr>
            <a:r>
              <a:rPr lang="en-US" sz="2000">
                <a:solidFill>
                  <a:srgbClr val="F5F0F0"/>
                </a:solidFill>
                <a:latin typeface="Merriweather"/>
                <a:ea typeface="Merriweather"/>
                <a:cs typeface="Merriweather"/>
                <a:sym typeface="Merriweather"/>
              </a:rPr>
              <a:t>Smart Contracts</a:t>
            </a:r>
          </a:p>
        </p:txBody>
      </p:sp>
      <p:sp>
        <p:nvSpPr>
          <p:cNvPr name="Freeform 26" id="26"/>
          <p:cNvSpPr/>
          <p:nvPr/>
        </p:nvSpPr>
        <p:spPr>
          <a:xfrm flipH="false" flipV="false" rot="0">
            <a:off x="3390557" y="8220717"/>
            <a:ext cx="611231" cy="1037583"/>
          </a:xfrm>
          <a:custGeom>
            <a:avLst/>
            <a:gdLst/>
            <a:ahLst/>
            <a:cxnLst/>
            <a:rect r="r" b="b" t="t" l="l"/>
            <a:pathLst>
              <a:path h="1037583" w="611231">
                <a:moveTo>
                  <a:pt x="0" y="0"/>
                </a:moveTo>
                <a:lnTo>
                  <a:pt x="611231" y="0"/>
                </a:lnTo>
                <a:lnTo>
                  <a:pt x="611231" y="1037583"/>
                </a:lnTo>
                <a:lnTo>
                  <a:pt x="0" y="103758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7" id="27"/>
          <p:cNvSpPr/>
          <p:nvPr/>
        </p:nvSpPr>
        <p:spPr>
          <a:xfrm flipH="false" flipV="false" rot="-5400000">
            <a:off x="3528425" y="7117091"/>
            <a:ext cx="1092429" cy="848122"/>
          </a:xfrm>
          <a:custGeom>
            <a:avLst/>
            <a:gdLst/>
            <a:ahLst/>
            <a:cxnLst/>
            <a:rect r="r" b="b" t="t" l="l"/>
            <a:pathLst>
              <a:path h="848122" w="1092429">
                <a:moveTo>
                  <a:pt x="0" y="0"/>
                </a:moveTo>
                <a:lnTo>
                  <a:pt x="1092429" y="0"/>
                </a:lnTo>
                <a:lnTo>
                  <a:pt x="1092429" y="848122"/>
                </a:lnTo>
                <a:lnTo>
                  <a:pt x="0" y="848122"/>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28" id="28"/>
          <p:cNvSpPr txBox="true"/>
          <p:nvPr/>
        </p:nvSpPr>
        <p:spPr>
          <a:xfrm rot="0">
            <a:off x="10533009" y="501800"/>
            <a:ext cx="6150881" cy="509065"/>
          </a:xfrm>
          <a:prstGeom prst="rect">
            <a:avLst/>
          </a:prstGeom>
        </p:spPr>
        <p:txBody>
          <a:bodyPr anchor="t" rtlCol="false" tIns="0" lIns="0" bIns="0" rIns="0">
            <a:spAutoFit/>
          </a:bodyPr>
          <a:lstStyle/>
          <a:p>
            <a:pPr algn="l">
              <a:lnSpc>
                <a:spcPts val="4151"/>
              </a:lnSpc>
            </a:pPr>
            <a:r>
              <a:rPr lang="en-US" sz="3299" u="sng">
                <a:solidFill>
                  <a:srgbClr val="DAECFF"/>
                </a:solidFill>
                <a:latin typeface="Merriweather"/>
                <a:ea typeface="Merriweather"/>
                <a:cs typeface="Merriweather"/>
                <a:sym typeface="Merriweather"/>
              </a:rPr>
              <a:t>Decentralized Finance (DeFi)</a:t>
            </a:r>
          </a:p>
        </p:txBody>
      </p:sp>
      <p:sp>
        <p:nvSpPr>
          <p:cNvPr name="TextBox 29" id="29"/>
          <p:cNvSpPr txBox="true"/>
          <p:nvPr/>
        </p:nvSpPr>
        <p:spPr>
          <a:xfrm rot="0">
            <a:off x="2217236" y="501800"/>
            <a:ext cx="4300217" cy="509065"/>
          </a:xfrm>
          <a:prstGeom prst="rect">
            <a:avLst/>
          </a:prstGeom>
        </p:spPr>
        <p:txBody>
          <a:bodyPr anchor="t" rtlCol="false" tIns="0" lIns="0" bIns="0" rIns="0">
            <a:spAutoFit/>
          </a:bodyPr>
          <a:lstStyle/>
          <a:p>
            <a:pPr algn="l">
              <a:lnSpc>
                <a:spcPts val="4151"/>
              </a:lnSpc>
            </a:pPr>
            <a:r>
              <a:rPr lang="en-US" sz="3299" u="sng">
                <a:solidFill>
                  <a:srgbClr val="DAECFF"/>
                </a:solidFill>
                <a:latin typeface="Merriweather"/>
                <a:ea typeface="Merriweather"/>
                <a:cs typeface="Merriweather"/>
                <a:sym typeface="Merriweather"/>
              </a:rPr>
              <a:t>Centralised Finance</a:t>
            </a:r>
          </a:p>
        </p:txBody>
      </p:sp>
      <p:sp>
        <p:nvSpPr>
          <p:cNvPr name="TextBox 30" id="30"/>
          <p:cNvSpPr txBox="true"/>
          <p:nvPr/>
        </p:nvSpPr>
        <p:spPr>
          <a:xfrm rot="0">
            <a:off x="3557940" y="1309175"/>
            <a:ext cx="887696" cy="355247"/>
          </a:xfrm>
          <a:prstGeom prst="rect">
            <a:avLst/>
          </a:prstGeom>
        </p:spPr>
        <p:txBody>
          <a:bodyPr anchor="t" rtlCol="false" tIns="0" lIns="0" bIns="0" rIns="0">
            <a:spAutoFit/>
          </a:bodyPr>
          <a:lstStyle/>
          <a:p>
            <a:pPr algn="l">
              <a:lnSpc>
                <a:spcPts val="2887"/>
              </a:lnSpc>
            </a:pPr>
            <a:r>
              <a:rPr lang="en-US" sz="2299">
                <a:solidFill>
                  <a:srgbClr val="F5F0F0"/>
                </a:solidFill>
                <a:latin typeface="Merriweather"/>
                <a:ea typeface="Merriweather"/>
                <a:cs typeface="Merriweather"/>
                <a:sym typeface="Merriweather"/>
              </a:rPr>
              <a:t>John</a:t>
            </a:r>
          </a:p>
        </p:txBody>
      </p:sp>
      <p:sp>
        <p:nvSpPr>
          <p:cNvPr name="TextBox 31" id="31"/>
          <p:cNvSpPr txBox="true"/>
          <p:nvPr/>
        </p:nvSpPr>
        <p:spPr>
          <a:xfrm rot="0">
            <a:off x="3743056" y="9420225"/>
            <a:ext cx="702580" cy="355247"/>
          </a:xfrm>
          <a:prstGeom prst="rect">
            <a:avLst/>
          </a:prstGeom>
        </p:spPr>
        <p:txBody>
          <a:bodyPr anchor="t" rtlCol="false" tIns="0" lIns="0" bIns="0" rIns="0">
            <a:spAutoFit/>
          </a:bodyPr>
          <a:lstStyle/>
          <a:p>
            <a:pPr algn="l">
              <a:lnSpc>
                <a:spcPts val="2887"/>
              </a:lnSpc>
            </a:pPr>
            <a:r>
              <a:rPr lang="en-US" sz="2299">
                <a:solidFill>
                  <a:srgbClr val="F5F0F0"/>
                </a:solidFill>
                <a:latin typeface="Merriweather"/>
                <a:ea typeface="Merriweather"/>
                <a:cs typeface="Merriweather"/>
                <a:sym typeface="Merriweather"/>
              </a:rPr>
              <a:t>Bob</a:t>
            </a:r>
          </a:p>
        </p:txBody>
      </p:sp>
      <p:sp>
        <p:nvSpPr>
          <p:cNvPr name="TextBox 32" id="32"/>
          <p:cNvSpPr txBox="true"/>
          <p:nvPr/>
        </p:nvSpPr>
        <p:spPr>
          <a:xfrm rot="0">
            <a:off x="10626247" y="7492116"/>
            <a:ext cx="1337428" cy="355247"/>
          </a:xfrm>
          <a:prstGeom prst="rect">
            <a:avLst/>
          </a:prstGeom>
        </p:spPr>
        <p:txBody>
          <a:bodyPr anchor="t" rtlCol="false" tIns="0" lIns="0" bIns="0" rIns="0">
            <a:spAutoFit/>
          </a:bodyPr>
          <a:lstStyle/>
          <a:p>
            <a:pPr algn="l">
              <a:lnSpc>
                <a:spcPts val="2887"/>
              </a:lnSpc>
            </a:pPr>
            <a:r>
              <a:rPr lang="en-US" sz="2299">
                <a:solidFill>
                  <a:srgbClr val="F5F0F0"/>
                </a:solidFill>
                <a:latin typeface="Merriweather"/>
                <a:ea typeface="Merriweather"/>
                <a:cs typeface="Merriweather"/>
                <a:sym typeface="Merriweather"/>
              </a:rPr>
              <a:t> API calls</a:t>
            </a:r>
          </a:p>
        </p:txBody>
      </p:sp>
      <p:sp>
        <p:nvSpPr>
          <p:cNvPr name="TextBox 33" id="33"/>
          <p:cNvSpPr txBox="true"/>
          <p:nvPr/>
        </p:nvSpPr>
        <p:spPr>
          <a:xfrm rot="0">
            <a:off x="10857663" y="1277768"/>
            <a:ext cx="3408268" cy="355247"/>
          </a:xfrm>
          <a:prstGeom prst="rect">
            <a:avLst/>
          </a:prstGeom>
        </p:spPr>
        <p:txBody>
          <a:bodyPr anchor="t" rtlCol="false" tIns="0" lIns="0" bIns="0" rIns="0">
            <a:spAutoFit/>
          </a:bodyPr>
          <a:lstStyle/>
          <a:p>
            <a:pPr algn="l">
              <a:lnSpc>
                <a:spcPts val="2887"/>
              </a:lnSpc>
            </a:pPr>
            <a:r>
              <a:rPr lang="en-US" sz="2299">
                <a:solidFill>
                  <a:srgbClr val="F5F0F0"/>
                </a:solidFill>
                <a:latin typeface="Merriweather"/>
                <a:ea typeface="Merriweather"/>
                <a:cs typeface="Merriweather"/>
                <a:sym typeface="Merriweather"/>
              </a:rPr>
              <a:t>John’s Ethereum wallet</a:t>
            </a:r>
          </a:p>
        </p:txBody>
      </p:sp>
      <p:sp>
        <p:nvSpPr>
          <p:cNvPr name="TextBox 34" id="34"/>
          <p:cNvSpPr txBox="true"/>
          <p:nvPr/>
        </p:nvSpPr>
        <p:spPr>
          <a:xfrm rot="0">
            <a:off x="11373031" y="9668445"/>
            <a:ext cx="3549171" cy="355247"/>
          </a:xfrm>
          <a:prstGeom prst="rect">
            <a:avLst/>
          </a:prstGeom>
        </p:spPr>
        <p:txBody>
          <a:bodyPr anchor="t" rtlCol="false" tIns="0" lIns="0" bIns="0" rIns="0">
            <a:spAutoFit/>
          </a:bodyPr>
          <a:lstStyle/>
          <a:p>
            <a:pPr algn="l">
              <a:lnSpc>
                <a:spcPts val="2887"/>
              </a:lnSpc>
            </a:pPr>
            <a:r>
              <a:rPr lang="en-US" sz="2299">
                <a:solidFill>
                  <a:srgbClr val="F5F0F0"/>
                </a:solidFill>
                <a:latin typeface="Merriweather"/>
                <a:ea typeface="Merriweather"/>
                <a:cs typeface="Merriweather"/>
                <a:sym typeface="Merriweather"/>
              </a:rPr>
              <a:t>Bob’s Ethereum wallet</a:t>
            </a:r>
          </a:p>
        </p:txBody>
      </p:sp>
      <p:sp>
        <p:nvSpPr>
          <p:cNvPr name="TextBox 35" id="35"/>
          <p:cNvSpPr txBox="true"/>
          <p:nvPr/>
        </p:nvSpPr>
        <p:spPr>
          <a:xfrm rot="0">
            <a:off x="5409006" y="1736762"/>
            <a:ext cx="1199984" cy="1079147"/>
          </a:xfrm>
          <a:prstGeom prst="rect">
            <a:avLst/>
          </a:prstGeom>
        </p:spPr>
        <p:txBody>
          <a:bodyPr anchor="t" rtlCol="false" tIns="0" lIns="0" bIns="0" rIns="0">
            <a:spAutoFit/>
          </a:bodyPr>
          <a:lstStyle/>
          <a:p>
            <a:pPr algn="ctr">
              <a:lnSpc>
                <a:spcPts val="2887"/>
              </a:lnSpc>
            </a:pPr>
            <a:r>
              <a:rPr lang="en-US" sz="2299">
                <a:solidFill>
                  <a:srgbClr val="F5F0F0"/>
                </a:solidFill>
                <a:latin typeface="Merriweather"/>
                <a:ea typeface="Merriweather"/>
                <a:cs typeface="Merriweather"/>
                <a:sym typeface="Merriweather"/>
              </a:rPr>
              <a:t>Zerodha Demat Account</a:t>
            </a:r>
          </a:p>
        </p:txBody>
      </p:sp>
      <p:sp>
        <p:nvSpPr>
          <p:cNvPr name="Freeform 36" id="36"/>
          <p:cNvSpPr/>
          <p:nvPr/>
        </p:nvSpPr>
        <p:spPr>
          <a:xfrm flipH="false" flipV="false" rot="-5400000">
            <a:off x="3750261" y="3146403"/>
            <a:ext cx="991821" cy="770013"/>
          </a:xfrm>
          <a:custGeom>
            <a:avLst/>
            <a:gdLst/>
            <a:ahLst/>
            <a:cxnLst/>
            <a:rect r="r" b="b" t="t" l="l"/>
            <a:pathLst>
              <a:path h="770013" w="991821">
                <a:moveTo>
                  <a:pt x="0" y="0"/>
                </a:moveTo>
                <a:lnTo>
                  <a:pt x="991821" y="0"/>
                </a:lnTo>
                <a:lnTo>
                  <a:pt x="991821" y="770013"/>
                </a:lnTo>
                <a:lnTo>
                  <a:pt x="0" y="770013"/>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37" id="37"/>
          <p:cNvSpPr/>
          <p:nvPr/>
        </p:nvSpPr>
        <p:spPr>
          <a:xfrm flipH="false" flipV="false" rot="0">
            <a:off x="12882005" y="8526086"/>
            <a:ext cx="611231" cy="1037583"/>
          </a:xfrm>
          <a:custGeom>
            <a:avLst/>
            <a:gdLst/>
            <a:ahLst/>
            <a:cxnLst/>
            <a:rect r="r" b="b" t="t" l="l"/>
            <a:pathLst>
              <a:path h="1037583" w="611231">
                <a:moveTo>
                  <a:pt x="0" y="0"/>
                </a:moveTo>
                <a:lnTo>
                  <a:pt x="611231" y="0"/>
                </a:lnTo>
                <a:lnTo>
                  <a:pt x="611231" y="1037584"/>
                </a:lnTo>
                <a:lnTo>
                  <a:pt x="0" y="1037584"/>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38" id="38"/>
          <p:cNvSpPr/>
          <p:nvPr/>
        </p:nvSpPr>
        <p:spPr>
          <a:xfrm flipH="false" flipV="false" rot="0">
            <a:off x="12631463" y="1746287"/>
            <a:ext cx="1227138" cy="1091037"/>
          </a:xfrm>
          <a:custGeom>
            <a:avLst/>
            <a:gdLst/>
            <a:ahLst/>
            <a:cxnLst/>
            <a:rect r="r" b="b" t="t" l="l"/>
            <a:pathLst>
              <a:path h="1091037" w="1227138">
                <a:moveTo>
                  <a:pt x="0" y="0"/>
                </a:moveTo>
                <a:lnTo>
                  <a:pt x="1227138" y="0"/>
                </a:lnTo>
                <a:lnTo>
                  <a:pt x="1227138" y="1091037"/>
                </a:lnTo>
                <a:lnTo>
                  <a:pt x="0" y="10910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9" id="39"/>
          <p:cNvSpPr/>
          <p:nvPr/>
        </p:nvSpPr>
        <p:spPr>
          <a:xfrm flipH="false" flipV="false" rot="-5400000">
            <a:off x="12015583" y="7250441"/>
            <a:ext cx="1092429" cy="848122"/>
          </a:xfrm>
          <a:custGeom>
            <a:avLst/>
            <a:gdLst/>
            <a:ahLst/>
            <a:cxnLst/>
            <a:rect r="r" b="b" t="t" l="l"/>
            <a:pathLst>
              <a:path h="848122" w="1092429">
                <a:moveTo>
                  <a:pt x="0" y="0"/>
                </a:moveTo>
                <a:lnTo>
                  <a:pt x="1092429" y="0"/>
                </a:lnTo>
                <a:lnTo>
                  <a:pt x="1092429" y="848122"/>
                </a:lnTo>
                <a:lnTo>
                  <a:pt x="0" y="848122"/>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40" id="40"/>
          <p:cNvSpPr/>
          <p:nvPr/>
        </p:nvSpPr>
        <p:spPr>
          <a:xfrm flipH="false" flipV="false" rot="-5400000">
            <a:off x="12065887" y="2970403"/>
            <a:ext cx="991821" cy="770013"/>
          </a:xfrm>
          <a:custGeom>
            <a:avLst/>
            <a:gdLst/>
            <a:ahLst/>
            <a:cxnLst/>
            <a:rect r="r" b="b" t="t" l="l"/>
            <a:pathLst>
              <a:path h="770013" w="991821">
                <a:moveTo>
                  <a:pt x="0" y="0"/>
                </a:moveTo>
                <a:lnTo>
                  <a:pt x="991820" y="0"/>
                </a:lnTo>
                <a:lnTo>
                  <a:pt x="991820" y="770014"/>
                </a:lnTo>
                <a:lnTo>
                  <a:pt x="0" y="770014"/>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41" id="41"/>
          <p:cNvSpPr txBox="true"/>
          <p:nvPr/>
        </p:nvSpPr>
        <p:spPr>
          <a:xfrm rot="0">
            <a:off x="13925276" y="1807298"/>
            <a:ext cx="1993853" cy="717278"/>
          </a:xfrm>
          <a:prstGeom prst="rect">
            <a:avLst/>
          </a:prstGeom>
        </p:spPr>
        <p:txBody>
          <a:bodyPr anchor="t" rtlCol="false" tIns="0" lIns="0" bIns="0" rIns="0">
            <a:spAutoFit/>
          </a:bodyPr>
          <a:lstStyle/>
          <a:p>
            <a:pPr algn="ctr">
              <a:lnSpc>
                <a:spcPts val="2886"/>
              </a:lnSpc>
            </a:pPr>
            <a:r>
              <a:rPr lang="en-US" sz="2299">
                <a:solidFill>
                  <a:srgbClr val="F5F0F0"/>
                </a:solidFill>
                <a:latin typeface="Merriweather"/>
                <a:ea typeface="Merriweather"/>
                <a:cs typeface="Merriweather"/>
                <a:sym typeface="Merriweather"/>
              </a:rPr>
              <a:t>Uniswap</a:t>
            </a:r>
          </a:p>
          <a:p>
            <a:pPr algn="ctr">
              <a:lnSpc>
                <a:spcPts val="2887"/>
              </a:lnSpc>
            </a:pPr>
            <a:r>
              <a:rPr lang="en-US" sz="2299">
                <a:solidFill>
                  <a:srgbClr val="F5F0F0"/>
                </a:solidFill>
                <a:latin typeface="Merriweather"/>
                <a:ea typeface="Merriweather"/>
                <a:cs typeface="Merriweather"/>
                <a:sym typeface="Merriweather"/>
              </a:rPr>
              <a:t>(</a:t>
            </a:r>
            <a:r>
              <a:rPr lang="en-US" sz="2299">
                <a:solidFill>
                  <a:srgbClr val="F5F0F0"/>
                </a:solidFill>
                <a:latin typeface="Merriweather"/>
                <a:ea typeface="Merriweather"/>
                <a:cs typeface="Merriweather"/>
                <a:sym typeface="Merriweather"/>
              </a:rPr>
              <a:t>dApp)</a:t>
            </a:r>
          </a:p>
        </p:txBody>
      </p:sp>
      <p:sp>
        <p:nvSpPr>
          <p:cNvPr name="TextBox 42" id="42"/>
          <p:cNvSpPr txBox="true"/>
          <p:nvPr/>
        </p:nvSpPr>
        <p:spPr>
          <a:xfrm rot="0">
            <a:off x="13608449" y="8516561"/>
            <a:ext cx="2086767" cy="717278"/>
          </a:xfrm>
          <a:prstGeom prst="rect">
            <a:avLst/>
          </a:prstGeom>
        </p:spPr>
        <p:txBody>
          <a:bodyPr anchor="t" rtlCol="false" tIns="0" lIns="0" bIns="0" rIns="0">
            <a:spAutoFit/>
          </a:bodyPr>
          <a:lstStyle/>
          <a:p>
            <a:pPr algn="ctr">
              <a:lnSpc>
                <a:spcPts val="2886"/>
              </a:lnSpc>
            </a:pPr>
            <a:r>
              <a:rPr lang="en-US" sz="2299">
                <a:solidFill>
                  <a:srgbClr val="F5F0F0"/>
                </a:solidFill>
                <a:latin typeface="Merriweather"/>
                <a:ea typeface="Merriweather"/>
                <a:cs typeface="Merriweather"/>
                <a:sym typeface="Merriweather"/>
              </a:rPr>
              <a:t>Uniswap</a:t>
            </a:r>
          </a:p>
          <a:p>
            <a:pPr algn="ctr">
              <a:lnSpc>
                <a:spcPts val="2887"/>
              </a:lnSpc>
            </a:pPr>
            <a:r>
              <a:rPr lang="en-US" sz="2299">
                <a:solidFill>
                  <a:srgbClr val="F5F0F0"/>
                </a:solidFill>
                <a:latin typeface="Merriweather"/>
                <a:ea typeface="Merriweather"/>
                <a:cs typeface="Merriweather"/>
                <a:sym typeface="Merriweather"/>
              </a:rPr>
              <a:t>(</a:t>
            </a:r>
            <a:r>
              <a:rPr lang="en-US" sz="2299">
                <a:solidFill>
                  <a:srgbClr val="F5F0F0"/>
                </a:solidFill>
                <a:latin typeface="Merriweather"/>
                <a:ea typeface="Merriweather"/>
                <a:cs typeface="Merriweather"/>
                <a:sym typeface="Merriweather"/>
              </a:rPr>
              <a:t>dApp)</a:t>
            </a:r>
          </a:p>
        </p:txBody>
      </p:sp>
      <p:sp>
        <p:nvSpPr>
          <p:cNvPr name="TextBox 43" id="43"/>
          <p:cNvSpPr txBox="true"/>
          <p:nvPr/>
        </p:nvSpPr>
        <p:spPr>
          <a:xfrm rot="0">
            <a:off x="10533009" y="3119933"/>
            <a:ext cx="1643782" cy="355247"/>
          </a:xfrm>
          <a:prstGeom prst="rect">
            <a:avLst/>
          </a:prstGeom>
        </p:spPr>
        <p:txBody>
          <a:bodyPr anchor="t" rtlCol="false" tIns="0" lIns="0" bIns="0" rIns="0">
            <a:spAutoFit/>
          </a:bodyPr>
          <a:lstStyle/>
          <a:p>
            <a:pPr algn="l">
              <a:lnSpc>
                <a:spcPts val="2887"/>
              </a:lnSpc>
            </a:pPr>
            <a:r>
              <a:rPr lang="en-US" sz="2299">
                <a:solidFill>
                  <a:srgbClr val="F5F0F0"/>
                </a:solidFill>
                <a:latin typeface="Merriweather"/>
                <a:ea typeface="Merriweather"/>
                <a:cs typeface="Merriweather"/>
                <a:sym typeface="Merriweather"/>
              </a:rPr>
              <a:t> API calls</a:t>
            </a:r>
          </a:p>
        </p:txBody>
      </p:sp>
      <p:sp>
        <p:nvSpPr>
          <p:cNvPr name="TextBox 44" id="44"/>
          <p:cNvSpPr txBox="true"/>
          <p:nvPr/>
        </p:nvSpPr>
        <p:spPr>
          <a:xfrm rot="0">
            <a:off x="4548837" y="7403342"/>
            <a:ext cx="1337428" cy="355247"/>
          </a:xfrm>
          <a:prstGeom prst="rect">
            <a:avLst/>
          </a:prstGeom>
        </p:spPr>
        <p:txBody>
          <a:bodyPr anchor="t" rtlCol="false" tIns="0" lIns="0" bIns="0" rIns="0">
            <a:spAutoFit/>
          </a:bodyPr>
          <a:lstStyle/>
          <a:p>
            <a:pPr algn="l">
              <a:lnSpc>
                <a:spcPts val="2887"/>
              </a:lnSpc>
            </a:pPr>
            <a:r>
              <a:rPr lang="en-US" sz="2299">
                <a:solidFill>
                  <a:srgbClr val="F5F0F0"/>
                </a:solidFill>
                <a:latin typeface="Merriweather"/>
                <a:ea typeface="Merriweather"/>
                <a:cs typeface="Merriweather"/>
                <a:sym typeface="Merriweather"/>
              </a:rPr>
              <a:t> API calls</a:t>
            </a:r>
          </a:p>
        </p:txBody>
      </p:sp>
      <p:sp>
        <p:nvSpPr>
          <p:cNvPr name="TextBox 45" id="45"/>
          <p:cNvSpPr txBox="true"/>
          <p:nvPr/>
        </p:nvSpPr>
        <p:spPr>
          <a:xfrm rot="0">
            <a:off x="2383941" y="3233923"/>
            <a:ext cx="1337428" cy="355247"/>
          </a:xfrm>
          <a:prstGeom prst="rect">
            <a:avLst/>
          </a:prstGeom>
        </p:spPr>
        <p:txBody>
          <a:bodyPr anchor="t" rtlCol="false" tIns="0" lIns="0" bIns="0" rIns="0">
            <a:spAutoFit/>
          </a:bodyPr>
          <a:lstStyle/>
          <a:p>
            <a:pPr algn="l">
              <a:lnSpc>
                <a:spcPts val="2887"/>
              </a:lnSpc>
            </a:pPr>
            <a:r>
              <a:rPr lang="en-US" sz="2299">
                <a:solidFill>
                  <a:srgbClr val="F5F0F0"/>
                </a:solidFill>
                <a:latin typeface="Merriweather"/>
                <a:ea typeface="Merriweather"/>
                <a:cs typeface="Merriweather"/>
                <a:sym typeface="Merriweather"/>
              </a:rPr>
              <a:t> API calls</a:t>
            </a:r>
          </a:p>
        </p:txBody>
      </p:sp>
      <p:sp>
        <p:nvSpPr>
          <p:cNvPr name="TextBox 46" id="46"/>
          <p:cNvSpPr txBox="true"/>
          <p:nvPr/>
        </p:nvSpPr>
        <p:spPr>
          <a:xfrm rot="0">
            <a:off x="12207528" y="5274286"/>
            <a:ext cx="674477" cy="355247"/>
          </a:xfrm>
          <a:prstGeom prst="rect">
            <a:avLst/>
          </a:prstGeom>
        </p:spPr>
        <p:txBody>
          <a:bodyPr anchor="t" rtlCol="false" tIns="0" lIns="0" bIns="0" rIns="0">
            <a:spAutoFit/>
          </a:bodyPr>
          <a:lstStyle/>
          <a:p>
            <a:pPr algn="l">
              <a:lnSpc>
                <a:spcPts val="2887"/>
              </a:lnSpc>
            </a:pPr>
            <a:r>
              <a:rPr lang="en-US" sz="2299">
                <a:solidFill>
                  <a:srgbClr val="F5F0F0"/>
                </a:solidFill>
                <a:latin typeface="Merriweather"/>
                <a:ea typeface="Merriweather"/>
                <a:cs typeface="Merriweather"/>
                <a:sym typeface="Merriweather"/>
              </a:rPr>
              <a:t>DAO</a:t>
            </a:r>
          </a:p>
        </p:txBody>
      </p:sp>
      <p:sp>
        <p:nvSpPr>
          <p:cNvPr name="TextBox 47" id="47"/>
          <p:cNvSpPr txBox="true"/>
          <p:nvPr/>
        </p:nvSpPr>
        <p:spPr>
          <a:xfrm rot="0">
            <a:off x="2013291" y="8109752"/>
            <a:ext cx="1199984" cy="1079147"/>
          </a:xfrm>
          <a:prstGeom prst="rect">
            <a:avLst/>
          </a:prstGeom>
        </p:spPr>
        <p:txBody>
          <a:bodyPr anchor="t" rtlCol="false" tIns="0" lIns="0" bIns="0" rIns="0">
            <a:spAutoFit/>
          </a:bodyPr>
          <a:lstStyle/>
          <a:p>
            <a:pPr algn="ctr">
              <a:lnSpc>
                <a:spcPts val="2887"/>
              </a:lnSpc>
            </a:pPr>
            <a:r>
              <a:rPr lang="en-US" sz="2299">
                <a:solidFill>
                  <a:srgbClr val="F5F0F0"/>
                </a:solidFill>
                <a:latin typeface="Merriweather"/>
                <a:ea typeface="Merriweather"/>
                <a:cs typeface="Merriweather"/>
                <a:sym typeface="Merriweather"/>
              </a:rPr>
              <a:t>Zerodha Demat Account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42559" y="0"/>
            <a:ext cx="18430559" cy="10287000"/>
            <a:chOff x="0" y="0"/>
            <a:chExt cx="24574079" cy="13716000"/>
          </a:xfrm>
        </p:grpSpPr>
        <p:sp>
          <p:nvSpPr>
            <p:cNvPr name="Freeform 5" id="5"/>
            <p:cNvSpPr/>
            <p:nvPr/>
          </p:nvSpPr>
          <p:spPr>
            <a:xfrm flipH="false" flipV="false" rot="0">
              <a:off x="0" y="0"/>
              <a:ext cx="24574080" cy="13716000"/>
            </a:xfrm>
            <a:custGeom>
              <a:avLst/>
              <a:gdLst/>
              <a:ahLst/>
              <a:cxnLst/>
              <a:rect r="r" b="b" t="t" l="l"/>
              <a:pathLst>
                <a:path h="13716000" w="24574080">
                  <a:moveTo>
                    <a:pt x="0" y="0"/>
                  </a:moveTo>
                  <a:lnTo>
                    <a:pt x="24574080" y="0"/>
                  </a:lnTo>
                  <a:lnTo>
                    <a:pt x="24574080" y="13716000"/>
                  </a:lnTo>
                  <a:lnTo>
                    <a:pt x="0" y="13716000"/>
                  </a:lnTo>
                  <a:close/>
                </a:path>
              </a:pathLst>
            </a:custGeom>
            <a:solidFill>
              <a:srgbClr val="09151A">
                <a:alpha val="63137"/>
              </a:srgbClr>
            </a:solidFill>
          </p:spPr>
        </p:sp>
      </p:grpSp>
      <p:sp>
        <p:nvSpPr>
          <p:cNvPr name="Freeform 6" id="6"/>
          <p:cNvSpPr/>
          <p:nvPr/>
        </p:nvSpPr>
        <p:spPr>
          <a:xfrm flipH="false" flipV="false" rot="0">
            <a:off x="-253439" y="0"/>
            <a:ext cx="5374958" cy="10287000"/>
          </a:xfrm>
          <a:custGeom>
            <a:avLst/>
            <a:gdLst/>
            <a:ahLst/>
            <a:cxnLst/>
            <a:rect r="r" b="b" t="t" l="l"/>
            <a:pathLst>
              <a:path h="10287000" w="5374958">
                <a:moveTo>
                  <a:pt x="0" y="0"/>
                </a:moveTo>
                <a:lnTo>
                  <a:pt x="5374958" y="0"/>
                </a:lnTo>
                <a:lnTo>
                  <a:pt x="5374958" y="10287000"/>
                </a:lnTo>
                <a:lnTo>
                  <a:pt x="0" y="10287000"/>
                </a:lnTo>
                <a:lnTo>
                  <a:pt x="0" y="0"/>
                </a:lnTo>
                <a:close/>
              </a:path>
            </a:pathLst>
          </a:custGeom>
          <a:blipFill>
            <a:blip r:embed="rId3"/>
            <a:stretch>
              <a:fillRect l="0" t="0" r="0" b="0"/>
            </a:stretch>
          </a:blipFill>
        </p:spPr>
      </p:sp>
      <p:grpSp>
        <p:nvGrpSpPr>
          <p:cNvPr name="Group 7" id="7"/>
          <p:cNvGrpSpPr/>
          <p:nvPr/>
        </p:nvGrpSpPr>
        <p:grpSpPr>
          <a:xfrm rot="0">
            <a:off x="6920682" y="2122045"/>
            <a:ext cx="8740028" cy="7322379"/>
            <a:chOff x="0" y="0"/>
            <a:chExt cx="11653370" cy="9763172"/>
          </a:xfrm>
        </p:grpSpPr>
        <p:sp>
          <p:nvSpPr>
            <p:cNvPr name="Freeform 8" id="8"/>
            <p:cNvSpPr/>
            <p:nvPr/>
          </p:nvSpPr>
          <p:spPr>
            <a:xfrm flipH="false" flipV="true" rot="0">
              <a:off x="40866" y="4769795"/>
              <a:ext cx="5806252" cy="4993377"/>
            </a:xfrm>
            <a:custGeom>
              <a:avLst/>
              <a:gdLst/>
              <a:ahLst/>
              <a:cxnLst/>
              <a:rect r="r" b="b" t="t" l="l"/>
              <a:pathLst>
                <a:path h="4993377" w="5806252">
                  <a:moveTo>
                    <a:pt x="0" y="4993377"/>
                  </a:moveTo>
                  <a:lnTo>
                    <a:pt x="5806252" y="4993377"/>
                  </a:lnTo>
                  <a:lnTo>
                    <a:pt x="5806252" y="0"/>
                  </a:lnTo>
                  <a:lnTo>
                    <a:pt x="0" y="0"/>
                  </a:lnTo>
                  <a:lnTo>
                    <a:pt x="0" y="499337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0" y="0"/>
              <a:ext cx="5806252" cy="4993377"/>
            </a:xfrm>
            <a:custGeom>
              <a:avLst/>
              <a:gdLst/>
              <a:ahLst/>
              <a:cxnLst/>
              <a:rect r="r" b="b" t="t" l="l"/>
              <a:pathLst>
                <a:path h="4993377" w="5806252">
                  <a:moveTo>
                    <a:pt x="0" y="0"/>
                  </a:moveTo>
                  <a:lnTo>
                    <a:pt x="5806252" y="0"/>
                  </a:lnTo>
                  <a:lnTo>
                    <a:pt x="5806252" y="4993377"/>
                  </a:lnTo>
                  <a:lnTo>
                    <a:pt x="0" y="49933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true" rot="0">
              <a:off x="5806252" y="4769795"/>
              <a:ext cx="5806252" cy="4993377"/>
            </a:xfrm>
            <a:custGeom>
              <a:avLst/>
              <a:gdLst/>
              <a:ahLst/>
              <a:cxnLst/>
              <a:rect r="r" b="b" t="t" l="l"/>
              <a:pathLst>
                <a:path h="4993377" w="5806252">
                  <a:moveTo>
                    <a:pt x="5806253" y="4993377"/>
                  </a:moveTo>
                  <a:lnTo>
                    <a:pt x="0" y="4993377"/>
                  </a:lnTo>
                  <a:lnTo>
                    <a:pt x="0" y="0"/>
                  </a:lnTo>
                  <a:lnTo>
                    <a:pt x="5806253" y="0"/>
                  </a:lnTo>
                  <a:lnTo>
                    <a:pt x="5806253" y="4993377"/>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true" flipV="false" rot="0">
              <a:off x="5847118" y="0"/>
              <a:ext cx="5806252" cy="4993377"/>
            </a:xfrm>
            <a:custGeom>
              <a:avLst/>
              <a:gdLst/>
              <a:ahLst/>
              <a:cxnLst/>
              <a:rect r="r" b="b" t="t" l="l"/>
              <a:pathLst>
                <a:path h="4993377" w="5806252">
                  <a:moveTo>
                    <a:pt x="5806252" y="0"/>
                  </a:moveTo>
                  <a:lnTo>
                    <a:pt x="0" y="0"/>
                  </a:lnTo>
                  <a:lnTo>
                    <a:pt x="0" y="4993377"/>
                  </a:lnTo>
                  <a:lnTo>
                    <a:pt x="5806252" y="4993377"/>
                  </a:lnTo>
                  <a:lnTo>
                    <a:pt x="5806252"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Freeform 12" id="12"/>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12"/>
            <a:stretch>
              <a:fillRect l="0" t="0" r="0" b="0"/>
            </a:stretch>
          </a:blipFill>
        </p:spPr>
      </p:sp>
      <p:sp>
        <p:nvSpPr>
          <p:cNvPr name="TextBox 13" id="13"/>
          <p:cNvSpPr txBox="true"/>
          <p:nvPr/>
        </p:nvSpPr>
        <p:spPr>
          <a:xfrm rot="0">
            <a:off x="5529673" y="391446"/>
            <a:ext cx="11522045" cy="637254"/>
          </a:xfrm>
          <a:prstGeom prst="rect">
            <a:avLst/>
          </a:prstGeom>
        </p:spPr>
        <p:txBody>
          <a:bodyPr anchor="t" rtlCol="false" tIns="0" lIns="0" bIns="0" rIns="0">
            <a:spAutoFit/>
          </a:bodyPr>
          <a:lstStyle/>
          <a:p>
            <a:pPr algn="l">
              <a:lnSpc>
                <a:spcPts val="5032"/>
              </a:lnSpc>
            </a:pPr>
            <a:r>
              <a:rPr lang="en-US" sz="3999" u="sng">
                <a:solidFill>
                  <a:srgbClr val="DAECFF"/>
                </a:solidFill>
                <a:latin typeface="Merriweather"/>
                <a:ea typeface="Merriweather"/>
                <a:cs typeface="Merriweather"/>
                <a:sym typeface="Merriweather"/>
              </a:rPr>
              <a:t>Decentralized Finance </a:t>
            </a:r>
            <a:r>
              <a:rPr lang="en-US" sz="3999">
                <a:solidFill>
                  <a:srgbClr val="DAECFF"/>
                </a:solidFill>
                <a:latin typeface="Merriweather"/>
                <a:ea typeface="Merriweather"/>
                <a:cs typeface="Merriweather"/>
                <a:sym typeface="Merriweather"/>
              </a:rPr>
              <a:t> </a:t>
            </a:r>
            <a:r>
              <a:rPr lang="en-US" sz="3999" u="sng">
                <a:solidFill>
                  <a:srgbClr val="DAECFF"/>
                </a:solidFill>
                <a:latin typeface="Merriweather"/>
                <a:ea typeface="Merriweather"/>
                <a:cs typeface="Merriweather"/>
                <a:sym typeface="Merriweather"/>
              </a:rPr>
              <a:t>VS</a:t>
            </a:r>
            <a:r>
              <a:rPr lang="en-US" sz="3999">
                <a:solidFill>
                  <a:srgbClr val="DAECFF"/>
                </a:solidFill>
                <a:latin typeface="Merriweather"/>
                <a:ea typeface="Merriweather"/>
                <a:cs typeface="Merriweather"/>
                <a:sym typeface="Merriweather"/>
              </a:rPr>
              <a:t> </a:t>
            </a:r>
            <a:r>
              <a:rPr lang="en-US" sz="3999" u="sng">
                <a:solidFill>
                  <a:srgbClr val="DAECFF"/>
                </a:solidFill>
                <a:latin typeface="Merriweather"/>
                <a:ea typeface="Merriweather"/>
                <a:cs typeface="Merriweather"/>
                <a:sym typeface="Merriweather"/>
              </a:rPr>
              <a:t>Traditional Finance</a:t>
            </a:r>
          </a:p>
        </p:txBody>
      </p:sp>
      <p:sp>
        <p:nvSpPr>
          <p:cNvPr name="TextBox 14" id="14"/>
          <p:cNvSpPr txBox="true"/>
          <p:nvPr/>
        </p:nvSpPr>
        <p:spPr>
          <a:xfrm rot="0">
            <a:off x="7240612" y="2988070"/>
            <a:ext cx="3832036" cy="2024053"/>
          </a:xfrm>
          <a:prstGeom prst="rect">
            <a:avLst/>
          </a:prstGeom>
        </p:spPr>
        <p:txBody>
          <a:bodyPr anchor="t" rtlCol="false" tIns="0" lIns="0" bIns="0" rIns="0">
            <a:spAutoFit/>
          </a:bodyPr>
          <a:lstStyle/>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Instant settlement </a:t>
            </a:r>
          </a:p>
          <a:p>
            <a:pPr algn="l">
              <a:lnSpc>
                <a:spcPts val="3261"/>
              </a:lnSpc>
            </a:pPr>
            <a:r>
              <a:rPr lang="en-US" sz="1999">
                <a:solidFill>
                  <a:srgbClr val="000000"/>
                </a:solidFill>
                <a:latin typeface="Merriweather"/>
                <a:ea typeface="Merriweather"/>
                <a:cs typeface="Merriweather"/>
                <a:sym typeface="Merriweather"/>
              </a:rPr>
              <a:t>       </a:t>
            </a:r>
            <a:r>
              <a:rPr lang="en-US" sz="1999">
                <a:solidFill>
                  <a:srgbClr val="000000"/>
                </a:solidFill>
                <a:latin typeface="Merriweather"/>
                <a:ea typeface="Merriweather"/>
                <a:cs typeface="Merriweather"/>
                <a:sym typeface="Merriweather"/>
              </a:rPr>
              <a:t>(3–5 </a:t>
            </a:r>
            <a:r>
              <a:rPr lang="en-US" sz="1999">
                <a:solidFill>
                  <a:srgbClr val="000000"/>
                </a:solidFill>
                <a:latin typeface="Merriweather"/>
                <a:ea typeface="Merriweather"/>
                <a:cs typeface="Merriweather"/>
                <a:sym typeface="Merriweather"/>
              </a:rPr>
              <a:t>sec)</a:t>
            </a:r>
          </a:p>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Low fees (up to 95% less)</a:t>
            </a:r>
          </a:p>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Global access 24/7</a:t>
            </a:r>
          </a:p>
          <a:p>
            <a:pPr algn="l" marL="431799" indent="-215899" lvl="1">
              <a:lnSpc>
                <a:spcPts val="3263"/>
              </a:lnSpc>
              <a:buFont typeface="Arial"/>
              <a:buChar char="•"/>
            </a:pPr>
            <a:r>
              <a:rPr lang="en-US" sz="1999">
                <a:solidFill>
                  <a:srgbClr val="000000"/>
                </a:solidFill>
                <a:latin typeface="Merriweather"/>
                <a:ea typeface="Merriweather"/>
                <a:cs typeface="Merriweather"/>
                <a:sym typeface="Merriweather"/>
              </a:rPr>
              <a:t>1500+ transaction/sec </a:t>
            </a:r>
          </a:p>
        </p:txBody>
      </p:sp>
      <p:sp>
        <p:nvSpPr>
          <p:cNvPr name="TextBox 15" id="15"/>
          <p:cNvSpPr txBox="true"/>
          <p:nvPr/>
        </p:nvSpPr>
        <p:spPr>
          <a:xfrm rot="0">
            <a:off x="7942331" y="1112774"/>
            <a:ext cx="2403337" cy="772796"/>
          </a:xfrm>
          <a:prstGeom prst="rect">
            <a:avLst/>
          </a:prstGeom>
        </p:spPr>
        <p:txBody>
          <a:bodyPr anchor="t" rtlCol="false" tIns="0" lIns="0" bIns="0" rIns="0">
            <a:spAutoFit/>
          </a:bodyPr>
          <a:lstStyle/>
          <a:p>
            <a:pPr algn="l">
              <a:lnSpc>
                <a:spcPts val="6559"/>
              </a:lnSpc>
            </a:pPr>
            <a:r>
              <a:rPr lang="en-US" sz="4099" i="true" u="sng">
                <a:solidFill>
                  <a:srgbClr val="DAECFF"/>
                </a:solidFill>
                <a:latin typeface="Merriweather Italics"/>
                <a:ea typeface="Merriweather Italics"/>
                <a:cs typeface="Merriweather Italics"/>
                <a:sym typeface="Merriweather Italics"/>
              </a:rPr>
              <a:t>Strengths</a:t>
            </a:r>
          </a:p>
        </p:txBody>
      </p:sp>
      <p:sp>
        <p:nvSpPr>
          <p:cNvPr name="TextBox 16" id="16"/>
          <p:cNvSpPr txBox="true"/>
          <p:nvPr/>
        </p:nvSpPr>
        <p:spPr>
          <a:xfrm rot="0">
            <a:off x="12368304" y="1112774"/>
            <a:ext cx="2403337" cy="772796"/>
          </a:xfrm>
          <a:prstGeom prst="rect">
            <a:avLst/>
          </a:prstGeom>
        </p:spPr>
        <p:txBody>
          <a:bodyPr anchor="t" rtlCol="false" tIns="0" lIns="0" bIns="0" rIns="0">
            <a:spAutoFit/>
          </a:bodyPr>
          <a:lstStyle/>
          <a:p>
            <a:pPr algn="l">
              <a:lnSpc>
                <a:spcPts val="6559"/>
              </a:lnSpc>
            </a:pPr>
            <a:r>
              <a:rPr lang="en-US" sz="4099" i="true" u="sng">
                <a:solidFill>
                  <a:srgbClr val="DAECFF"/>
                </a:solidFill>
                <a:latin typeface="Merriweather Italics"/>
                <a:ea typeface="Merriweather Italics"/>
                <a:cs typeface="Merriweather Italics"/>
                <a:sym typeface="Merriweather Italics"/>
              </a:rPr>
              <a:t>Weakness</a:t>
            </a:r>
          </a:p>
        </p:txBody>
      </p:sp>
      <p:sp>
        <p:nvSpPr>
          <p:cNvPr name="TextBox 17" id="17"/>
          <p:cNvSpPr txBox="true"/>
          <p:nvPr/>
        </p:nvSpPr>
        <p:spPr>
          <a:xfrm rot="0">
            <a:off x="12637583" y="9292024"/>
            <a:ext cx="1864779" cy="772796"/>
          </a:xfrm>
          <a:prstGeom prst="rect">
            <a:avLst/>
          </a:prstGeom>
        </p:spPr>
        <p:txBody>
          <a:bodyPr anchor="t" rtlCol="false" tIns="0" lIns="0" bIns="0" rIns="0">
            <a:spAutoFit/>
          </a:bodyPr>
          <a:lstStyle/>
          <a:p>
            <a:pPr algn="l">
              <a:lnSpc>
                <a:spcPts val="6559"/>
              </a:lnSpc>
            </a:pPr>
            <a:r>
              <a:rPr lang="en-US" sz="4099" i="true" u="sng">
                <a:solidFill>
                  <a:srgbClr val="DAECFF"/>
                </a:solidFill>
                <a:latin typeface="Merriweather Italics"/>
                <a:ea typeface="Merriweather Italics"/>
                <a:cs typeface="Merriweather Italics"/>
                <a:sym typeface="Merriweather Italics"/>
              </a:rPr>
              <a:t>Threats</a:t>
            </a:r>
          </a:p>
        </p:txBody>
      </p:sp>
      <p:sp>
        <p:nvSpPr>
          <p:cNvPr name="TextBox 18" id="18"/>
          <p:cNvSpPr txBox="true"/>
          <p:nvPr/>
        </p:nvSpPr>
        <p:spPr>
          <a:xfrm rot="0">
            <a:off x="7451293" y="9292024"/>
            <a:ext cx="3385413" cy="772796"/>
          </a:xfrm>
          <a:prstGeom prst="rect">
            <a:avLst/>
          </a:prstGeom>
        </p:spPr>
        <p:txBody>
          <a:bodyPr anchor="t" rtlCol="false" tIns="0" lIns="0" bIns="0" rIns="0">
            <a:spAutoFit/>
          </a:bodyPr>
          <a:lstStyle/>
          <a:p>
            <a:pPr algn="l">
              <a:lnSpc>
                <a:spcPts val="6559"/>
              </a:lnSpc>
            </a:pPr>
            <a:r>
              <a:rPr lang="en-US" sz="4099" i="true" u="sng">
                <a:solidFill>
                  <a:srgbClr val="DAECFF"/>
                </a:solidFill>
                <a:latin typeface="Merriweather Italics"/>
                <a:ea typeface="Merriweather Italics"/>
                <a:cs typeface="Merriweather Italics"/>
                <a:sym typeface="Merriweather Italics"/>
              </a:rPr>
              <a:t>Opportunites</a:t>
            </a:r>
          </a:p>
        </p:txBody>
      </p:sp>
      <p:sp>
        <p:nvSpPr>
          <p:cNvPr name="TextBox 19" id="19"/>
          <p:cNvSpPr txBox="true"/>
          <p:nvPr/>
        </p:nvSpPr>
        <p:spPr>
          <a:xfrm rot="0">
            <a:off x="7278954" y="6319411"/>
            <a:ext cx="3812743" cy="2024053"/>
          </a:xfrm>
          <a:prstGeom prst="rect">
            <a:avLst/>
          </a:prstGeom>
        </p:spPr>
        <p:txBody>
          <a:bodyPr anchor="t" rtlCol="false" tIns="0" lIns="0" bIns="0" rIns="0">
            <a:spAutoFit/>
          </a:bodyPr>
          <a:lstStyle/>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Cro</a:t>
            </a:r>
            <a:r>
              <a:rPr lang="en-US" sz="1999">
                <a:solidFill>
                  <a:srgbClr val="000000"/>
                </a:solidFill>
                <a:latin typeface="Merriweather"/>
                <a:ea typeface="Merriweather"/>
                <a:cs typeface="Merriweather"/>
                <a:sym typeface="Merriweather"/>
              </a:rPr>
              <a:t>ss-border demand</a:t>
            </a:r>
          </a:p>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Lower remittance costs (90% cut)</a:t>
            </a:r>
          </a:p>
          <a:p>
            <a:pPr algn="l" marL="431799" indent="-215899" lvl="1">
              <a:lnSpc>
                <a:spcPts val="3263"/>
              </a:lnSpc>
              <a:buFont typeface="Arial"/>
              <a:buChar char="•"/>
            </a:pPr>
            <a:r>
              <a:rPr lang="en-US" sz="1999">
                <a:solidFill>
                  <a:srgbClr val="000000"/>
                </a:solidFill>
                <a:latin typeface="Merriweather"/>
                <a:ea typeface="Merriweather"/>
                <a:cs typeface="Merriweather"/>
                <a:sym typeface="Merriweather"/>
              </a:rPr>
              <a:t>Inclusion for unbanked (1.4B people)</a:t>
            </a:r>
          </a:p>
        </p:txBody>
      </p:sp>
      <p:sp>
        <p:nvSpPr>
          <p:cNvPr name="TextBox 20" id="20"/>
          <p:cNvSpPr txBox="true"/>
          <p:nvPr/>
        </p:nvSpPr>
        <p:spPr>
          <a:xfrm rot="0">
            <a:off x="11498397" y="6173385"/>
            <a:ext cx="3837405" cy="2024053"/>
          </a:xfrm>
          <a:prstGeom prst="rect">
            <a:avLst/>
          </a:prstGeom>
        </p:spPr>
        <p:txBody>
          <a:bodyPr anchor="t" rtlCol="false" tIns="0" lIns="0" bIns="0" rIns="0">
            <a:spAutoFit/>
          </a:bodyPr>
          <a:lstStyle/>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Govt regulations</a:t>
            </a:r>
          </a:p>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Market volitality </a:t>
            </a:r>
          </a:p>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S</a:t>
            </a:r>
            <a:r>
              <a:rPr lang="en-US" sz="1999">
                <a:solidFill>
                  <a:srgbClr val="000000"/>
                </a:solidFill>
                <a:latin typeface="Merriweather"/>
                <a:ea typeface="Merriweather"/>
                <a:cs typeface="Merriweather"/>
                <a:sym typeface="Merriweather"/>
              </a:rPr>
              <a:t>cams &amp; hacks</a:t>
            </a:r>
          </a:p>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Competition from banks</a:t>
            </a:r>
          </a:p>
          <a:p>
            <a:pPr algn="l">
              <a:lnSpc>
                <a:spcPts val="3263"/>
              </a:lnSpc>
            </a:pPr>
          </a:p>
        </p:txBody>
      </p:sp>
      <p:sp>
        <p:nvSpPr>
          <p:cNvPr name="TextBox 21" id="21"/>
          <p:cNvSpPr txBox="true"/>
          <p:nvPr/>
        </p:nvSpPr>
        <p:spPr>
          <a:xfrm rot="0">
            <a:off x="11696396" y="2988070"/>
            <a:ext cx="3441407" cy="2433628"/>
          </a:xfrm>
          <a:prstGeom prst="rect">
            <a:avLst/>
          </a:prstGeom>
        </p:spPr>
        <p:txBody>
          <a:bodyPr anchor="t" rtlCol="false" tIns="0" lIns="0" bIns="0" rIns="0">
            <a:spAutoFit/>
          </a:bodyPr>
          <a:lstStyle/>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Tech knowledge needed</a:t>
            </a:r>
          </a:p>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Limited regulations</a:t>
            </a:r>
          </a:p>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Volatile assets</a:t>
            </a:r>
          </a:p>
          <a:p>
            <a:pPr algn="l" marL="431799" indent="-215899" lvl="1">
              <a:lnSpc>
                <a:spcPts val="3261"/>
              </a:lnSpc>
              <a:buFont typeface="Arial"/>
              <a:buChar char="•"/>
            </a:pPr>
            <a:r>
              <a:rPr lang="en-US" sz="1999">
                <a:solidFill>
                  <a:srgbClr val="000000"/>
                </a:solidFill>
                <a:latin typeface="Merriweather"/>
                <a:ea typeface="Merriweather"/>
                <a:cs typeface="Merriweather"/>
                <a:sym typeface="Merriweather"/>
              </a:rPr>
              <a:t>Limited customer support</a:t>
            </a:r>
          </a:p>
          <a:p>
            <a:pPr algn="l">
              <a:lnSpc>
                <a:spcPts val="3263"/>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73725"/>
              </a:srgbClr>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3015049" y="0"/>
            <a:ext cx="5272951" cy="10287000"/>
            <a:chOff x="0" y="0"/>
            <a:chExt cx="7030602" cy="13716000"/>
          </a:xfrm>
        </p:grpSpPr>
        <p:sp>
          <p:nvSpPr>
            <p:cNvPr name="Freeform 9" id="9" descr="preencoded.png"/>
            <p:cNvSpPr/>
            <p:nvPr/>
          </p:nvSpPr>
          <p:spPr>
            <a:xfrm flipH="false" flipV="false" rot="0">
              <a:off x="0" y="0"/>
              <a:ext cx="7030602" cy="13716000"/>
            </a:xfrm>
            <a:custGeom>
              <a:avLst/>
              <a:gdLst/>
              <a:ahLst/>
              <a:cxnLst/>
              <a:rect r="r" b="b" t="t" l="l"/>
              <a:pathLst>
                <a:path h="13716000" w="7030602">
                  <a:moveTo>
                    <a:pt x="0" y="0"/>
                  </a:moveTo>
                  <a:lnTo>
                    <a:pt x="7030602" y="0"/>
                  </a:lnTo>
                  <a:lnTo>
                    <a:pt x="7030602" y="13716000"/>
                  </a:lnTo>
                  <a:lnTo>
                    <a:pt x="0" y="13716000"/>
                  </a:lnTo>
                  <a:lnTo>
                    <a:pt x="0" y="0"/>
                  </a:lnTo>
                  <a:close/>
                </a:path>
              </a:pathLst>
            </a:custGeom>
            <a:blipFill>
              <a:blip r:embed="rId6"/>
              <a:stretch>
                <a:fillRect l="-15029" t="0" r="-15029" b="0"/>
              </a:stretch>
            </a:blipFill>
          </p:spPr>
        </p:sp>
      </p:grpSp>
      <p:sp>
        <p:nvSpPr>
          <p:cNvPr name="Freeform 10" id="10"/>
          <p:cNvSpPr/>
          <p:nvPr/>
        </p:nvSpPr>
        <p:spPr>
          <a:xfrm flipH="false" flipV="false" rot="0">
            <a:off x="4951941" y="7730072"/>
            <a:ext cx="2893133" cy="2556928"/>
          </a:xfrm>
          <a:custGeom>
            <a:avLst/>
            <a:gdLst/>
            <a:ahLst/>
            <a:cxnLst/>
            <a:rect r="r" b="b" t="t" l="l"/>
            <a:pathLst>
              <a:path h="2556928" w="2893133">
                <a:moveTo>
                  <a:pt x="0" y="0"/>
                </a:moveTo>
                <a:lnTo>
                  <a:pt x="2893134" y="0"/>
                </a:lnTo>
                <a:lnTo>
                  <a:pt x="2893134" y="2556928"/>
                </a:lnTo>
                <a:lnTo>
                  <a:pt x="0" y="25569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800573">
            <a:off x="6661719" y="5073568"/>
            <a:ext cx="5202621" cy="4114800"/>
          </a:xfrm>
          <a:custGeom>
            <a:avLst/>
            <a:gdLst/>
            <a:ahLst/>
            <a:cxnLst/>
            <a:rect r="r" b="b" t="t" l="l"/>
            <a:pathLst>
              <a:path h="4114800" w="5202621">
                <a:moveTo>
                  <a:pt x="0" y="0"/>
                </a:moveTo>
                <a:lnTo>
                  <a:pt x="5202621" y="0"/>
                </a:lnTo>
                <a:lnTo>
                  <a:pt x="5202621"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322555" y="162774"/>
            <a:ext cx="16353865" cy="1703276"/>
          </a:xfrm>
          <a:prstGeom prst="rect">
            <a:avLst/>
          </a:prstGeom>
        </p:spPr>
        <p:txBody>
          <a:bodyPr anchor="t" rtlCol="false" tIns="0" lIns="0" bIns="0" rIns="0">
            <a:spAutoFit/>
          </a:bodyPr>
          <a:lstStyle/>
          <a:p>
            <a:pPr algn="l">
              <a:lnSpc>
                <a:spcPts val="6793"/>
              </a:lnSpc>
            </a:pPr>
            <a:r>
              <a:rPr lang="en-US" sz="5400" u="sng">
                <a:solidFill>
                  <a:srgbClr val="DAECFF"/>
                </a:solidFill>
                <a:latin typeface="Merriweather"/>
                <a:ea typeface="Merriweather"/>
                <a:cs typeface="Merriweather"/>
                <a:sym typeface="Merriweather"/>
              </a:rPr>
              <a:t>Case Study</a:t>
            </a:r>
            <a:r>
              <a:rPr lang="en-US" sz="5400">
                <a:solidFill>
                  <a:srgbClr val="DAECFF"/>
                </a:solidFill>
                <a:latin typeface="Merriweather"/>
                <a:ea typeface="Merriweather"/>
                <a:cs typeface="Merriweather"/>
                <a:sym typeface="Merriweather"/>
              </a:rPr>
              <a:t> 4: </a:t>
            </a:r>
          </a:p>
          <a:p>
            <a:pPr algn="l">
              <a:lnSpc>
                <a:spcPts val="6793"/>
              </a:lnSpc>
            </a:pPr>
            <a:r>
              <a:rPr lang="en-US" sz="5400" u="sng">
                <a:solidFill>
                  <a:srgbClr val="DAECFF"/>
                </a:solidFill>
                <a:latin typeface="Merriweather"/>
                <a:ea typeface="Merriweather"/>
                <a:cs typeface="Merriweather"/>
                <a:sym typeface="Merriweather"/>
              </a:rPr>
              <a:t>Financial Fraud Detection with AI</a:t>
            </a:r>
          </a:p>
        </p:txBody>
      </p:sp>
      <p:sp>
        <p:nvSpPr>
          <p:cNvPr name="TextBox 13" id="13"/>
          <p:cNvSpPr txBox="true"/>
          <p:nvPr/>
        </p:nvSpPr>
        <p:spPr>
          <a:xfrm rot="-1924692">
            <a:off x="1374345" y="6250666"/>
            <a:ext cx="3929955" cy="1513582"/>
          </a:xfrm>
          <a:prstGeom prst="rect">
            <a:avLst/>
          </a:prstGeom>
        </p:spPr>
        <p:txBody>
          <a:bodyPr anchor="t" rtlCol="false" tIns="0" lIns="0" bIns="0" rIns="0">
            <a:spAutoFit/>
          </a:bodyPr>
          <a:lstStyle/>
          <a:p>
            <a:pPr algn="l">
              <a:lnSpc>
                <a:spcPts val="3687"/>
              </a:lnSpc>
            </a:pPr>
            <a:r>
              <a:rPr lang="en-US" sz="2312" i="true">
                <a:solidFill>
                  <a:srgbClr val="E2E6E9"/>
                </a:solidFill>
                <a:latin typeface="Merriweather Italics"/>
                <a:ea typeface="Merriweather Italics"/>
                <a:cs typeface="Merriweather Italics"/>
                <a:sym typeface="Merriweather Italics"/>
              </a:rPr>
              <a:t>"How many of you have ever received a fraud alert from your bank?"</a:t>
            </a:r>
          </a:p>
        </p:txBody>
      </p:sp>
      <p:sp>
        <p:nvSpPr>
          <p:cNvPr name="TextBox 14" id="14"/>
          <p:cNvSpPr txBox="true"/>
          <p:nvPr/>
        </p:nvSpPr>
        <p:spPr>
          <a:xfrm rot="0">
            <a:off x="5332926" y="3189247"/>
            <a:ext cx="3930104" cy="1989534"/>
          </a:xfrm>
          <a:prstGeom prst="rect">
            <a:avLst/>
          </a:prstGeom>
        </p:spPr>
        <p:txBody>
          <a:bodyPr anchor="t" rtlCol="false" tIns="0" lIns="0" bIns="0" rIns="0">
            <a:spAutoFit/>
          </a:bodyPr>
          <a:lstStyle/>
          <a:p>
            <a:pPr algn="l">
              <a:lnSpc>
                <a:spcPts val="3687"/>
              </a:lnSpc>
            </a:pPr>
            <a:r>
              <a:rPr lang="en-US" sz="2312" i="true">
                <a:solidFill>
                  <a:srgbClr val="E2E6E9"/>
                </a:solidFill>
                <a:latin typeface="Merriweather Italics"/>
                <a:ea typeface="Merriweather Italics"/>
                <a:cs typeface="Merriweather Italics"/>
                <a:sym typeface="Merriweather Italics"/>
              </a:rPr>
              <a:t>"What do you think happens in those few seconds when you swipe your card?"</a:t>
            </a:r>
          </a:p>
        </p:txBody>
      </p:sp>
      <p:sp>
        <p:nvSpPr>
          <p:cNvPr name="Freeform 15" id="15"/>
          <p:cNvSpPr/>
          <p:nvPr/>
        </p:nvSpPr>
        <p:spPr>
          <a:xfrm flipH="false" flipV="false" rot="0">
            <a:off x="4553273" y="1997380"/>
            <a:ext cx="5568595" cy="4404253"/>
          </a:xfrm>
          <a:custGeom>
            <a:avLst/>
            <a:gdLst/>
            <a:ahLst/>
            <a:cxnLst/>
            <a:rect r="r" b="b" t="t" l="l"/>
            <a:pathLst>
              <a:path h="4404253" w="5568595">
                <a:moveTo>
                  <a:pt x="0" y="0"/>
                </a:moveTo>
                <a:lnTo>
                  <a:pt x="5568595" y="0"/>
                </a:lnTo>
                <a:lnTo>
                  <a:pt x="5568595" y="4404252"/>
                </a:lnTo>
                <a:lnTo>
                  <a:pt x="0" y="44042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true" flipV="false" rot="-1766406">
            <a:off x="529426" y="5033815"/>
            <a:ext cx="5303145" cy="4194305"/>
          </a:xfrm>
          <a:custGeom>
            <a:avLst/>
            <a:gdLst/>
            <a:ahLst/>
            <a:cxnLst/>
            <a:rect r="r" b="b" t="t" l="l"/>
            <a:pathLst>
              <a:path h="4194305" w="5303145">
                <a:moveTo>
                  <a:pt x="5303144" y="0"/>
                </a:moveTo>
                <a:lnTo>
                  <a:pt x="0" y="0"/>
                </a:lnTo>
                <a:lnTo>
                  <a:pt x="0" y="4194306"/>
                </a:lnTo>
                <a:lnTo>
                  <a:pt x="5303144" y="4194306"/>
                </a:lnTo>
                <a:lnTo>
                  <a:pt x="5303144"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7337570" y="6315907"/>
            <a:ext cx="3850919" cy="1370013"/>
          </a:xfrm>
          <a:prstGeom prst="rect">
            <a:avLst/>
          </a:prstGeom>
        </p:spPr>
        <p:txBody>
          <a:bodyPr anchor="t" rtlCol="false" tIns="0" lIns="0" bIns="0" rIns="0">
            <a:spAutoFit/>
          </a:bodyPr>
          <a:lstStyle/>
          <a:p>
            <a:pPr algn="l">
              <a:lnSpc>
                <a:spcPts val="3687"/>
              </a:lnSpc>
            </a:pPr>
            <a:r>
              <a:rPr lang="en-US" sz="2312" i="true">
                <a:solidFill>
                  <a:srgbClr val="E2E6E9"/>
                </a:solidFill>
                <a:latin typeface="Merriweather Italics"/>
                <a:ea typeface="Merriweather Italics"/>
                <a:cs typeface="Merriweather Italics"/>
                <a:sym typeface="Merriweather Italics"/>
              </a:rPr>
              <a:t>"Can you guess how many fraudulent transactions banks prevent daily?"</a:t>
            </a:r>
          </a:p>
        </p:txBody>
      </p:sp>
      <p:sp>
        <p:nvSpPr>
          <p:cNvPr name="Freeform 18" id="18"/>
          <p:cNvSpPr/>
          <p:nvPr/>
        </p:nvSpPr>
        <p:spPr>
          <a:xfrm flipH="false" flipV="false" rot="5400000">
            <a:off x="-1380277" y="7437367"/>
            <a:ext cx="3216981" cy="3641866"/>
          </a:xfrm>
          <a:custGeom>
            <a:avLst/>
            <a:gdLst/>
            <a:ahLst/>
            <a:cxnLst/>
            <a:rect r="r" b="b" t="t" l="l"/>
            <a:pathLst>
              <a:path h="3641866" w="3216981">
                <a:moveTo>
                  <a:pt x="0" y="0"/>
                </a:moveTo>
                <a:lnTo>
                  <a:pt x="3216981" y="0"/>
                </a:lnTo>
                <a:lnTo>
                  <a:pt x="3216981" y="3641866"/>
                </a:lnTo>
                <a:lnTo>
                  <a:pt x="0" y="3641866"/>
                </a:lnTo>
                <a:lnTo>
                  <a:pt x="0" y="0"/>
                </a:lnTo>
                <a:close/>
              </a:path>
            </a:pathLst>
          </a:custGeom>
          <a:blipFill>
            <a:blip r:embed="rId11"/>
            <a:stretch>
              <a:fillRect l="0" t="0" r="0" b="0"/>
            </a:stretch>
          </a:blipFill>
        </p:spPr>
      </p:sp>
      <p:sp>
        <p:nvSpPr>
          <p:cNvPr name="Freeform 19" id="19"/>
          <p:cNvSpPr/>
          <p:nvPr/>
        </p:nvSpPr>
        <p:spPr>
          <a:xfrm flipH="false" flipV="false" rot="-4956693">
            <a:off x="9667198" y="-2028576"/>
            <a:ext cx="3216981" cy="3641866"/>
          </a:xfrm>
          <a:custGeom>
            <a:avLst/>
            <a:gdLst/>
            <a:ahLst/>
            <a:cxnLst/>
            <a:rect r="r" b="b" t="t" l="l"/>
            <a:pathLst>
              <a:path h="3641866" w="3216981">
                <a:moveTo>
                  <a:pt x="0" y="0"/>
                </a:moveTo>
                <a:lnTo>
                  <a:pt x="3216981" y="0"/>
                </a:lnTo>
                <a:lnTo>
                  <a:pt x="3216981" y="3641865"/>
                </a:lnTo>
                <a:lnTo>
                  <a:pt x="0" y="3641865"/>
                </a:lnTo>
                <a:lnTo>
                  <a:pt x="0" y="0"/>
                </a:lnTo>
                <a:close/>
              </a:path>
            </a:pathLst>
          </a:custGeom>
          <a:blipFill>
            <a:blip r:embed="rId11"/>
            <a:stretch>
              <a:fillRect l="0" t="0" r="0" b="0"/>
            </a:stretch>
          </a:blipFill>
        </p:spPr>
      </p:sp>
      <p:sp>
        <p:nvSpPr>
          <p:cNvPr name="Freeform 20" id="20"/>
          <p:cNvSpPr/>
          <p:nvPr/>
        </p:nvSpPr>
        <p:spPr>
          <a:xfrm flipH="false" flipV="false" rot="0">
            <a:off x="11891446" y="9172575"/>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1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23218" y="0"/>
            <a:ext cx="18593399" cy="11936383"/>
            <a:chOff x="0" y="0"/>
            <a:chExt cx="24791198" cy="15915177"/>
          </a:xfrm>
        </p:grpSpPr>
        <p:sp>
          <p:nvSpPr>
            <p:cNvPr name="Freeform 5" id="5"/>
            <p:cNvSpPr/>
            <p:nvPr/>
          </p:nvSpPr>
          <p:spPr>
            <a:xfrm flipH="false" flipV="false" rot="0">
              <a:off x="0" y="0"/>
              <a:ext cx="24791198" cy="15915177"/>
            </a:xfrm>
            <a:custGeom>
              <a:avLst/>
              <a:gdLst/>
              <a:ahLst/>
              <a:cxnLst/>
              <a:rect r="r" b="b" t="t" l="l"/>
              <a:pathLst>
                <a:path h="15915177" w="24791198">
                  <a:moveTo>
                    <a:pt x="0" y="0"/>
                  </a:moveTo>
                  <a:lnTo>
                    <a:pt x="24791198" y="0"/>
                  </a:lnTo>
                  <a:lnTo>
                    <a:pt x="24791198" y="15915177"/>
                  </a:lnTo>
                  <a:lnTo>
                    <a:pt x="0" y="15915177"/>
                  </a:lnTo>
                  <a:close/>
                </a:path>
              </a:pathLst>
            </a:custGeom>
            <a:solidFill>
              <a:srgbClr val="09151A">
                <a:alpha val="63137"/>
              </a:srgbClr>
            </a:solidFill>
          </p:spPr>
        </p:sp>
      </p:grpSp>
      <p:grpSp>
        <p:nvGrpSpPr>
          <p:cNvPr name="Group 6" id="6"/>
          <p:cNvGrpSpPr/>
          <p:nvPr/>
        </p:nvGrpSpPr>
        <p:grpSpPr>
          <a:xfrm rot="0">
            <a:off x="297628" y="1487578"/>
            <a:ext cx="111169" cy="8285072"/>
            <a:chOff x="0" y="0"/>
            <a:chExt cx="55220" cy="4115358"/>
          </a:xfrm>
        </p:grpSpPr>
        <p:sp>
          <p:nvSpPr>
            <p:cNvPr name="Freeform 7" id="7"/>
            <p:cNvSpPr/>
            <p:nvPr/>
          </p:nvSpPr>
          <p:spPr>
            <a:xfrm flipH="false" flipV="false" rot="0">
              <a:off x="0" y="0"/>
              <a:ext cx="55220" cy="4115281"/>
            </a:xfrm>
            <a:custGeom>
              <a:avLst/>
              <a:gdLst/>
              <a:ahLst/>
              <a:cxnLst/>
              <a:rect r="r" b="b" t="t" l="l"/>
              <a:pathLst>
                <a:path h="4115281" w="55220">
                  <a:moveTo>
                    <a:pt x="0" y="105080"/>
                  </a:moveTo>
                  <a:cubicBezTo>
                    <a:pt x="0" y="47111"/>
                    <a:pt x="12378" y="0"/>
                    <a:pt x="27610" y="0"/>
                  </a:cubicBezTo>
                  <a:cubicBezTo>
                    <a:pt x="42841" y="0"/>
                    <a:pt x="55220" y="47111"/>
                    <a:pt x="55220" y="105080"/>
                  </a:cubicBezTo>
                  <a:lnTo>
                    <a:pt x="55220" y="4010201"/>
                  </a:lnTo>
                  <a:cubicBezTo>
                    <a:pt x="55220" y="4068170"/>
                    <a:pt x="42841" y="4115281"/>
                    <a:pt x="27610" y="4115281"/>
                  </a:cubicBezTo>
                  <a:cubicBezTo>
                    <a:pt x="12378" y="4115281"/>
                    <a:pt x="0" y="4068170"/>
                    <a:pt x="0" y="4010201"/>
                  </a:cubicBezTo>
                  <a:close/>
                </a:path>
              </a:pathLst>
            </a:custGeom>
            <a:solidFill>
              <a:srgbClr val="609DFF"/>
            </a:solidFill>
          </p:spPr>
        </p:sp>
      </p:grpSp>
      <p:sp>
        <p:nvSpPr>
          <p:cNvPr name="Freeform 8" id="8"/>
          <p:cNvSpPr/>
          <p:nvPr/>
        </p:nvSpPr>
        <p:spPr>
          <a:xfrm flipH="false" flipV="false" rot="0">
            <a:off x="5690611" y="3403704"/>
            <a:ext cx="704519" cy="771035"/>
          </a:xfrm>
          <a:custGeom>
            <a:avLst/>
            <a:gdLst/>
            <a:ahLst/>
            <a:cxnLst/>
            <a:rect r="r" b="b" t="t" l="l"/>
            <a:pathLst>
              <a:path h="771035" w="704519">
                <a:moveTo>
                  <a:pt x="0" y="0"/>
                </a:moveTo>
                <a:lnTo>
                  <a:pt x="704519" y="0"/>
                </a:lnTo>
                <a:lnTo>
                  <a:pt x="704519" y="771035"/>
                </a:lnTo>
                <a:lnTo>
                  <a:pt x="0" y="771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5633343" y="5380663"/>
            <a:ext cx="819055" cy="649288"/>
          </a:xfrm>
          <a:custGeom>
            <a:avLst/>
            <a:gdLst/>
            <a:ahLst/>
            <a:cxnLst/>
            <a:rect r="r" b="b" t="t" l="l"/>
            <a:pathLst>
              <a:path h="649288" w="819055">
                <a:moveTo>
                  <a:pt x="0" y="0"/>
                </a:moveTo>
                <a:lnTo>
                  <a:pt x="819055" y="0"/>
                </a:lnTo>
                <a:lnTo>
                  <a:pt x="819055" y="649288"/>
                </a:lnTo>
                <a:lnTo>
                  <a:pt x="0" y="6492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5655657" y="6932830"/>
            <a:ext cx="774427" cy="767387"/>
          </a:xfrm>
          <a:custGeom>
            <a:avLst/>
            <a:gdLst/>
            <a:ahLst/>
            <a:cxnLst/>
            <a:rect r="r" b="b" t="t" l="l"/>
            <a:pathLst>
              <a:path h="767387" w="774427">
                <a:moveTo>
                  <a:pt x="0" y="0"/>
                </a:moveTo>
                <a:lnTo>
                  <a:pt x="774427" y="0"/>
                </a:lnTo>
                <a:lnTo>
                  <a:pt x="774427" y="767386"/>
                </a:lnTo>
                <a:lnTo>
                  <a:pt x="0" y="7673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5732962" y="8845088"/>
            <a:ext cx="619817" cy="826423"/>
          </a:xfrm>
          <a:custGeom>
            <a:avLst/>
            <a:gdLst/>
            <a:ahLst/>
            <a:cxnLst/>
            <a:rect r="r" b="b" t="t" l="l"/>
            <a:pathLst>
              <a:path h="826423" w="619817">
                <a:moveTo>
                  <a:pt x="0" y="0"/>
                </a:moveTo>
                <a:lnTo>
                  <a:pt x="619817" y="0"/>
                </a:lnTo>
                <a:lnTo>
                  <a:pt x="619817" y="826424"/>
                </a:lnTo>
                <a:lnTo>
                  <a:pt x="0" y="8264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2143972" y="4817792"/>
            <a:ext cx="4343240" cy="2424317"/>
          </a:xfrm>
          <a:custGeom>
            <a:avLst/>
            <a:gdLst/>
            <a:ahLst/>
            <a:cxnLst/>
            <a:rect r="r" b="b" t="t" l="l"/>
            <a:pathLst>
              <a:path h="2424317" w="4343240">
                <a:moveTo>
                  <a:pt x="0" y="0"/>
                </a:moveTo>
                <a:lnTo>
                  <a:pt x="4343240" y="0"/>
                </a:lnTo>
                <a:lnTo>
                  <a:pt x="4343240" y="2424318"/>
                </a:lnTo>
                <a:lnTo>
                  <a:pt x="0" y="24243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3424431" y="5489413"/>
            <a:ext cx="3251924" cy="3613249"/>
          </a:xfrm>
          <a:custGeom>
            <a:avLst/>
            <a:gdLst/>
            <a:ahLst/>
            <a:cxnLst/>
            <a:rect r="r" b="b" t="t" l="l"/>
            <a:pathLst>
              <a:path h="3613249" w="3251924">
                <a:moveTo>
                  <a:pt x="0" y="0"/>
                </a:moveTo>
                <a:lnTo>
                  <a:pt x="3251924" y="0"/>
                </a:lnTo>
                <a:lnTo>
                  <a:pt x="3251924" y="3613248"/>
                </a:lnTo>
                <a:lnTo>
                  <a:pt x="0" y="361324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16"/>
            <a:stretch>
              <a:fillRect l="0" t="0" r="0" b="0"/>
            </a:stretch>
          </a:blipFill>
        </p:spPr>
      </p:sp>
      <p:sp>
        <p:nvSpPr>
          <p:cNvPr name="Freeform 15" id="15"/>
          <p:cNvSpPr/>
          <p:nvPr/>
        </p:nvSpPr>
        <p:spPr>
          <a:xfrm flipH="false" flipV="false" rot="0">
            <a:off x="6743304" y="8721997"/>
            <a:ext cx="4806145" cy="1328244"/>
          </a:xfrm>
          <a:custGeom>
            <a:avLst/>
            <a:gdLst/>
            <a:ahLst/>
            <a:cxnLst/>
            <a:rect r="r" b="b" t="t" l="l"/>
            <a:pathLst>
              <a:path h="1328244" w="4806145">
                <a:moveTo>
                  <a:pt x="0" y="0"/>
                </a:moveTo>
                <a:lnTo>
                  <a:pt x="4806145" y="0"/>
                </a:lnTo>
                <a:lnTo>
                  <a:pt x="4806145" y="1328244"/>
                </a:lnTo>
                <a:lnTo>
                  <a:pt x="0" y="132824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6" id="16"/>
          <p:cNvSpPr/>
          <p:nvPr/>
        </p:nvSpPr>
        <p:spPr>
          <a:xfrm flipH="false" flipV="false" rot="0">
            <a:off x="6744409" y="6827716"/>
            <a:ext cx="4806145" cy="1328244"/>
          </a:xfrm>
          <a:custGeom>
            <a:avLst/>
            <a:gdLst/>
            <a:ahLst/>
            <a:cxnLst/>
            <a:rect r="r" b="b" t="t" l="l"/>
            <a:pathLst>
              <a:path h="1328244" w="4806145">
                <a:moveTo>
                  <a:pt x="0" y="0"/>
                </a:moveTo>
                <a:lnTo>
                  <a:pt x="4806145" y="0"/>
                </a:lnTo>
                <a:lnTo>
                  <a:pt x="4806145" y="1328243"/>
                </a:lnTo>
                <a:lnTo>
                  <a:pt x="0" y="132824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7" id="17"/>
          <p:cNvSpPr/>
          <p:nvPr/>
        </p:nvSpPr>
        <p:spPr>
          <a:xfrm flipH="false" flipV="false" rot="0">
            <a:off x="6738148" y="4933434"/>
            <a:ext cx="4806145" cy="1328244"/>
          </a:xfrm>
          <a:custGeom>
            <a:avLst/>
            <a:gdLst/>
            <a:ahLst/>
            <a:cxnLst/>
            <a:rect r="r" b="b" t="t" l="l"/>
            <a:pathLst>
              <a:path h="1328244" w="4806145">
                <a:moveTo>
                  <a:pt x="0" y="0"/>
                </a:moveTo>
                <a:lnTo>
                  <a:pt x="4806145" y="0"/>
                </a:lnTo>
                <a:lnTo>
                  <a:pt x="4806145" y="1328244"/>
                </a:lnTo>
                <a:lnTo>
                  <a:pt x="0" y="132824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6701207" y="3039153"/>
            <a:ext cx="4806145" cy="1328244"/>
          </a:xfrm>
          <a:custGeom>
            <a:avLst/>
            <a:gdLst/>
            <a:ahLst/>
            <a:cxnLst/>
            <a:rect r="r" b="b" t="t" l="l"/>
            <a:pathLst>
              <a:path h="1328244" w="4806145">
                <a:moveTo>
                  <a:pt x="0" y="0"/>
                </a:moveTo>
                <a:lnTo>
                  <a:pt x="4806145" y="0"/>
                </a:lnTo>
                <a:lnTo>
                  <a:pt x="4806145" y="1328243"/>
                </a:lnTo>
                <a:lnTo>
                  <a:pt x="0" y="132824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9" id="19"/>
          <p:cNvSpPr/>
          <p:nvPr/>
        </p:nvSpPr>
        <p:spPr>
          <a:xfrm flipH="false" flipV="false" rot="0">
            <a:off x="538668" y="3039153"/>
            <a:ext cx="4806145" cy="1328244"/>
          </a:xfrm>
          <a:custGeom>
            <a:avLst/>
            <a:gdLst/>
            <a:ahLst/>
            <a:cxnLst/>
            <a:rect r="r" b="b" t="t" l="l"/>
            <a:pathLst>
              <a:path h="1328244" w="4806145">
                <a:moveTo>
                  <a:pt x="0" y="0"/>
                </a:moveTo>
                <a:lnTo>
                  <a:pt x="4806145" y="0"/>
                </a:lnTo>
                <a:lnTo>
                  <a:pt x="4806145" y="1328243"/>
                </a:lnTo>
                <a:lnTo>
                  <a:pt x="0" y="132824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0" id="20"/>
          <p:cNvSpPr/>
          <p:nvPr/>
        </p:nvSpPr>
        <p:spPr>
          <a:xfrm flipH="false" flipV="false" rot="0">
            <a:off x="538668" y="4933434"/>
            <a:ext cx="4806145" cy="1328244"/>
          </a:xfrm>
          <a:custGeom>
            <a:avLst/>
            <a:gdLst/>
            <a:ahLst/>
            <a:cxnLst/>
            <a:rect r="r" b="b" t="t" l="l"/>
            <a:pathLst>
              <a:path h="1328244" w="4806145">
                <a:moveTo>
                  <a:pt x="0" y="0"/>
                </a:moveTo>
                <a:lnTo>
                  <a:pt x="4806145" y="0"/>
                </a:lnTo>
                <a:lnTo>
                  <a:pt x="4806145" y="1328244"/>
                </a:lnTo>
                <a:lnTo>
                  <a:pt x="0" y="132824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1" id="21"/>
          <p:cNvSpPr/>
          <p:nvPr/>
        </p:nvSpPr>
        <p:spPr>
          <a:xfrm flipH="false" flipV="false" rot="0">
            <a:off x="538668" y="6827716"/>
            <a:ext cx="4806145" cy="1328244"/>
          </a:xfrm>
          <a:custGeom>
            <a:avLst/>
            <a:gdLst/>
            <a:ahLst/>
            <a:cxnLst/>
            <a:rect r="r" b="b" t="t" l="l"/>
            <a:pathLst>
              <a:path h="1328244" w="4806145">
                <a:moveTo>
                  <a:pt x="0" y="0"/>
                </a:moveTo>
                <a:lnTo>
                  <a:pt x="4806145" y="0"/>
                </a:lnTo>
                <a:lnTo>
                  <a:pt x="4806145" y="1328243"/>
                </a:lnTo>
                <a:lnTo>
                  <a:pt x="0" y="132824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2" id="22"/>
          <p:cNvSpPr/>
          <p:nvPr/>
        </p:nvSpPr>
        <p:spPr>
          <a:xfrm flipH="false" flipV="false" rot="0">
            <a:off x="538668" y="8721997"/>
            <a:ext cx="4806145" cy="1328244"/>
          </a:xfrm>
          <a:custGeom>
            <a:avLst/>
            <a:gdLst/>
            <a:ahLst/>
            <a:cxnLst/>
            <a:rect r="r" b="b" t="t" l="l"/>
            <a:pathLst>
              <a:path h="1328244" w="4806145">
                <a:moveTo>
                  <a:pt x="0" y="0"/>
                </a:moveTo>
                <a:lnTo>
                  <a:pt x="4806145" y="0"/>
                </a:lnTo>
                <a:lnTo>
                  <a:pt x="4806145" y="1328244"/>
                </a:lnTo>
                <a:lnTo>
                  <a:pt x="0" y="132824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3" id="23"/>
          <p:cNvSpPr/>
          <p:nvPr/>
        </p:nvSpPr>
        <p:spPr>
          <a:xfrm flipH="false" flipV="false" rot="0">
            <a:off x="12807075" y="0"/>
            <a:ext cx="5426690" cy="4665392"/>
          </a:xfrm>
          <a:custGeom>
            <a:avLst/>
            <a:gdLst/>
            <a:ahLst/>
            <a:cxnLst/>
            <a:rect r="r" b="b" t="t" l="l"/>
            <a:pathLst>
              <a:path h="4665392" w="5426690">
                <a:moveTo>
                  <a:pt x="0" y="0"/>
                </a:moveTo>
                <a:lnTo>
                  <a:pt x="5426691" y="0"/>
                </a:lnTo>
                <a:lnTo>
                  <a:pt x="5426691" y="4665392"/>
                </a:lnTo>
                <a:lnTo>
                  <a:pt x="0" y="4665392"/>
                </a:lnTo>
                <a:lnTo>
                  <a:pt x="0" y="0"/>
                </a:lnTo>
                <a:close/>
              </a:path>
            </a:pathLst>
          </a:custGeom>
          <a:blipFill>
            <a:blip r:embed="rId21"/>
            <a:stretch>
              <a:fillRect l="0" t="0" r="0" b="0"/>
            </a:stretch>
          </a:blipFill>
        </p:spPr>
      </p:sp>
      <p:sp>
        <p:nvSpPr>
          <p:cNvPr name="TextBox 24" id="24"/>
          <p:cNvSpPr txBox="true"/>
          <p:nvPr/>
        </p:nvSpPr>
        <p:spPr>
          <a:xfrm rot="0">
            <a:off x="504846" y="182696"/>
            <a:ext cx="11076048" cy="846004"/>
          </a:xfrm>
          <a:prstGeom prst="rect">
            <a:avLst/>
          </a:prstGeom>
        </p:spPr>
        <p:txBody>
          <a:bodyPr anchor="t" rtlCol="false" tIns="0" lIns="0" bIns="0" rIns="0">
            <a:spAutoFit/>
          </a:bodyPr>
          <a:lstStyle/>
          <a:p>
            <a:pPr algn="l">
              <a:lnSpc>
                <a:spcPts val="6793"/>
              </a:lnSpc>
            </a:pPr>
            <a:r>
              <a:rPr lang="en-US" sz="5400" u="sng">
                <a:solidFill>
                  <a:srgbClr val="DAECFF"/>
                </a:solidFill>
                <a:latin typeface="Merriweather"/>
                <a:ea typeface="Merriweather"/>
                <a:cs typeface="Merriweather"/>
                <a:sym typeface="Merriweather"/>
              </a:rPr>
              <a:t>AI</a:t>
            </a:r>
            <a:r>
              <a:rPr lang="en-US" sz="5400" u="sng">
                <a:solidFill>
                  <a:srgbClr val="DAECFF"/>
                </a:solidFill>
                <a:latin typeface="Merriweather"/>
                <a:ea typeface="Merriweather"/>
                <a:cs typeface="Merriweather"/>
                <a:sym typeface="Merriweather"/>
              </a:rPr>
              <a:t> in Action: Tangible Results</a:t>
            </a:r>
          </a:p>
        </p:txBody>
      </p:sp>
      <p:sp>
        <p:nvSpPr>
          <p:cNvPr name="TextBox 25" id="25"/>
          <p:cNvSpPr txBox="true"/>
          <p:nvPr/>
        </p:nvSpPr>
        <p:spPr>
          <a:xfrm rot="0">
            <a:off x="13563900" y="9145725"/>
            <a:ext cx="3112455" cy="461739"/>
          </a:xfrm>
          <a:prstGeom prst="rect">
            <a:avLst/>
          </a:prstGeom>
        </p:spPr>
        <p:txBody>
          <a:bodyPr anchor="t" rtlCol="false" tIns="0" lIns="0" bIns="0" rIns="0">
            <a:spAutoFit/>
          </a:bodyPr>
          <a:lstStyle/>
          <a:p>
            <a:pPr algn="l">
              <a:lnSpc>
                <a:spcPts val="3699"/>
              </a:lnSpc>
            </a:pPr>
            <a:r>
              <a:rPr lang="en-US" sz="2924" b="true">
                <a:solidFill>
                  <a:srgbClr val="FEFEFF"/>
                </a:solidFill>
                <a:latin typeface="Merriweather Bold"/>
                <a:ea typeface="Merriweather Bold"/>
                <a:cs typeface="Merriweather Bold"/>
                <a:sym typeface="Merriweather Bold"/>
              </a:rPr>
              <a:t>Success Metrics</a:t>
            </a:r>
          </a:p>
        </p:txBody>
      </p:sp>
      <p:sp>
        <p:nvSpPr>
          <p:cNvPr name="TextBox 26" id="26"/>
          <p:cNvSpPr txBox="true"/>
          <p:nvPr/>
        </p:nvSpPr>
        <p:spPr>
          <a:xfrm rot="0">
            <a:off x="3788685" y="1241324"/>
            <a:ext cx="4189744" cy="654828"/>
          </a:xfrm>
          <a:prstGeom prst="rect">
            <a:avLst/>
          </a:prstGeom>
        </p:spPr>
        <p:txBody>
          <a:bodyPr anchor="t" rtlCol="false" tIns="0" lIns="0" bIns="0" rIns="0">
            <a:spAutoFit/>
          </a:bodyPr>
          <a:lstStyle/>
          <a:p>
            <a:pPr algn="l">
              <a:lnSpc>
                <a:spcPts val="5283"/>
              </a:lnSpc>
            </a:pPr>
            <a:r>
              <a:rPr lang="en-US" sz="4200" u="sng">
                <a:solidFill>
                  <a:srgbClr val="DAECFF"/>
                </a:solidFill>
                <a:latin typeface="Merriweather"/>
                <a:ea typeface="Merriweather"/>
                <a:cs typeface="Merriweather"/>
                <a:sym typeface="Merriweather"/>
              </a:rPr>
              <a:t>Fraud detection</a:t>
            </a:r>
          </a:p>
        </p:txBody>
      </p:sp>
      <p:sp>
        <p:nvSpPr>
          <p:cNvPr name="TextBox 27" id="27"/>
          <p:cNvSpPr txBox="true"/>
          <p:nvPr/>
        </p:nvSpPr>
        <p:spPr>
          <a:xfrm rot="0">
            <a:off x="1826734" y="2425140"/>
            <a:ext cx="2230015" cy="461739"/>
          </a:xfrm>
          <a:prstGeom prst="rect">
            <a:avLst/>
          </a:prstGeom>
        </p:spPr>
        <p:txBody>
          <a:bodyPr anchor="t" rtlCol="false" tIns="0" lIns="0" bIns="0" rIns="0">
            <a:spAutoFit/>
          </a:bodyPr>
          <a:lstStyle/>
          <a:p>
            <a:pPr algn="l">
              <a:lnSpc>
                <a:spcPts val="3699"/>
              </a:lnSpc>
            </a:pPr>
            <a:r>
              <a:rPr lang="en-US" sz="2924" b="true">
                <a:solidFill>
                  <a:srgbClr val="FEFEFF"/>
                </a:solidFill>
                <a:latin typeface="Merriweather Bold"/>
                <a:ea typeface="Merriweather Bold"/>
                <a:cs typeface="Merriweather Bold"/>
                <a:sym typeface="Merriweather Bold"/>
              </a:rPr>
              <a:t>Without AI</a:t>
            </a:r>
          </a:p>
        </p:txBody>
      </p:sp>
      <p:sp>
        <p:nvSpPr>
          <p:cNvPr name="TextBox 28" id="28"/>
          <p:cNvSpPr txBox="true"/>
          <p:nvPr/>
        </p:nvSpPr>
        <p:spPr>
          <a:xfrm rot="0">
            <a:off x="8206049" y="2425140"/>
            <a:ext cx="1556228" cy="461739"/>
          </a:xfrm>
          <a:prstGeom prst="rect">
            <a:avLst/>
          </a:prstGeom>
        </p:spPr>
        <p:txBody>
          <a:bodyPr anchor="t" rtlCol="false" tIns="0" lIns="0" bIns="0" rIns="0">
            <a:spAutoFit/>
          </a:bodyPr>
          <a:lstStyle/>
          <a:p>
            <a:pPr algn="l">
              <a:lnSpc>
                <a:spcPts val="3699"/>
              </a:lnSpc>
            </a:pPr>
            <a:r>
              <a:rPr lang="en-US" sz="2924" b="true">
                <a:solidFill>
                  <a:srgbClr val="FEFEFF"/>
                </a:solidFill>
                <a:latin typeface="Merriweather Bold"/>
                <a:ea typeface="Merriweather Bold"/>
                <a:cs typeface="Merriweather Bold"/>
                <a:sym typeface="Merriweather Bold"/>
              </a:rPr>
              <a:t>With AI</a:t>
            </a:r>
          </a:p>
        </p:txBody>
      </p:sp>
      <p:sp>
        <p:nvSpPr>
          <p:cNvPr name="TextBox 29" id="29"/>
          <p:cNvSpPr txBox="true"/>
          <p:nvPr/>
        </p:nvSpPr>
        <p:spPr>
          <a:xfrm rot="0">
            <a:off x="1240665" y="3205922"/>
            <a:ext cx="3402152" cy="795655"/>
          </a:xfrm>
          <a:prstGeom prst="rect">
            <a:avLst/>
          </a:prstGeom>
        </p:spPr>
        <p:txBody>
          <a:bodyPr anchor="t" rtlCol="false" tIns="0" lIns="0" bIns="0" rIns="0">
            <a:spAutoFit/>
          </a:bodyPr>
          <a:lstStyle/>
          <a:p>
            <a:pPr algn="ctr">
              <a:lnSpc>
                <a:spcPts val="2150"/>
              </a:lnSpc>
            </a:pPr>
            <a:r>
              <a:rPr lang="en-US" sz="1700" b="true">
                <a:solidFill>
                  <a:srgbClr val="000000"/>
                </a:solidFill>
                <a:latin typeface="Merriweather Bold"/>
                <a:ea typeface="Merriweather Bold"/>
                <a:cs typeface="Merriweather Bold"/>
                <a:sym typeface="Merriweather Bold"/>
              </a:rPr>
              <a:t>Man</a:t>
            </a:r>
            <a:r>
              <a:rPr lang="en-US" b="true" sz="1700">
                <a:solidFill>
                  <a:srgbClr val="000000"/>
                </a:solidFill>
                <a:latin typeface="Merriweather Bold"/>
                <a:ea typeface="Merriweather Bold"/>
                <a:cs typeface="Merriweather Bold"/>
                <a:sym typeface="Merriweather Bold"/>
              </a:rPr>
              <a:t>ual Rule-Based Systems: </a:t>
            </a:r>
            <a:r>
              <a:rPr lang="en-US" sz="1700">
                <a:solidFill>
                  <a:srgbClr val="000000"/>
                </a:solidFill>
                <a:latin typeface="Merriweather"/>
                <a:ea typeface="Merriweather"/>
                <a:cs typeface="Merriweather"/>
                <a:sym typeface="Merriweather"/>
              </a:rPr>
              <a:t>Fixed simple rules; easily bypassed by new fraud tactics.</a:t>
            </a:r>
          </a:p>
        </p:txBody>
      </p:sp>
      <p:sp>
        <p:nvSpPr>
          <p:cNvPr name="TextBox 30" id="30"/>
          <p:cNvSpPr txBox="true"/>
          <p:nvPr/>
        </p:nvSpPr>
        <p:spPr>
          <a:xfrm rot="0">
            <a:off x="874446" y="6957003"/>
            <a:ext cx="4134591" cy="795731"/>
          </a:xfrm>
          <a:prstGeom prst="rect">
            <a:avLst/>
          </a:prstGeom>
        </p:spPr>
        <p:txBody>
          <a:bodyPr anchor="t" rtlCol="false" tIns="0" lIns="0" bIns="0" rIns="0">
            <a:spAutoFit/>
          </a:bodyPr>
          <a:lstStyle/>
          <a:p>
            <a:pPr algn="ctr">
              <a:lnSpc>
                <a:spcPts val="2148"/>
              </a:lnSpc>
            </a:pPr>
            <a:r>
              <a:rPr lang="en-US" sz="1700" b="true">
                <a:solidFill>
                  <a:srgbClr val="000000"/>
                </a:solidFill>
                <a:latin typeface="Merriweather Bold"/>
                <a:ea typeface="Merriweather Bold"/>
                <a:cs typeface="Merriweather Bold"/>
                <a:sym typeface="Merriweather Bold"/>
              </a:rPr>
              <a:t>High</a:t>
            </a:r>
            <a:r>
              <a:rPr lang="en-US" b="true" sz="1700">
                <a:solidFill>
                  <a:srgbClr val="000000"/>
                </a:solidFill>
                <a:latin typeface="Merriweather Bold"/>
                <a:ea typeface="Merriweather Bold"/>
                <a:cs typeface="Merriweather Bold"/>
                <a:sym typeface="Merriweather Bold"/>
              </a:rPr>
              <a:t> False Positives: </a:t>
            </a:r>
          </a:p>
          <a:p>
            <a:pPr algn="ctr">
              <a:lnSpc>
                <a:spcPts val="2150"/>
              </a:lnSpc>
            </a:pPr>
            <a:r>
              <a:rPr lang="en-US" sz="1700">
                <a:solidFill>
                  <a:srgbClr val="000000"/>
                </a:solidFill>
                <a:latin typeface="Merriweather"/>
                <a:ea typeface="Merriweather"/>
                <a:cs typeface="Merriweather"/>
                <a:sym typeface="Merriweather"/>
              </a:rPr>
              <a:t>Flags right transactions, frustrating customers and increasing costs.</a:t>
            </a:r>
          </a:p>
        </p:txBody>
      </p:sp>
      <p:sp>
        <p:nvSpPr>
          <p:cNvPr name="TextBox 31" id="31"/>
          <p:cNvSpPr txBox="true"/>
          <p:nvPr/>
        </p:nvSpPr>
        <p:spPr>
          <a:xfrm rot="0">
            <a:off x="1240665" y="5061540"/>
            <a:ext cx="3402152" cy="795807"/>
          </a:xfrm>
          <a:prstGeom prst="rect">
            <a:avLst/>
          </a:prstGeom>
        </p:spPr>
        <p:txBody>
          <a:bodyPr anchor="t" rtlCol="false" tIns="0" lIns="0" bIns="0" rIns="0">
            <a:spAutoFit/>
          </a:bodyPr>
          <a:lstStyle/>
          <a:p>
            <a:pPr algn="ctr">
              <a:lnSpc>
                <a:spcPts val="2148"/>
              </a:lnSpc>
            </a:pPr>
            <a:r>
              <a:rPr lang="en-US" sz="1700" b="true">
                <a:solidFill>
                  <a:srgbClr val="000000"/>
                </a:solidFill>
                <a:latin typeface="Merriweather Bold"/>
                <a:ea typeface="Merriweather Bold"/>
                <a:cs typeface="Merriweather Bold"/>
                <a:sym typeface="Merriweather Bold"/>
              </a:rPr>
              <a:t>S</a:t>
            </a:r>
            <a:r>
              <a:rPr lang="en-US" b="true" sz="1700">
                <a:solidFill>
                  <a:srgbClr val="000000"/>
                </a:solidFill>
                <a:latin typeface="Merriweather Bold"/>
                <a:ea typeface="Merriweather Bold"/>
                <a:cs typeface="Merriweather Bold"/>
                <a:sym typeface="Merriweather Bold"/>
              </a:rPr>
              <a:t>low &amp; Reactive: </a:t>
            </a:r>
          </a:p>
          <a:p>
            <a:pPr algn="ctr">
              <a:lnSpc>
                <a:spcPts val="2148"/>
              </a:lnSpc>
            </a:pPr>
            <a:r>
              <a:rPr lang="en-US" sz="1700">
                <a:solidFill>
                  <a:srgbClr val="000000"/>
                </a:solidFill>
                <a:latin typeface="Merriweather"/>
                <a:ea typeface="Merriweather"/>
                <a:cs typeface="Merriweather"/>
                <a:sym typeface="Merriweather"/>
              </a:rPr>
              <a:t>Relies on human review, fraud often detected after the loss.</a:t>
            </a:r>
          </a:p>
        </p:txBody>
      </p:sp>
      <p:sp>
        <p:nvSpPr>
          <p:cNvPr name="TextBox 32" id="32"/>
          <p:cNvSpPr txBox="true"/>
          <p:nvPr/>
        </p:nvSpPr>
        <p:spPr>
          <a:xfrm rot="0">
            <a:off x="874446" y="8875857"/>
            <a:ext cx="4048086" cy="795731"/>
          </a:xfrm>
          <a:prstGeom prst="rect">
            <a:avLst/>
          </a:prstGeom>
        </p:spPr>
        <p:txBody>
          <a:bodyPr anchor="t" rtlCol="false" tIns="0" lIns="0" bIns="0" rIns="0">
            <a:spAutoFit/>
          </a:bodyPr>
          <a:lstStyle/>
          <a:p>
            <a:pPr algn="ctr">
              <a:lnSpc>
                <a:spcPts val="2148"/>
              </a:lnSpc>
            </a:pPr>
            <a:r>
              <a:rPr lang="en-US" sz="1700" b="true">
                <a:solidFill>
                  <a:srgbClr val="000000"/>
                </a:solidFill>
                <a:latin typeface="Merriweather Bold"/>
                <a:ea typeface="Merriweather Bold"/>
                <a:cs typeface="Merriweather Bold"/>
                <a:sym typeface="Merriweather Bold"/>
              </a:rPr>
              <a:t>Li</a:t>
            </a:r>
            <a:r>
              <a:rPr lang="en-US" b="true" sz="1700">
                <a:solidFill>
                  <a:srgbClr val="000000"/>
                </a:solidFill>
                <a:latin typeface="Merriweather Bold"/>
                <a:ea typeface="Merriweather Bold"/>
                <a:cs typeface="Merriweather Bold"/>
                <a:sym typeface="Merriweather Bold"/>
              </a:rPr>
              <a:t>mited Scalability: </a:t>
            </a:r>
          </a:p>
          <a:p>
            <a:pPr algn="ctr">
              <a:lnSpc>
                <a:spcPts val="2150"/>
              </a:lnSpc>
            </a:pPr>
            <a:r>
              <a:rPr lang="en-US" sz="1700">
                <a:solidFill>
                  <a:srgbClr val="000000"/>
                </a:solidFill>
                <a:latin typeface="Merriweather"/>
                <a:ea typeface="Merriweather"/>
                <a:cs typeface="Merriweather"/>
                <a:sym typeface="Merriweather"/>
              </a:rPr>
              <a:t>Struggles with massive data; patterns in large datasets are missed.</a:t>
            </a:r>
          </a:p>
        </p:txBody>
      </p:sp>
      <p:sp>
        <p:nvSpPr>
          <p:cNvPr name="TextBox 33" id="33"/>
          <p:cNvSpPr txBox="true"/>
          <p:nvPr/>
        </p:nvSpPr>
        <p:spPr>
          <a:xfrm rot="0">
            <a:off x="7442924" y="3205922"/>
            <a:ext cx="3402152" cy="795655"/>
          </a:xfrm>
          <a:prstGeom prst="rect">
            <a:avLst/>
          </a:prstGeom>
        </p:spPr>
        <p:txBody>
          <a:bodyPr anchor="t" rtlCol="false" tIns="0" lIns="0" bIns="0" rIns="0">
            <a:spAutoFit/>
          </a:bodyPr>
          <a:lstStyle/>
          <a:p>
            <a:pPr algn="ctr">
              <a:lnSpc>
                <a:spcPts val="2150"/>
              </a:lnSpc>
            </a:pPr>
            <a:r>
              <a:rPr lang="en-US" sz="1700" b="true">
                <a:solidFill>
                  <a:srgbClr val="000000"/>
                </a:solidFill>
                <a:latin typeface="Merriweather Bold"/>
                <a:ea typeface="Merriweather Bold"/>
                <a:cs typeface="Merriweather Bold"/>
                <a:sym typeface="Merriweather Bold"/>
              </a:rPr>
              <a:t>Inte</a:t>
            </a:r>
            <a:r>
              <a:rPr lang="en-US" b="true" sz="1700">
                <a:solidFill>
                  <a:srgbClr val="000000"/>
                </a:solidFill>
                <a:latin typeface="Merriweather Bold"/>
                <a:ea typeface="Merriweather Bold"/>
                <a:cs typeface="Merriweather Bold"/>
                <a:sym typeface="Merriweather Bold"/>
              </a:rPr>
              <a:t>lligent Anomaly Detection: </a:t>
            </a:r>
            <a:r>
              <a:rPr lang="en-US" sz="1700">
                <a:solidFill>
                  <a:srgbClr val="000000"/>
                </a:solidFill>
                <a:latin typeface="Merriweather"/>
                <a:ea typeface="Merriweather"/>
                <a:cs typeface="Merriweather"/>
                <a:sym typeface="Merriweather"/>
              </a:rPr>
              <a:t>Learns complex, evolving patterns to spot new threats.</a:t>
            </a:r>
          </a:p>
        </p:txBody>
      </p:sp>
      <p:sp>
        <p:nvSpPr>
          <p:cNvPr name="TextBox 34" id="34"/>
          <p:cNvSpPr txBox="true"/>
          <p:nvPr/>
        </p:nvSpPr>
        <p:spPr>
          <a:xfrm rot="0">
            <a:off x="7268724" y="5060434"/>
            <a:ext cx="3750553" cy="795731"/>
          </a:xfrm>
          <a:prstGeom prst="rect">
            <a:avLst/>
          </a:prstGeom>
        </p:spPr>
        <p:txBody>
          <a:bodyPr anchor="t" rtlCol="false" tIns="0" lIns="0" bIns="0" rIns="0">
            <a:spAutoFit/>
          </a:bodyPr>
          <a:lstStyle/>
          <a:p>
            <a:pPr algn="ctr">
              <a:lnSpc>
                <a:spcPts val="2148"/>
              </a:lnSpc>
            </a:pPr>
            <a:r>
              <a:rPr lang="en-US" sz="1700" b="true">
                <a:solidFill>
                  <a:srgbClr val="000000"/>
                </a:solidFill>
                <a:latin typeface="Merriweather Bold"/>
                <a:ea typeface="Merriweather Bold"/>
                <a:cs typeface="Merriweather Bold"/>
                <a:sym typeface="Merriweather Bold"/>
              </a:rPr>
              <a:t>Rea</a:t>
            </a:r>
            <a:r>
              <a:rPr lang="en-US" b="true" sz="1700">
                <a:solidFill>
                  <a:srgbClr val="000000"/>
                </a:solidFill>
                <a:latin typeface="Merriweather Bold"/>
                <a:ea typeface="Merriweather Bold"/>
                <a:cs typeface="Merriweather Bold"/>
                <a:sym typeface="Merriweather Bold"/>
              </a:rPr>
              <a:t>l-Time &amp; Proactive: </a:t>
            </a:r>
          </a:p>
          <a:p>
            <a:pPr algn="ctr">
              <a:lnSpc>
                <a:spcPts val="2150"/>
              </a:lnSpc>
            </a:pPr>
            <a:r>
              <a:rPr lang="en-US" sz="1700">
                <a:solidFill>
                  <a:srgbClr val="000000"/>
                </a:solidFill>
                <a:latin typeface="Merriweather"/>
                <a:ea typeface="Merriweather"/>
                <a:cs typeface="Merriweather"/>
                <a:sym typeface="Merriweather"/>
              </a:rPr>
              <a:t>Processes transactions instantly, often preventing fraud.</a:t>
            </a:r>
          </a:p>
        </p:txBody>
      </p:sp>
      <p:sp>
        <p:nvSpPr>
          <p:cNvPr name="TextBox 35" id="35"/>
          <p:cNvSpPr txBox="true"/>
          <p:nvPr/>
        </p:nvSpPr>
        <p:spPr>
          <a:xfrm rot="0">
            <a:off x="7298205" y="6956927"/>
            <a:ext cx="3750553" cy="795807"/>
          </a:xfrm>
          <a:prstGeom prst="rect">
            <a:avLst/>
          </a:prstGeom>
        </p:spPr>
        <p:txBody>
          <a:bodyPr anchor="t" rtlCol="false" tIns="0" lIns="0" bIns="0" rIns="0">
            <a:spAutoFit/>
          </a:bodyPr>
          <a:lstStyle/>
          <a:p>
            <a:pPr algn="ctr">
              <a:lnSpc>
                <a:spcPts val="2148"/>
              </a:lnSpc>
            </a:pPr>
            <a:r>
              <a:rPr lang="en-US" sz="1700" b="true">
                <a:solidFill>
                  <a:srgbClr val="000000"/>
                </a:solidFill>
                <a:latin typeface="Merriweather Bold"/>
                <a:ea typeface="Merriweather Bold"/>
                <a:cs typeface="Merriweather Bold"/>
                <a:sym typeface="Merriweather Bold"/>
              </a:rPr>
              <a:t>Low Fa</a:t>
            </a:r>
            <a:r>
              <a:rPr lang="en-US" b="true" sz="1700">
                <a:solidFill>
                  <a:srgbClr val="000000"/>
                </a:solidFill>
                <a:latin typeface="Merriweather Bold"/>
                <a:ea typeface="Merriweather Bold"/>
                <a:cs typeface="Merriweather Bold"/>
                <a:sym typeface="Merriweather Bold"/>
              </a:rPr>
              <a:t>lse Positives: </a:t>
            </a:r>
          </a:p>
          <a:p>
            <a:pPr algn="ctr">
              <a:lnSpc>
                <a:spcPts val="2148"/>
              </a:lnSpc>
            </a:pPr>
            <a:r>
              <a:rPr lang="en-US" sz="1700">
                <a:solidFill>
                  <a:srgbClr val="000000"/>
                </a:solidFill>
                <a:latin typeface="Merriweather"/>
                <a:ea typeface="Merriweather"/>
                <a:cs typeface="Merriweather"/>
                <a:sym typeface="Merriweather"/>
              </a:rPr>
              <a:t>Detections focus on real fraud, improving customer experience.</a:t>
            </a:r>
          </a:p>
        </p:txBody>
      </p:sp>
      <p:sp>
        <p:nvSpPr>
          <p:cNvPr name="TextBox 36" id="36"/>
          <p:cNvSpPr txBox="true"/>
          <p:nvPr/>
        </p:nvSpPr>
        <p:spPr>
          <a:xfrm rot="0">
            <a:off x="7202125" y="8835563"/>
            <a:ext cx="3883750" cy="795807"/>
          </a:xfrm>
          <a:prstGeom prst="rect">
            <a:avLst/>
          </a:prstGeom>
        </p:spPr>
        <p:txBody>
          <a:bodyPr anchor="t" rtlCol="false" tIns="0" lIns="0" bIns="0" rIns="0">
            <a:spAutoFit/>
          </a:bodyPr>
          <a:lstStyle/>
          <a:p>
            <a:pPr algn="ctr">
              <a:lnSpc>
                <a:spcPts val="2148"/>
              </a:lnSpc>
            </a:pPr>
            <a:r>
              <a:rPr lang="en-US" sz="1700" b="true">
                <a:solidFill>
                  <a:srgbClr val="000000"/>
                </a:solidFill>
                <a:latin typeface="Merriweather Bold"/>
                <a:ea typeface="Merriweather Bold"/>
                <a:cs typeface="Merriweather Bold"/>
                <a:sym typeface="Merriweather Bold"/>
              </a:rPr>
              <a:t>Mass</a:t>
            </a:r>
            <a:r>
              <a:rPr lang="en-US" b="true" sz="1700">
                <a:solidFill>
                  <a:srgbClr val="000000"/>
                </a:solidFill>
                <a:latin typeface="Merriweather Bold"/>
                <a:ea typeface="Merriweather Bold"/>
                <a:cs typeface="Merriweather Bold"/>
                <a:sym typeface="Merriweather Bold"/>
              </a:rPr>
              <a:t>ive Scalability: </a:t>
            </a:r>
          </a:p>
          <a:p>
            <a:pPr algn="ctr">
              <a:lnSpc>
                <a:spcPts val="2148"/>
              </a:lnSpc>
            </a:pPr>
            <a:r>
              <a:rPr lang="en-US" sz="1700">
                <a:solidFill>
                  <a:srgbClr val="000000"/>
                </a:solidFill>
                <a:latin typeface="Merriweather"/>
                <a:ea typeface="Merriweather"/>
                <a:cs typeface="Merriweather"/>
                <a:sym typeface="Merriweather"/>
              </a:rPr>
              <a:t>Processes datasets; uncovers hidden patterns for superior accuracy.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76625"/>
            <a:ext cx="18288000" cy="10509679"/>
            <a:chOff x="0" y="0"/>
            <a:chExt cx="24384000" cy="14012905"/>
          </a:xfrm>
        </p:grpSpPr>
        <p:sp>
          <p:nvSpPr>
            <p:cNvPr name="Freeform 5" id="5"/>
            <p:cNvSpPr/>
            <p:nvPr/>
          </p:nvSpPr>
          <p:spPr>
            <a:xfrm flipH="false" flipV="false" rot="0">
              <a:off x="0" y="0"/>
              <a:ext cx="24384000" cy="14012904"/>
            </a:xfrm>
            <a:custGeom>
              <a:avLst/>
              <a:gdLst/>
              <a:ahLst/>
              <a:cxnLst/>
              <a:rect r="r" b="b" t="t" l="l"/>
              <a:pathLst>
                <a:path h="14012904" w="24384000">
                  <a:moveTo>
                    <a:pt x="0" y="0"/>
                  </a:moveTo>
                  <a:lnTo>
                    <a:pt x="24384000" y="0"/>
                  </a:lnTo>
                  <a:lnTo>
                    <a:pt x="24384000" y="14012904"/>
                  </a:lnTo>
                  <a:lnTo>
                    <a:pt x="0" y="14012904"/>
                  </a:lnTo>
                  <a:close/>
                </a:path>
              </a:pathLst>
            </a:custGeom>
            <a:solidFill>
              <a:srgbClr val="09151A">
                <a:alpha val="72157"/>
              </a:srgbClr>
            </a:solidFill>
          </p:spPr>
        </p:sp>
      </p:grpSp>
      <p:grpSp>
        <p:nvGrpSpPr>
          <p:cNvPr name="Group 6" id="6"/>
          <p:cNvGrpSpPr/>
          <p:nvPr/>
        </p:nvGrpSpPr>
        <p:grpSpPr>
          <a:xfrm rot="0">
            <a:off x="9144000" y="828904"/>
            <a:ext cx="100904" cy="8429396"/>
            <a:chOff x="0" y="0"/>
            <a:chExt cx="34224" cy="2859045"/>
          </a:xfrm>
        </p:grpSpPr>
        <p:sp>
          <p:nvSpPr>
            <p:cNvPr name="Freeform 7" id="7"/>
            <p:cNvSpPr/>
            <p:nvPr/>
          </p:nvSpPr>
          <p:spPr>
            <a:xfrm flipH="false" flipV="false" rot="0">
              <a:off x="0" y="0"/>
              <a:ext cx="34224" cy="2858992"/>
            </a:xfrm>
            <a:custGeom>
              <a:avLst/>
              <a:gdLst/>
              <a:ahLst/>
              <a:cxnLst/>
              <a:rect r="r" b="b" t="t" l="l"/>
              <a:pathLst>
                <a:path h="2858992" w="34224">
                  <a:moveTo>
                    <a:pt x="0" y="73002"/>
                  </a:moveTo>
                  <a:cubicBezTo>
                    <a:pt x="0" y="32729"/>
                    <a:pt x="7672" y="0"/>
                    <a:pt x="17112" y="0"/>
                  </a:cubicBezTo>
                  <a:cubicBezTo>
                    <a:pt x="26552" y="0"/>
                    <a:pt x="34224" y="32729"/>
                    <a:pt x="34224" y="73002"/>
                  </a:cubicBezTo>
                  <a:lnTo>
                    <a:pt x="34224" y="2785990"/>
                  </a:lnTo>
                  <a:cubicBezTo>
                    <a:pt x="34224" y="2826263"/>
                    <a:pt x="26552" y="2858992"/>
                    <a:pt x="17112" y="2858992"/>
                  </a:cubicBezTo>
                  <a:cubicBezTo>
                    <a:pt x="7672" y="2858992"/>
                    <a:pt x="0" y="2826263"/>
                    <a:pt x="0" y="2785990"/>
                  </a:cubicBezTo>
                  <a:close/>
                </a:path>
              </a:pathLst>
            </a:custGeom>
            <a:solidFill>
              <a:srgbClr val="0000FF"/>
            </a:solidFill>
          </p:spPr>
        </p:sp>
      </p:grpSp>
      <p:sp>
        <p:nvSpPr>
          <p:cNvPr name="Freeform 8" id="8"/>
          <p:cNvSpPr/>
          <p:nvPr/>
        </p:nvSpPr>
        <p:spPr>
          <a:xfrm flipH="false" flipV="false" rot="0">
            <a:off x="17259300" y="9186062"/>
            <a:ext cx="1100938" cy="1100938"/>
          </a:xfrm>
          <a:custGeom>
            <a:avLst/>
            <a:gdLst/>
            <a:ahLst/>
            <a:cxnLst/>
            <a:rect r="r" b="b" t="t" l="l"/>
            <a:pathLst>
              <a:path h="1100938" w="1100938">
                <a:moveTo>
                  <a:pt x="0" y="0"/>
                </a:moveTo>
                <a:lnTo>
                  <a:pt x="1100938" y="0"/>
                </a:lnTo>
                <a:lnTo>
                  <a:pt x="1100938" y="1100938"/>
                </a:lnTo>
                <a:lnTo>
                  <a:pt x="0" y="1100938"/>
                </a:lnTo>
                <a:lnTo>
                  <a:pt x="0" y="0"/>
                </a:lnTo>
                <a:close/>
              </a:path>
            </a:pathLst>
          </a:custGeom>
          <a:blipFill>
            <a:blip r:embed="rId4"/>
            <a:stretch>
              <a:fillRect l="0" t="0" r="0" b="0"/>
            </a:stretch>
          </a:blipFill>
        </p:spPr>
      </p:sp>
      <p:sp>
        <p:nvSpPr>
          <p:cNvPr name="Freeform 9" id="9"/>
          <p:cNvSpPr/>
          <p:nvPr/>
        </p:nvSpPr>
        <p:spPr>
          <a:xfrm flipH="false" flipV="false" rot="0">
            <a:off x="3730026" y="1028700"/>
            <a:ext cx="784866" cy="784866"/>
          </a:xfrm>
          <a:custGeom>
            <a:avLst/>
            <a:gdLst/>
            <a:ahLst/>
            <a:cxnLst/>
            <a:rect r="r" b="b" t="t" l="l"/>
            <a:pathLst>
              <a:path h="784866" w="784866">
                <a:moveTo>
                  <a:pt x="0" y="0"/>
                </a:moveTo>
                <a:lnTo>
                  <a:pt x="784866" y="0"/>
                </a:lnTo>
                <a:lnTo>
                  <a:pt x="784866" y="784866"/>
                </a:lnTo>
                <a:lnTo>
                  <a:pt x="0" y="7848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3710634" y="2500992"/>
            <a:ext cx="823651" cy="730627"/>
          </a:xfrm>
          <a:custGeom>
            <a:avLst/>
            <a:gdLst/>
            <a:ahLst/>
            <a:cxnLst/>
            <a:rect r="r" b="b" t="t" l="l"/>
            <a:pathLst>
              <a:path h="730627" w="823651">
                <a:moveTo>
                  <a:pt x="0" y="0"/>
                </a:moveTo>
                <a:lnTo>
                  <a:pt x="823650" y="0"/>
                </a:lnTo>
                <a:lnTo>
                  <a:pt x="823650" y="730626"/>
                </a:lnTo>
                <a:lnTo>
                  <a:pt x="0" y="7306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2868224" y="4000762"/>
            <a:ext cx="2694376" cy="1809601"/>
          </a:xfrm>
          <a:custGeom>
            <a:avLst/>
            <a:gdLst/>
            <a:ahLst/>
            <a:cxnLst/>
            <a:rect r="r" b="b" t="t" l="l"/>
            <a:pathLst>
              <a:path h="1809601" w="2694376">
                <a:moveTo>
                  <a:pt x="0" y="0"/>
                </a:moveTo>
                <a:lnTo>
                  <a:pt x="2694377" y="0"/>
                </a:lnTo>
                <a:lnTo>
                  <a:pt x="2694377" y="1809601"/>
                </a:lnTo>
                <a:lnTo>
                  <a:pt x="0" y="18096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2" id="12"/>
          <p:cNvSpPr/>
          <p:nvPr/>
        </p:nvSpPr>
        <p:spPr>
          <a:xfrm flipH="false" flipV="false" rot="0">
            <a:off x="6815632" y="4159505"/>
            <a:ext cx="1859333" cy="1248768"/>
          </a:xfrm>
          <a:custGeom>
            <a:avLst/>
            <a:gdLst/>
            <a:ahLst/>
            <a:cxnLst/>
            <a:rect r="r" b="b" t="t" l="l"/>
            <a:pathLst>
              <a:path h="1248768" w="1859333">
                <a:moveTo>
                  <a:pt x="0" y="0"/>
                </a:moveTo>
                <a:lnTo>
                  <a:pt x="1859333" y="0"/>
                </a:lnTo>
                <a:lnTo>
                  <a:pt x="1859333" y="1248768"/>
                </a:lnTo>
                <a:lnTo>
                  <a:pt x="0" y="12487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3" id="13"/>
          <p:cNvSpPr/>
          <p:nvPr/>
        </p:nvSpPr>
        <p:spPr>
          <a:xfrm flipH="false" flipV="false" rot="0">
            <a:off x="3355705" y="6585804"/>
            <a:ext cx="1570102" cy="1054515"/>
          </a:xfrm>
          <a:custGeom>
            <a:avLst/>
            <a:gdLst/>
            <a:ahLst/>
            <a:cxnLst/>
            <a:rect r="r" b="b" t="t" l="l"/>
            <a:pathLst>
              <a:path h="1054515" w="1570102">
                <a:moveTo>
                  <a:pt x="0" y="0"/>
                </a:moveTo>
                <a:lnTo>
                  <a:pt x="1570103" y="0"/>
                </a:lnTo>
                <a:lnTo>
                  <a:pt x="1570103" y="1054515"/>
                </a:lnTo>
                <a:lnTo>
                  <a:pt x="0" y="105451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4" id="14"/>
          <p:cNvSpPr/>
          <p:nvPr/>
        </p:nvSpPr>
        <p:spPr>
          <a:xfrm flipH="false" flipV="false" rot="0">
            <a:off x="862448" y="8596789"/>
            <a:ext cx="1969893" cy="1323023"/>
          </a:xfrm>
          <a:custGeom>
            <a:avLst/>
            <a:gdLst/>
            <a:ahLst/>
            <a:cxnLst/>
            <a:rect r="r" b="b" t="t" l="l"/>
            <a:pathLst>
              <a:path h="1323023" w="1969893">
                <a:moveTo>
                  <a:pt x="0" y="0"/>
                </a:moveTo>
                <a:lnTo>
                  <a:pt x="1969893" y="0"/>
                </a:lnTo>
                <a:lnTo>
                  <a:pt x="1969893" y="1323022"/>
                </a:lnTo>
                <a:lnTo>
                  <a:pt x="0" y="132302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5" id="15"/>
          <p:cNvSpPr/>
          <p:nvPr/>
        </p:nvSpPr>
        <p:spPr>
          <a:xfrm flipH="false" flipV="false" rot="0">
            <a:off x="5412577" y="8596789"/>
            <a:ext cx="1969893" cy="1323023"/>
          </a:xfrm>
          <a:custGeom>
            <a:avLst/>
            <a:gdLst/>
            <a:ahLst/>
            <a:cxnLst/>
            <a:rect r="r" b="b" t="t" l="l"/>
            <a:pathLst>
              <a:path h="1323023" w="1969893">
                <a:moveTo>
                  <a:pt x="0" y="0"/>
                </a:moveTo>
                <a:lnTo>
                  <a:pt x="1969893" y="0"/>
                </a:lnTo>
                <a:lnTo>
                  <a:pt x="1969893" y="1323022"/>
                </a:lnTo>
                <a:lnTo>
                  <a:pt x="0" y="132302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16" id="16"/>
          <p:cNvSpPr/>
          <p:nvPr/>
        </p:nvSpPr>
        <p:spPr>
          <a:xfrm flipH="false" flipV="false" rot="5400000">
            <a:off x="3900123" y="2031230"/>
            <a:ext cx="692097" cy="247425"/>
          </a:xfrm>
          <a:custGeom>
            <a:avLst/>
            <a:gdLst/>
            <a:ahLst/>
            <a:cxnLst/>
            <a:rect r="r" b="b" t="t" l="l"/>
            <a:pathLst>
              <a:path h="247425" w="692097">
                <a:moveTo>
                  <a:pt x="0" y="0"/>
                </a:moveTo>
                <a:lnTo>
                  <a:pt x="692097" y="0"/>
                </a:lnTo>
                <a:lnTo>
                  <a:pt x="692097" y="247425"/>
                </a:lnTo>
                <a:lnTo>
                  <a:pt x="0" y="2474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7" id="17"/>
          <p:cNvSpPr/>
          <p:nvPr/>
        </p:nvSpPr>
        <p:spPr>
          <a:xfrm flipH="false" flipV="false" rot="5400000">
            <a:off x="3900123" y="3447657"/>
            <a:ext cx="692097" cy="247425"/>
          </a:xfrm>
          <a:custGeom>
            <a:avLst/>
            <a:gdLst/>
            <a:ahLst/>
            <a:cxnLst/>
            <a:rect r="r" b="b" t="t" l="l"/>
            <a:pathLst>
              <a:path h="247425" w="692097">
                <a:moveTo>
                  <a:pt x="0" y="0"/>
                </a:moveTo>
                <a:lnTo>
                  <a:pt x="692097" y="0"/>
                </a:lnTo>
                <a:lnTo>
                  <a:pt x="692097" y="247425"/>
                </a:lnTo>
                <a:lnTo>
                  <a:pt x="0" y="2474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8" id="18"/>
          <p:cNvSpPr/>
          <p:nvPr/>
        </p:nvSpPr>
        <p:spPr>
          <a:xfrm flipH="false" flipV="false" rot="5400000">
            <a:off x="3872760" y="6116043"/>
            <a:ext cx="692097" cy="247425"/>
          </a:xfrm>
          <a:custGeom>
            <a:avLst/>
            <a:gdLst/>
            <a:ahLst/>
            <a:cxnLst/>
            <a:rect r="r" b="b" t="t" l="l"/>
            <a:pathLst>
              <a:path h="247425" w="692097">
                <a:moveTo>
                  <a:pt x="0" y="0"/>
                </a:moveTo>
                <a:lnTo>
                  <a:pt x="692097" y="0"/>
                </a:lnTo>
                <a:lnTo>
                  <a:pt x="692097" y="247425"/>
                </a:lnTo>
                <a:lnTo>
                  <a:pt x="0" y="2474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9" id="19"/>
          <p:cNvSpPr/>
          <p:nvPr/>
        </p:nvSpPr>
        <p:spPr>
          <a:xfrm flipH="false" flipV="false" rot="2923317">
            <a:off x="4934349" y="7759930"/>
            <a:ext cx="1175719" cy="420319"/>
          </a:xfrm>
          <a:custGeom>
            <a:avLst/>
            <a:gdLst/>
            <a:ahLst/>
            <a:cxnLst/>
            <a:rect r="r" b="b" t="t" l="l"/>
            <a:pathLst>
              <a:path h="420319" w="1175719">
                <a:moveTo>
                  <a:pt x="0" y="0"/>
                </a:moveTo>
                <a:lnTo>
                  <a:pt x="1175719" y="0"/>
                </a:lnTo>
                <a:lnTo>
                  <a:pt x="1175719" y="420319"/>
                </a:lnTo>
                <a:lnTo>
                  <a:pt x="0" y="42031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0" id="20"/>
          <p:cNvSpPr/>
          <p:nvPr/>
        </p:nvSpPr>
        <p:spPr>
          <a:xfrm flipH="true" flipV="false" rot="-2700000">
            <a:off x="1986573" y="7768434"/>
            <a:ext cx="1257562" cy="449579"/>
          </a:xfrm>
          <a:custGeom>
            <a:avLst/>
            <a:gdLst/>
            <a:ahLst/>
            <a:cxnLst/>
            <a:rect r="r" b="b" t="t" l="l"/>
            <a:pathLst>
              <a:path h="449579" w="1257562">
                <a:moveTo>
                  <a:pt x="1257562" y="0"/>
                </a:moveTo>
                <a:lnTo>
                  <a:pt x="0" y="0"/>
                </a:lnTo>
                <a:lnTo>
                  <a:pt x="0" y="449579"/>
                </a:lnTo>
                <a:lnTo>
                  <a:pt x="1257562" y="449579"/>
                </a:lnTo>
                <a:lnTo>
                  <a:pt x="1257562"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1" id="21"/>
          <p:cNvSpPr/>
          <p:nvPr/>
        </p:nvSpPr>
        <p:spPr>
          <a:xfrm flipH="false" flipV="false" rot="0">
            <a:off x="5562601" y="4389564"/>
            <a:ext cx="1103008" cy="394325"/>
          </a:xfrm>
          <a:custGeom>
            <a:avLst/>
            <a:gdLst/>
            <a:ahLst/>
            <a:cxnLst/>
            <a:rect r="r" b="b" t="t" l="l"/>
            <a:pathLst>
              <a:path h="394325" w="1103008">
                <a:moveTo>
                  <a:pt x="0" y="0"/>
                </a:moveTo>
                <a:lnTo>
                  <a:pt x="1103007" y="0"/>
                </a:lnTo>
                <a:lnTo>
                  <a:pt x="1103007" y="394325"/>
                </a:lnTo>
                <a:lnTo>
                  <a:pt x="0" y="3943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2" id="22"/>
          <p:cNvSpPr/>
          <p:nvPr/>
        </p:nvSpPr>
        <p:spPr>
          <a:xfrm flipH="false" flipV="false" rot="-10800000">
            <a:off x="5562601" y="4783889"/>
            <a:ext cx="1103008" cy="394325"/>
          </a:xfrm>
          <a:custGeom>
            <a:avLst/>
            <a:gdLst/>
            <a:ahLst/>
            <a:cxnLst/>
            <a:rect r="r" b="b" t="t" l="l"/>
            <a:pathLst>
              <a:path h="394325" w="1103008">
                <a:moveTo>
                  <a:pt x="0" y="0"/>
                </a:moveTo>
                <a:lnTo>
                  <a:pt x="1103007" y="0"/>
                </a:lnTo>
                <a:lnTo>
                  <a:pt x="1103007" y="394326"/>
                </a:lnTo>
                <a:lnTo>
                  <a:pt x="0" y="3943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3" id="23"/>
          <p:cNvSpPr/>
          <p:nvPr/>
        </p:nvSpPr>
        <p:spPr>
          <a:xfrm flipH="false" flipV="false" rot="0">
            <a:off x="3096138" y="4529560"/>
            <a:ext cx="245564" cy="289208"/>
          </a:xfrm>
          <a:custGeom>
            <a:avLst/>
            <a:gdLst/>
            <a:ahLst/>
            <a:cxnLst/>
            <a:rect r="r" b="b" t="t" l="l"/>
            <a:pathLst>
              <a:path h="289208" w="245564">
                <a:moveTo>
                  <a:pt x="0" y="0"/>
                </a:moveTo>
                <a:lnTo>
                  <a:pt x="245563" y="0"/>
                </a:lnTo>
                <a:lnTo>
                  <a:pt x="245563" y="289208"/>
                </a:lnTo>
                <a:lnTo>
                  <a:pt x="0" y="28920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4" id="24"/>
          <p:cNvSpPr/>
          <p:nvPr/>
        </p:nvSpPr>
        <p:spPr>
          <a:xfrm flipH="false" flipV="false" rot="0">
            <a:off x="3029105" y="4981052"/>
            <a:ext cx="379629" cy="289208"/>
          </a:xfrm>
          <a:custGeom>
            <a:avLst/>
            <a:gdLst/>
            <a:ahLst/>
            <a:cxnLst/>
            <a:rect r="r" b="b" t="t" l="l"/>
            <a:pathLst>
              <a:path h="289208" w="379629">
                <a:moveTo>
                  <a:pt x="0" y="0"/>
                </a:moveTo>
                <a:lnTo>
                  <a:pt x="379629" y="0"/>
                </a:lnTo>
                <a:lnTo>
                  <a:pt x="379629" y="289208"/>
                </a:lnTo>
                <a:lnTo>
                  <a:pt x="0" y="28920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5" id="25"/>
          <p:cNvSpPr/>
          <p:nvPr/>
        </p:nvSpPr>
        <p:spPr>
          <a:xfrm flipH="false" flipV="false" rot="0">
            <a:off x="3564451" y="7005223"/>
            <a:ext cx="1152610" cy="601978"/>
          </a:xfrm>
          <a:custGeom>
            <a:avLst/>
            <a:gdLst/>
            <a:ahLst/>
            <a:cxnLst/>
            <a:rect r="r" b="b" t="t" l="l"/>
            <a:pathLst>
              <a:path h="601978" w="1152610">
                <a:moveTo>
                  <a:pt x="0" y="0"/>
                </a:moveTo>
                <a:lnTo>
                  <a:pt x="1152611" y="0"/>
                </a:lnTo>
                <a:lnTo>
                  <a:pt x="1152611" y="601978"/>
                </a:lnTo>
                <a:lnTo>
                  <a:pt x="0" y="60197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6" id="26"/>
          <p:cNvSpPr/>
          <p:nvPr/>
        </p:nvSpPr>
        <p:spPr>
          <a:xfrm flipH="false" flipV="false" rot="0">
            <a:off x="7534693" y="4749387"/>
            <a:ext cx="421210" cy="463331"/>
          </a:xfrm>
          <a:custGeom>
            <a:avLst/>
            <a:gdLst/>
            <a:ahLst/>
            <a:cxnLst/>
            <a:rect r="r" b="b" t="t" l="l"/>
            <a:pathLst>
              <a:path h="463331" w="421210">
                <a:moveTo>
                  <a:pt x="0" y="0"/>
                </a:moveTo>
                <a:lnTo>
                  <a:pt x="421210" y="0"/>
                </a:lnTo>
                <a:lnTo>
                  <a:pt x="421210" y="463330"/>
                </a:lnTo>
                <a:lnTo>
                  <a:pt x="0" y="46333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27" id="27"/>
          <p:cNvGrpSpPr/>
          <p:nvPr/>
        </p:nvGrpSpPr>
        <p:grpSpPr>
          <a:xfrm rot="0">
            <a:off x="9997252" y="301658"/>
            <a:ext cx="7812517" cy="9683684"/>
            <a:chOff x="0" y="0"/>
            <a:chExt cx="10416689" cy="12911579"/>
          </a:xfrm>
        </p:grpSpPr>
        <p:sp>
          <p:nvSpPr>
            <p:cNvPr name="Freeform 28" id="28"/>
            <p:cNvSpPr/>
            <p:nvPr/>
          </p:nvSpPr>
          <p:spPr>
            <a:xfrm flipH="false" flipV="false" rot="0">
              <a:off x="3823438" y="1056764"/>
              <a:ext cx="1046487" cy="1046487"/>
            </a:xfrm>
            <a:custGeom>
              <a:avLst/>
              <a:gdLst/>
              <a:ahLst/>
              <a:cxnLst/>
              <a:rect r="r" b="b" t="t" l="l"/>
              <a:pathLst>
                <a:path h="1046487" w="1046487">
                  <a:moveTo>
                    <a:pt x="0" y="0"/>
                  </a:moveTo>
                  <a:lnTo>
                    <a:pt x="1046487" y="0"/>
                  </a:lnTo>
                  <a:lnTo>
                    <a:pt x="1046487" y="1046487"/>
                  </a:lnTo>
                  <a:lnTo>
                    <a:pt x="0" y="10464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3797581" y="3019819"/>
              <a:ext cx="1098201" cy="974169"/>
            </a:xfrm>
            <a:custGeom>
              <a:avLst/>
              <a:gdLst/>
              <a:ahLst/>
              <a:cxnLst/>
              <a:rect r="r" b="b" t="t" l="l"/>
              <a:pathLst>
                <a:path h="974169" w="1098201">
                  <a:moveTo>
                    <a:pt x="0" y="0"/>
                  </a:moveTo>
                  <a:lnTo>
                    <a:pt x="1098201" y="0"/>
                  </a:lnTo>
                  <a:lnTo>
                    <a:pt x="1098201" y="974169"/>
                  </a:lnTo>
                  <a:lnTo>
                    <a:pt x="0" y="9741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0" id="30"/>
            <p:cNvSpPr/>
            <p:nvPr/>
          </p:nvSpPr>
          <p:spPr>
            <a:xfrm flipH="false" flipV="false" rot="0">
              <a:off x="2626524" y="4908388"/>
              <a:ext cx="3440315" cy="2310590"/>
            </a:xfrm>
            <a:custGeom>
              <a:avLst/>
              <a:gdLst/>
              <a:ahLst/>
              <a:cxnLst/>
              <a:rect r="r" b="b" t="t" l="l"/>
              <a:pathLst>
                <a:path h="2310590" w="3440315">
                  <a:moveTo>
                    <a:pt x="0" y="0"/>
                  </a:moveTo>
                  <a:lnTo>
                    <a:pt x="3440315" y="0"/>
                  </a:lnTo>
                  <a:lnTo>
                    <a:pt x="3440315" y="2310590"/>
                  </a:lnTo>
                  <a:lnTo>
                    <a:pt x="0" y="231059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31" id="31"/>
            <p:cNvSpPr/>
            <p:nvPr/>
          </p:nvSpPr>
          <p:spPr>
            <a:xfrm flipH="false" flipV="false" rot="0">
              <a:off x="7937578" y="5231171"/>
              <a:ext cx="2479110" cy="1665024"/>
            </a:xfrm>
            <a:custGeom>
              <a:avLst/>
              <a:gdLst/>
              <a:ahLst/>
              <a:cxnLst/>
              <a:rect r="r" b="b" t="t" l="l"/>
              <a:pathLst>
                <a:path h="1665024" w="2479110">
                  <a:moveTo>
                    <a:pt x="0" y="0"/>
                  </a:moveTo>
                  <a:lnTo>
                    <a:pt x="2479111" y="0"/>
                  </a:lnTo>
                  <a:lnTo>
                    <a:pt x="2479111" y="1665024"/>
                  </a:lnTo>
                  <a:lnTo>
                    <a:pt x="0" y="16650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32" id="32"/>
            <p:cNvSpPr/>
            <p:nvPr/>
          </p:nvSpPr>
          <p:spPr>
            <a:xfrm flipH="false" flipV="false" rot="0">
              <a:off x="3033419" y="8133378"/>
              <a:ext cx="2626524" cy="1764030"/>
            </a:xfrm>
            <a:custGeom>
              <a:avLst/>
              <a:gdLst/>
              <a:ahLst/>
              <a:cxnLst/>
              <a:rect r="r" b="b" t="t" l="l"/>
              <a:pathLst>
                <a:path h="1764030" w="2626524">
                  <a:moveTo>
                    <a:pt x="0" y="0"/>
                  </a:moveTo>
                  <a:lnTo>
                    <a:pt x="2626524" y="0"/>
                  </a:lnTo>
                  <a:lnTo>
                    <a:pt x="2626524" y="1764030"/>
                  </a:lnTo>
                  <a:lnTo>
                    <a:pt x="0" y="176403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33" id="33"/>
            <p:cNvSpPr/>
            <p:nvPr/>
          </p:nvSpPr>
          <p:spPr>
            <a:xfrm flipH="false" flipV="false" rot="0">
              <a:off x="0" y="11147549"/>
              <a:ext cx="2626524" cy="1764030"/>
            </a:xfrm>
            <a:custGeom>
              <a:avLst/>
              <a:gdLst/>
              <a:ahLst/>
              <a:cxnLst/>
              <a:rect r="r" b="b" t="t" l="l"/>
              <a:pathLst>
                <a:path h="1764030" w="2626524">
                  <a:moveTo>
                    <a:pt x="0" y="0"/>
                  </a:moveTo>
                  <a:lnTo>
                    <a:pt x="2626524" y="0"/>
                  </a:lnTo>
                  <a:lnTo>
                    <a:pt x="2626524" y="1764030"/>
                  </a:lnTo>
                  <a:lnTo>
                    <a:pt x="0" y="17640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34" id="34"/>
            <p:cNvSpPr/>
            <p:nvPr/>
          </p:nvSpPr>
          <p:spPr>
            <a:xfrm flipH="false" flipV="false" rot="0">
              <a:off x="6066839" y="11147549"/>
              <a:ext cx="2626524" cy="1764030"/>
            </a:xfrm>
            <a:custGeom>
              <a:avLst/>
              <a:gdLst/>
              <a:ahLst/>
              <a:cxnLst/>
              <a:rect r="r" b="b" t="t" l="l"/>
              <a:pathLst>
                <a:path h="1764030" w="2626524">
                  <a:moveTo>
                    <a:pt x="0" y="0"/>
                  </a:moveTo>
                  <a:lnTo>
                    <a:pt x="2626524" y="0"/>
                  </a:lnTo>
                  <a:lnTo>
                    <a:pt x="2626524" y="1764030"/>
                  </a:lnTo>
                  <a:lnTo>
                    <a:pt x="0" y="176403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35" id="35"/>
            <p:cNvSpPr/>
            <p:nvPr/>
          </p:nvSpPr>
          <p:spPr>
            <a:xfrm flipH="false" flipV="false" rot="5400000">
              <a:off x="4050233" y="2393471"/>
              <a:ext cx="922797" cy="329900"/>
            </a:xfrm>
            <a:custGeom>
              <a:avLst/>
              <a:gdLst/>
              <a:ahLst/>
              <a:cxnLst/>
              <a:rect r="r" b="b" t="t" l="l"/>
              <a:pathLst>
                <a:path h="329900" w="922797">
                  <a:moveTo>
                    <a:pt x="0" y="0"/>
                  </a:moveTo>
                  <a:lnTo>
                    <a:pt x="922796" y="0"/>
                  </a:lnTo>
                  <a:lnTo>
                    <a:pt x="922796" y="329900"/>
                  </a:lnTo>
                  <a:lnTo>
                    <a:pt x="0" y="3299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6" id="36"/>
            <p:cNvSpPr/>
            <p:nvPr/>
          </p:nvSpPr>
          <p:spPr>
            <a:xfrm flipH="false" flipV="false" rot="5400000">
              <a:off x="4050233" y="4282040"/>
              <a:ext cx="922797" cy="329900"/>
            </a:xfrm>
            <a:custGeom>
              <a:avLst/>
              <a:gdLst/>
              <a:ahLst/>
              <a:cxnLst/>
              <a:rect r="r" b="b" t="t" l="l"/>
              <a:pathLst>
                <a:path h="329900" w="922797">
                  <a:moveTo>
                    <a:pt x="0" y="0"/>
                  </a:moveTo>
                  <a:lnTo>
                    <a:pt x="922796" y="0"/>
                  </a:lnTo>
                  <a:lnTo>
                    <a:pt x="922796" y="329899"/>
                  </a:lnTo>
                  <a:lnTo>
                    <a:pt x="0" y="32989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7" id="37"/>
            <p:cNvSpPr/>
            <p:nvPr/>
          </p:nvSpPr>
          <p:spPr>
            <a:xfrm flipH="false" flipV="false" rot="5400000">
              <a:off x="4050233" y="7515426"/>
              <a:ext cx="922797" cy="329900"/>
            </a:xfrm>
            <a:custGeom>
              <a:avLst/>
              <a:gdLst/>
              <a:ahLst/>
              <a:cxnLst/>
              <a:rect r="r" b="b" t="t" l="l"/>
              <a:pathLst>
                <a:path h="329900" w="922797">
                  <a:moveTo>
                    <a:pt x="0" y="0"/>
                  </a:moveTo>
                  <a:lnTo>
                    <a:pt x="922796" y="0"/>
                  </a:lnTo>
                  <a:lnTo>
                    <a:pt x="922796" y="329900"/>
                  </a:lnTo>
                  <a:lnTo>
                    <a:pt x="0" y="3299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8" id="38"/>
            <p:cNvSpPr/>
            <p:nvPr/>
          </p:nvSpPr>
          <p:spPr>
            <a:xfrm flipH="false" flipV="false" rot="2923317">
              <a:off x="5429202" y="10031737"/>
              <a:ext cx="1567625" cy="560426"/>
            </a:xfrm>
            <a:custGeom>
              <a:avLst/>
              <a:gdLst/>
              <a:ahLst/>
              <a:cxnLst/>
              <a:rect r="r" b="b" t="t" l="l"/>
              <a:pathLst>
                <a:path h="560426" w="1567625">
                  <a:moveTo>
                    <a:pt x="0" y="0"/>
                  </a:moveTo>
                  <a:lnTo>
                    <a:pt x="1567625" y="0"/>
                  </a:lnTo>
                  <a:lnTo>
                    <a:pt x="1567625" y="560426"/>
                  </a:lnTo>
                  <a:lnTo>
                    <a:pt x="0" y="5604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9" id="39"/>
            <p:cNvSpPr/>
            <p:nvPr/>
          </p:nvSpPr>
          <p:spPr>
            <a:xfrm flipH="true" flipV="false" rot="-2700000">
              <a:off x="1498833" y="10043076"/>
              <a:ext cx="1676750" cy="599438"/>
            </a:xfrm>
            <a:custGeom>
              <a:avLst/>
              <a:gdLst/>
              <a:ahLst/>
              <a:cxnLst/>
              <a:rect r="r" b="b" t="t" l="l"/>
              <a:pathLst>
                <a:path h="599438" w="1676750">
                  <a:moveTo>
                    <a:pt x="1676750" y="0"/>
                  </a:moveTo>
                  <a:lnTo>
                    <a:pt x="0" y="0"/>
                  </a:lnTo>
                  <a:lnTo>
                    <a:pt x="0" y="599438"/>
                  </a:lnTo>
                  <a:lnTo>
                    <a:pt x="1676750" y="599438"/>
                  </a:lnTo>
                  <a:lnTo>
                    <a:pt x="167675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0" id="40"/>
            <p:cNvSpPr/>
            <p:nvPr/>
          </p:nvSpPr>
          <p:spPr>
            <a:xfrm flipH="false" flipV="false" rot="0">
              <a:off x="6266870" y="5537916"/>
              <a:ext cx="1470677" cy="525767"/>
            </a:xfrm>
            <a:custGeom>
              <a:avLst/>
              <a:gdLst/>
              <a:ahLst/>
              <a:cxnLst/>
              <a:rect r="r" b="b" t="t" l="l"/>
              <a:pathLst>
                <a:path h="525767" w="1470677">
                  <a:moveTo>
                    <a:pt x="0" y="0"/>
                  </a:moveTo>
                  <a:lnTo>
                    <a:pt x="1470677" y="0"/>
                  </a:lnTo>
                  <a:lnTo>
                    <a:pt x="1470677" y="525767"/>
                  </a:lnTo>
                  <a:lnTo>
                    <a:pt x="0" y="52576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1" id="41"/>
            <p:cNvSpPr/>
            <p:nvPr/>
          </p:nvSpPr>
          <p:spPr>
            <a:xfrm flipH="false" flipV="false" rot="-10800000">
              <a:off x="6266870" y="6063683"/>
              <a:ext cx="1470677" cy="525767"/>
            </a:xfrm>
            <a:custGeom>
              <a:avLst/>
              <a:gdLst/>
              <a:ahLst/>
              <a:cxnLst/>
              <a:rect r="r" b="b" t="t" l="l"/>
              <a:pathLst>
                <a:path h="525767" w="1470677">
                  <a:moveTo>
                    <a:pt x="0" y="0"/>
                  </a:moveTo>
                  <a:lnTo>
                    <a:pt x="1470677" y="0"/>
                  </a:lnTo>
                  <a:lnTo>
                    <a:pt x="1470677" y="525767"/>
                  </a:lnTo>
                  <a:lnTo>
                    <a:pt x="0" y="52576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2" id="42"/>
            <p:cNvSpPr/>
            <p:nvPr/>
          </p:nvSpPr>
          <p:spPr>
            <a:xfrm flipH="false" flipV="false" rot="0">
              <a:off x="2801049" y="5557606"/>
              <a:ext cx="327418" cy="385611"/>
            </a:xfrm>
            <a:custGeom>
              <a:avLst/>
              <a:gdLst/>
              <a:ahLst/>
              <a:cxnLst/>
              <a:rect r="r" b="b" t="t" l="l"/>
              <a:pathLst>
                <a:path h="385611" w="327418">
                  <a:moveTo>
                    <a:pt x="0" y="0"/>
                  </a:moveTo>
                  <a:lnTo>
                    <a:pt x="327419" y="0"/>
                  </a:lnTo>
                  <a:lnTo>
                    <a:pt x="327419" y="385610"/>
                  </a:lnTo>
                  <a:lnTo>
                    <a:pt x="0" y="385610"/>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43" id="43"/>
            <p:cNvSpPr/>
            <p:nvPr/>
          </p:nvSpPr>
          <p:spPr>
            <a:xfrm flipH="false" flipV="false" rot="0">
              <a:off x="5444817" y="5557606"/>
              <a:ext cx="506171" cy="385611"/>
            </a:xfrm>
            <a:custGeom>
              <a:avLst/>
              <a:gdLst/>
              <a:ahLst/>
              <a:cxnLst/>
              <a:rect r="r" b="b" t="t" l="l"/>
              <a:pathLst>
                <a:path h="385611" w="506171">
                  <a:moveTo>
                    <a:pt x="0" y="0"/>
                  </a:moveTo>
                  <a:lnTo>
                    <a:pt x="506172" y="0"/>
                  </a:lnTo>
                  <a:lnTo>
                    <a:pt x="506172" y="385610"/>
                  </a:lnTo>
                  <a:lnTo>
                    <a:pt x="0" y="38561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44" id="44"/>
            <p:cNvSpPr/>
            <p:nvPr/>
          </p:nvSpPr>
          <p:spPr>
            <a:xfrm flipH="false" flipV="false" rot="0">
              <a:off x="2780213" y="6283407"/>
              <a:ext cx="369091" cy="433789"/>
            </a:xfrm>
            <a:custGeom>
              <a:avLst/>
              <a:gdLst/>
              <a:ahLst/>
              <a:cxnLst/>
              <a:rect r="r" b="b" t="t" l="l"/>
              <a:pathLst>
                <a:path h="433789" w="369091">
                  <a:moveTo>
                    <a:pt x="0" y="0"/>
                  </a:moveTo>
                  <a:lnTo>
                    <a:pt x="369091" y="0"/>
                  </a:lnTo>
                  <a:lnTo>
                    <a:pt x="369091" y="433789"/>
                  </a:lnTo>
                  <a:lnTo>
                    <a:pt x="0" y="43378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45" id="45"/>
            <p:cNvSpPr/>
            <p:nvPr/>
          </p:nvSpPr>
          <p:spPr>
            <a:xfrm flipH="false" flipV="false" rot="0">
              <a:off x="5548477" y="6290455"/>
              <a:ext cx="393193" cy="460119"/>
            </a:xfrm>
            <a:custGeom>
              <a:avLst/>
              <a:gdLst/>
              <a:ahLst/>
              <a:cxnLst/>
              <a:rect r="r" b="b" t="t" l="l"/>
              <a:pathLst>
                <a:path h="460119" w="393193">
                  <a:moveTo>
                    <a:pt x="0" y="0"/>
                  </a:moveTo>
                  <a:lnTo>
                    <a:pt x="393193" y="0"/>
                  </a:lnTo>
                  <a:lnTo>
                    <a:pt x="393193" y="460119"/>
                  </a:lnTo>
                  <a:lnTo>
                    <a:pt x="0" y="46011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46" id="46"/>
            <p:cNvSpPr/>
            <p:nvPr/>
          </p:nvSpPr>
          <p:spPr>
            <a:xfrm flipH="false" flipV="false" rot="0">
              <a:off x="3602671" y="9015393"/>
              <a:ext cx="1536814" cy="802637"/>
            </a:xfrm>
            <a:custGeom>
              <a:avLst/>
              <a:gdLst/>
              <a:ahLst/>
              <a:cxnLst/>
              <a:rect r="r" b="b" t="t" l="l"/>
              <a:pathLst>
                <a:path h="802637" w="1536814">
                  <a:moveTo>
                    <a:pt x="0" y="0"/>
                  </a:moveTo>
                  <a:lnTo>
                    <a:pt x="1536814" y="0"/>
                  </a:lnTo>
                  <a:lnTo>
                    <a:pt x="1536814" y="802637"/>
                  </a:lnTo>
                  <a:lnTo>
                    <a:pt x="0" y="80263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47" id="47"/>
            <p:cNvSpPr/>
            <p:nvPr/>
          </p:nvSpPr>
          <p:spPr>
            <a:xfrm flipH="false" flipV="false" rot="0">
              <a:off x="8896327" y="6017679"/>
              <a:ext cx="561613" cy="617774"/>
            </a:xfrm>
            <a:custGeom>
              <a:avLst/>
              <a:gdLst/>
              <a:ahLst/>
              <a:cxnLst/>
              <a:rect r="r" b="b" t="t" l="l"/>
              <a:pathLst>
                <a:path h="617774" w="561613">
                  <a:moveTo>
                    <a:pt x="0" y="0"/>
                  </a:moveTo>
                  <a:lnTo>
                    <a:pt x="561613" y="0"/>
                  </a:lnTo>
                  <a:lnTo>
                    <a:pt x="561613" y="617775"/>
                  </a:lnTo>
                  <a:lnTo>
                    <a:pt x="0" y="617775"/>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48" id="48"/>
            <p:cNvSpPr txBox="true"/>
            <p:nvPr/>
          </p:nvSpPr>
          <p:spPr>
            <a:xfrm rot="0">
              <a:off x="1644820" y="-9525"/>
              <a:ext cx="5733623" cy="675579"/>
            </a:xfrm>
            <a:prstGeom prst="rect">
              <a:avLst/>
            </a:prstGeom>
          </p:spPr>
          <p:txBody>
            <a:bodyPr anchor="t" rtlCol="false" tIns="0" lIns="0" bIns="0" rIns="0">
              <a:spAutoFit/>
            </a:bodyPr>
            <a:lstStyle/>
            <a:p>
              <a:pPr algn="l">
                <a:lnSpc>
                  <a:spcPts val="4151"/>
                </a:lnSpc>
              </a:pPr>
              <a:r>
                <a:rPr lang="en-US" sz="3299" u="sng">
                  <a:solidFill>
                    <a:srgbClr val="DAECFF"/>
                  </a:solidFill>
                  <a:latin typeface="Merriweather"/>
                  <a:ea typeface="Merriweather"/>
                  <a:cs typeface="Merriweather"/>
                  <a:sym typeface="Merriweather"/>
                </a:rPr>
                <a:t>High  Level Diagram</a:t>
              </a:r>
            </a:p>
          </p:txBody>
        </p:sp>
        <p:sp>
          <p:nvSpPr>
            <p:cNvPr name="TextBox 49" id="49"/>
            <p:cNvSpPr txBox="true"/>
            <p:nvPr/>
          </p:nvSpPr>
          <p:spPr>
            <a:xfrm rot="0">
              <a:off x="3403079" y="2409984"/>
              <a:ext cx="789004" cy="419335"/>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APIs</a:t>
              </a:r>
            </a:p>
          </p:txBody>
        </p:sp>
        <p:sp>
          <p:nvSpPr>
            <p:cNvPr name="TextBox 50" id="50"/>
            <p:cNvSpPr txBox="true"/>
            <p:nvPr/>
          </p:nvSpPr>
          <p:spPr>
            <a:xfrm rot="0">
              <a:off x="2874083" y="5122045"/>
              <a:ext cx="2993992" cy="218252"/>
            </a:xfrm>
            <a:prstGeom prst="rect">
              <a:avLst/>
            </a:prstGeom>
          </p:spPr>
          <p:txBody>
            <a:bodyPr anchor="t" rtlCol="false" tIns="0" lIns="0" bIns="0" rIns="0">
              <a:spAutoFit/>
            </a:bodyPr>
            <a:lstStyle/>
            <a:p>
              <a:pPr algn="l">
                <a:lnSpc>
                  <a:spcPts val="1381"/>
                </a:lnSpc>
              </a:pPr>
              <a:r>
                <a:rPr lang="en-US" sz="1100" u="sng">
                  <a:solidFill>
                    <a:srgbClr val="F5F0F0"/>
                  </a:solidFill>
                  <a:latin typeface="Merriweather"/>
                  <a:ea typeface="Merriweather"/>
                  <a:cs typeface="Merriweather"/>
                  <a:sym typeface="Merriweather"/>
                </a:rPr>
                <a:t>Transaction Analysis Services</a:t>
              </a:r>
            </a:p>
          </p:txBody>
        </p:sp>
        <p:sp>
          <p:nvSpPr>
            <p:cNvPr name="TextBox 51" id="51"/>
            <p:cNvSpPr txBox="true"/>
            <p:nvPr/>
          </p:nvSpPr>
          <p:spPr>
            <a:xfrm rot="0">
              <a:off x="3165721" y="5703903"/>
              <a:ext cx="2240996" cy="218252"/>
            </a:xfrm>
            <a:prstGeom prst="rect">
              <a:avLst/>
            </a:prstGeom>
          </p:spPr>
          <p:txBody>
            <a:bodyPr anchor="t" rtlCol="false" tIns="0" lIns="0" bIns="0" rIns="0">
              <a:spAutoFit/>
            </a:bodyPr>
            <a:lstStyle/>
            <a:p>
              <a:pPr algn="l">
                <a:lnSpc>
                  <a:spcPts val="1381"/>
                </a:lnSpc>
              </a:pPr>
              <a:r>
                <a:rPr lang="en-US" sz="1100">
                  <a:solidFill>
                    <a:srgbClr val="F5F0F0"/>
                  </a:solidFill>
                  <a:latin typeface="Merriweather"/>
                  <a:ea typeface="Merriweather"/>
                  <a:cs typeface="Merriweather"/>
                  <a:sym typeface="Merriweather"/>
                </a:rPr>
                <a:t>KYC  and Authentication</a:t>
              </a:r>
            </a:p>
          </p:txBody>
        </p:sp>
        <p:sp>
          <p:nvSpPr>
            <p:cNvPr name="TextBox 52" id="52"/>
            <p:cNvSpPr txBox="true"/>
            <p:nvPr/>
          </p:nvSpPr>
          <p:spPr>
            <a:xfrm rot="0">
              <a:off x="3175578" y="6326566"/>
              <a:ext cx="2269240" cy="446903"/>
            </a:xfrm>
            <a:prstGeom prst="rect">
              <a:avLst/>
            </a:prstGeom>
          </p:spPr>
          <p:txBody>
            <a:bodyPr anchor="t" rtlCol="false" tIns="0" lIns="0" bIns="0" rIns="0">
              <a:spAutoFit/>
            </a:bodyPr>
            <a:lstStyle/>
            <a:p>
              <a:pPr algn="l">
                <a:lnSpc>
                  <a:spcPts val="1380"/>
                </a:lnSpc>
              </a:pPr>
              <a:r>
                <a:rPr lang="en-US" sz="1100">
                  <a:solidFill>
                    <a:srgbClr val="F5F0F0"/>
                  </a:solidFill>
                  <a:latin typeface="Merriweather"/>
                  <a:ea typeface="Merriweather"/>
                  <a:cs typeface="Merriweather"/>
                  <a:sym typeface="Merriweather"/>
                </a:rPr>
                <a:t>Rules Engine &amp; </a:t>
              </a:r>
              <a:r>
                <a:rPr lang="en-US" sz="1100">
                  <a:solidFill>
                    <a:srgbClr val="F5F0F0"/>
                  </a:solidFill>
                  <a:latin typeface="Merriweather"/>
                  <a:ea typeface="Merriweather"/>
                  <a:cs typeface="Merriweather"/>
                  <a:sym typeface="Merriweather"/>
                </a:rPr>
                <a:t>Patterns </a:t>
              </a:r>
            </a:p>
            <a:p>
              <a:pPr algn="l">
                <a:lnSpc>
                  <a:spcPts val="1381"/>
                </a:lnSpc>
              </a:pPr>
              <a:r>
                <a:rPr lang="en-US" sz="1100">
                  <a:solidFill>
                    <a:srgbClr val="F5F0F0"/>
                  </a:solidFill>
                  <a:latin typeface="Merriweather"/>
                  <a:ea typeface="Merriweather"/>
                  <a:cs typeface="Merriweather"/>
                  <a:sym typeface="Merriweather"/>
                </a:rPr>
                <a:t>                   check</a:t>
              </a:r>
            </a:p>
          </p:txBody>
        </p:sp>
        <p:sp>
          <p:nvSpPr>
            <p:cNvPr name="TextBox 53" id="53"/>
            <p:cNvSpPr txBox="true"/>
            <p:nvPr/>
          </p:nvSpPr>
          <p:spPr>
            <a:xfrm rot="0">
              <a:off x="8283566" y="5619531"/>
              <a:ext cx="1787135" cy="252236"/>
            </a:xfrm>
            <a:prstGeom prst="rect">
              <a:avLst/>
            </a:prstGeom>
          </p:spPr>
          <p:txBody>
            <a:bodyPr anchor="t" rtlCol="false" tIns="0" lIns="0" bIns="0" rIns="0">
              <a:spAutoFit/>
            </a:bodyPr>
            <a:lstStyle/>
            <a:p>
              <a:pPr algn="l">
                <a:lnSpc>
                  <a:spcPts val="1506"/>
                </a:lnSpc>
              </a:pPr>
              <a:r>
                <a:rPr lang="en-US" sz="1200">
                  <a:solidFill>
                    <a:srgbClr val="F5F0F0"/>
                  </a:solidFill>
                  <a:latin typeface="Merriweather"/>
                  <a:ea typeface="Merriweather"/>
                  <a:cs typeface="Merriweather"/>
                  <a:sym typeface="Merriweather"/>
                </a:rPr>
                <a:t>Transaction Logs</a:t>
              </a:r>
            </a:p>
          </p:txBody>
        </p:sp>
        <p:sp>
          <p:nvSpPr>
            <p:cNvPr name="TextBox 54" id="54"/>
            <p:cNvSpPr txBox="true"/>
            <p:nvPr/>
          </p:nvSpPr>
          <p:spPr>
            <a:xfrm rot="0">
              <a:off x="3203821" y="8447703"/>
              <a:ext cx="2240996" cy="252236"/>
            </a:xfrm>
            <a:prstGeom prst="rect">
              <a:avLst/>
            </a:prstGeom>
          </p:spPr>
          <p:txBody>
            <a:bodyPr anchor="t" rtlCol="false" tIns="0" lIns="0" bIns="0" rIns="0">
              <a:spAutoFit/>
            </a:bodyPr>
            <a:lstStyle/>
            <a:p>
              <a:pPr algn="l">
                <a:lnSpc>
                  <a:spcPts val="1506"/>
                </a:lnSpc>
              </a:pPr>
              <a:r>
                <a:rPr lang="en-US" sz="1200">
                  <a:solidFill>
                    <a:srgbClr val="F5F0F0"/>
                  </a:solidFill>
                  <a:latin typeface="Merriweather"/>
                  <a:ea typeface="Merriweather"/>
                  <a:cs typeface="Merriweather"/>
                  <a:sym typeface="Merriweather"/>
                </a:rPr>
                <a:t>Decision Orchestrator</a:t>
              </a:r>
            </a:p>
          </p:txBody>
        </p:sp>
        <p:sp>
          <p:nvSpPr>
            <p:cNvPr name="TextBox 55" id="55"/>
            <p:cNvSpPr txBox="true"/>
            <p:nvPr/>
          </p:nvSpPr>
          <p:spPr>
            <a:xfrm rot="0">
              <a:off x="285599" y="11600821"/>
              <a:ext cx="2055326" cy="838435"/>
            </a:xfrm>
            <a:prstGeom prst="rect">
              <a:avLst/>
            </a:prstGeom>
          </p:spPr>
          <p:txBody>
            <a:bodyPr anchor="t" rtlCol="false" tIns="0" lIns="0" bIns="0" rIns="0">
              <a:spAutoFit/>
            </a:bodyPr>
            <a:lstStyle/>
            <a:p>
              <a:pPr algn="ctr">
                <a:lnSpc>
                  <a:spcPts val="2511"/>
                </a:lnSpc>
              </a:pPr>
              <a:r>
                <a:rPr lang="en-US" sz="2000">
                  <a:solidFill>
                    <a:srgbClr val="F5F0F0"/>
                  </a:solidFill>
                  <a:latin typeface="Merriweather"/>
                  <a:ea typeface="Merriweather"/>
                  <a:cs typeface="Merriweather"/>
                  <a:sym typeface="Merriweather"/>
                </a:rPr>
                <a:t>Transaction   Rejected </a:t>
              </a:r>
            </a:p>
          </p:txBody>
        </p:sp>
        <p:sp>
          <p:nvSpPr>
            <p:cNvPr name="TextBox 56" id="56"/>
            <p:cNvSpPr txBox="true"/>
            <p:nvPr/>
          </p:nvSpPr>
          <p:spPr>
            <a:xfrm rot="0">
              <a:off x="6404787" y="11600821"/>
              <a:ext cx="2055326" cy="838435"/>
            </a:xfrm>
            <a:prstGeom prst="rect">
              <a:avLst/>
            </a:prstGeom>
          </p:spPr>
          <p:txBody>
            <a:bodyPr anchor="t" rtlCol="false" tIns="0" lIns="0" bIns="0" rIns="0">
              <a:spAutoFit/>
            </a:bodyPr>
            <a:lstStyle/>
            <a:p>
              <a:pPr algn="ctr">
                <a:lnSpc>
                  <a:spcPts val="2511"/>
                </a:lnSpc>
              </a:pPr>
              <a:r>
                <a:rPr lang="en-US" sz="2000">
                  <a:solidFill>
                    <a:srgbClr val="FEFEFF"/>
                  </a:solidFill>
                  <a:latin typeface="Merriweather"/>
                  <a:ea typeface="Merriweather"/>
                  <a:cs typeface="Merriweather"/>
                  <a:sym typeface="Merriweather"/>
                </a:rPr>
                <a:t>Transaction   Successful</a:t>
              </a:r>
            </a:p>
          </p:txBody>
        </p:sp>
      </p:grpSp>
      <p:sp>
        <p:nvSpPr>
          <p:cNvPr name="Freeform 57" id="57"/>
          <p:cNvSpPr/>
          <p:nvPr/>
        </p:nvSpPr>
        <p:spPr>
          <a:xfrm flipH="false" flipV="false" rot="0">
            <a:off x="3096138" y="5432185"/>
            <a:ext cx="273020" cy="268552"/>
          </a:xfrm>
          <a:custGeom>
            <a:avLst/>
            <a:gdLst/>
            <a:ahLst/>
            <a:cxnLst/>
            <a:rect r="r" b="b" t="t" l="l"/>
            <a:pathLst>
              <a:path h="268552" w="273020">
                <a:moveTo>
                  <a:pt x="0" y="0"/>
                </a:moveTo>
                <a:lnTo>
                  <a:pt x="273020" y="0"/>
                </a:lnTo>
                <a:lnTo>
                  <a:pt x="273020" y="268552"/>
                </a:lnTo>
                <a:lnTo>
                  <a:pt x="0" y="268552"/>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58" id="58"/>
          <p:cNvSpPr txBox="true"/>
          <p:nvPr/>
        </p:nvSpPr>
        <p:spPr>
          <a:xfrm rot="0">
            <a:off x="2096063" y="226602"/>
            <a:ext cx="4300217" cy="509065"/>
          </a:xfrm>
          <a:prstGeom prst="rect">
            <a:avLst/>
          </a:prstGeom>
        </p:spPr>
        <p:txBody>
          <a:bodyPr anchor="t" rtlCol="false" tIns="0" lIns="0" bIns="0" rIns="0">
            <a:spAutoFit/>
          </a:bodyPr>
          <a:lstStyle/>
          <a:p>
            <a:pPr algn="l">
              <a:lnSpc>
                <a:spcPts val="4151"/>
              </a:lnSpc>
            </a:pPr>
            <a:r>
              <a:rPr lang="en-US" sz="3299" u="sng">
                <a:solidFill>
                  <a:srgbClr val="DAECFF"/>
                </a:solidFill>
                <a:latin typeface="Merriweather"/>
                <a:ea typeface="Merriweather"/>
                <a:cs typeface="Merriweather"/>
                <a:sym typeface="Merriweather"/>
              </a:rPr>
              <a:t>High  Level Diagram</a:t>
            </a:r>
          </a:p>
        </p:txBody>
      </p:sp>
      <p:sp>
        <p:nvSpPr>
          <p:cNvPr name="TextBox 59" id="59"/>
          <p:cNvSpPr txBox="true"/>
          <p:nvPr/>
        </p:nvSpPr>
        <p:spPr>
          <a:xfrm rot="0">
            <a:off x="4616866" y="1094813"/>
            <a:ext cx="3639839"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User Initiate Transaction</a:t>
            </a:r>
          </a:p>
        </p:txBody>
      </p:sp>
      <p:sp>
        <p:nvSpPr>
          <p:cNvPr name="TextBox 60" id="60"/>
          <p:cNvSpPr txBox="true"/>
          <p:nvPr/>
        </p:nvSpPr>
        <p:spPr>
          <a:xfrm rot="0">
            <a:off x="3414757" y="2038853"/>
            <a:ext cx="591753"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APIs</a:t>
            </a:r>
          </a:p>
        </p:txBody>
      </p:sp>
      <p:sp>
        <p:nvSpPr>
          <p:cNvPr name="TextBox 61" id="61"/>
          <p:cNvSpPr txBox="true"/>
          <p:nvPr/>
        </p:nvSpPr>
        <p:spPr>
          <a:xfrm rot="0">
            <a:off x="3546539" y="4132979"/>
            <a:ext cx="1337746" cy="335178"/>
          </a:xfrm>
          <a:prstGeom prst="rect">
            <a:avLst/>
          </a:prstGeom>
        </p:spPr>
        <p:txBody>
          <a:bodyPr anchor="t" rtlCol="false" tIns="0" lIns="0" bIns="0" rIns="0">
            <a:spAutoFit/>
          </a:bodyPr>
          <a:lstStyle/>
          <a:p>
            <a:pPr algn="ctr">
              <a:lnSpc>
                <a:spcPts val="1380"/>
              </a:lnSpc>
            </a:pPr>
            <a:r>
              <a:rPr lang="en-US" sz="1100">
                <a:solidFill>
                  <a:srgbClr val="F5F0F0"/>
                </a:solidFill>
                <a:latin typeface="Merriweather"/>
                <a:ea typeface="Merriweather"/>
                <a:cs typeface="Merriweather"/>
                <a:sym typeface="Merriweather"/>
              </a:rPr>
              <a:t>Manual Review &amp; </a:t>
            </a:r>
          </a:p>
          <a:p>
            <a:pPr algn="ctr">
              <a:lnSpc>
                <a:spcPts val="1381"/>
              </a:lnSpc>
            </a:pPr>
            <a:r>
              <a:rPr lang="en-US" sz="1100">
                <a:solidFill>
                  <a:srgbClr val="F5F0F0"/>
                </a:solidFill>
                <a:latin typeface="Merriweather"/>
                <a:ea typeface="Merriweather"/>
                <a:cs typeface="Merriweather"/>
                <a:sym typeface="Merriweather"/>
              </a:rPr>
              <a:t>Rule Based System</a:t>
            </a:r>
          </a:p>
        </p:txBody>
      </p:sp>
      <p:sp>
        <p:nvSpPr>
          <p:cNvPr name="TextBox 62" id="62"/>
          <p:cNvSpPr txBox="true"/>
          <p:nvPr/>
        </p:nvSpPr>
        <p:spPr>
          <a:xfrm rot="0">
            <a:off x="3440085" y="4529812"/>
            <a:ext cx="2015262" cy="288957"/>
          </a:xfrm>
          <a:prstGeom prst="rect">
            <a:avLst/>
          </a:prstGeom>
        </p:spPr>
        <p:txBody>
          <a:bodyPr anchor="t" rtlCol="false" tIns="0" lIns="0" bIns="0" rIns="0">
            <a:spAutoFit/>
          </a:bodyPr>
          <a:lstStyle/>
          <a:p>
            <a:pPr algn="l">
              <a:lnSpc>
                <a:spcPts val="1129"/>
              </a:lnSpc>
            </a:pPr>
            <a:r>
              <a:rPr lang="en-US" sz="900" u="sng">
                <a:solidFill>
                  <a:srgbClr val="F5F0F0"/>
                </a:solidFill>
                <a:latin typeface="Merriweather"/>
                <a:ea typeface="Merriweather"/>
                <a:cs typeface="Merriweather"/>
                <a:sym typeface="Merriweather"/>
              </a:rPr>
              <a:t>Static Rule Engine: </a:t>
            </a:r>
          </a:p>
          <a:p>
            <a:pPr algn="l">
              <a:lnSpc>
                <a:spcPts val="1130"/>
              </a:lnSpc>
            </a:pPr>
            <a:r>
              <a:rPr lang="en-US" sz="900">
                <a:solidFill>
                  <a:srgbClr val="F5F0F0"/>
                </a:solidFill>
                <a:latin typeface="Merriweather"/>
                <a:ea typeface="Merriweather"/>
                <a:cs typeface="Merriweather"/>
                <a:sym typeface="Merriweather"/>
              </a:rPr>
              <a:t>checks for predefined rules</a:t>
            </a:r>
          </a:p>
        </p:txBody>
      </p:sp>
      <p:sp>
        <p:nvSpPr>
          <p:cNvPr name="TextBox 63" id="63"/>
          <p:cNvSpPr txBox="true"/>
          <p:nvPr/>
        </p:nvSpPr>
        <p:spPr>
          <a:xfrm rot="0">
            <a:off x="3440085" y="4962952"/>
            <a:ext cx="1701930" cy="307308"/>
          </a:xfrm>
          <a:prstGeom prst="rect">
            <a:avLst/>
          </a:prstGeom>
        </p:spPr>
        <p:txBody>
          <a:bodyPr anchor="t" rtlCol="false" tIns="0" lIns="0" bIns="0" rIns="0">
            <a:spAutoFit/>
          </a:bodyPr>
          <a:lstStyle/>
          <a:p>
            <a:pPr algn="l">
              <a:lnSpc>
                <a:spcPts val="1380"/>
              </a:lnSpc>
            </a:pPr>
            <a:r>
              <a:rPr lang="en-US" sz="1100" u="sng">
                <a:solidFill>
                  <a:srgbClr val="F5F0F0"/>
                </a:solidFill>
                <a:latin typeface="Merriweather"/>
                <a:ea typeface="Merriweather"/>
                <a:cs typeface="Merriweather"/>
                <a:sym typeface="Merriweather"/>
              </a:rPr>
              <a:t>Human Analyst:</a:t>
            </a:r>
          </a:p>
          <a:p>
            <a:pPr algn="l">
              <a:lnSpc>
                <a:spcPts val="1130"/>
              </a:lnSpc>
            </a:pPr>
            <a:r>
              <a:rPr lang="en-US" sz="900">
                <a:solidFill>
                  <a:srgbClr val="F5F0F0"/>
                </a:solidFill>
                <a:latin typeface="Merriweather"/>
                <a:ea typeface="Merriweather"/>
                <a:cs typeface="Merriweather"/>
                <a:sym typeface="Merriweather"/>
              </a:rPr>
              <a:t>Held for manual review</a:t>
            </a:r>
          </a:p>
        </p:txBody>
      </p:sp>
      <p:sp>
        <p:nvSpPr>
          <p:cNvPr name="TextBox 64" id="64"/>
          <p:cNvSpPr txBox="true"/>
          <p:nvPr/>
        </p:nvSpPr>
        <p:spPr>
          <a:xfrm rot="0">
            <a:off x="7075122" y="4448394"/>
            <a:ext cx="1340352" cy="191558"/>
          </a:xfrm>
          <a:prstGeom prst="rect">
            <a:avLst/>
          </a:prstGeom>
        </p:spPr>
        <p:txBody>
          <a:bodyPr anchor="t" rtlCol="false" tIns="0" lIns="0" bIns="0" rIns="0">
            <a:spAutoFit/>
          </a:bodyPr>
          <a:lstStyle/>
          <a:p>
            <a:pPr algn="l">
              <a:lnSpc>
                <a:spcPts val="1506"/>
              </a:lnSpc>
            </a:pPr>
            <a:r>
              <a:rPr lang="en-US" sz="1200">
                <a:solidFill>
                  <a:srgbClr val="F5F0F0"/>
                </a:solidFill>
                <a:latin typeface="Merriweather"/>
                <a:ea typeface="Merriweather"/>
                <a:cs typeface="Merriweather"/>
                <a:sym typeface="Merriweather"/>
              </a:rPr>
              <a:t>Transaction Logs</a:t>
            </a:r>
          </a:p>
        </p:txBody>
      </p:sp>
      <p:sp>
        <p:nvSpPr>
          <p:cNvPr name="TextBox 65" id="65"/>
          <p:cNvSpPr txBox="true"/>
          <p:nvPr/>
        </p:nvSpPr>
        <p:spPr>
          <a:xfrm rot="0">
            <a:off x="3440085" y="6727577"/>
            <a:ext cx="1401343" cy="154869"/>
          </a:xfrm>
          <a:prstGeom prst="rect">
            <a:avLst/>
          </a:prstGeom>
        </p:spPr>
        <p:txBody>
          <a:bodyPr anchor="t" rtlCol="false" tIns="0" lIns="0" bIns="0" rIns="0">
            <a:spAutoFit/>
          </a:bodyPr>
          <a:lstStyle/>
          <a:p>
            <a:pPr algn="l">
              <a:lnSpc>
                <a:spcPts val="1255"/>
              </a:lnSpc>
            </a:pPr>
            <a:r>
              <a:rPr lang="en-US" sz="1000">
                <a:solidFill>
                  <a:srgbClr val="F5F0F0"/>
                </a:solidFill>
                <a:latin typeface="Merriweather"/>
                <a:ea typeface="Merriweather"/>
                <a:cs typeface="Merriweather"/>
                <a:sym typeface="Merriweather"/>
              </a:rPr>
              <a:t>Decision Orchestrator</a:t>
            </a:r>
          </a:p>
        </p:txBody>
      </p:sp>
      <p:sp>
        <p:nvSpPr>
          <p:cNvPr name="TextBox 66" id="66"/>
          <p:cNvSpPr txBox="true"/>
          <p:nvPr/>
        </p:nvSpPr>
        <p:spPr>
          <a:xfrm rot="0">
            <a:off x="1076647" y="8931981"/>
            <a:ext cx="1541494" cy="633659"/>
          </a:xfrm>
          <a:prstGeom prst="rect">
            <a:avLst/>
          </a:prstGeom>
        </p:spPr>
        <p:txBody>
          <a:bodyPr anchor="t" rtlCol="false" tIns="0" lIns="0" bIns="0" rIns="0">
            <a:spAutoFit/>
          </a:bodyPr>
          <a:lstStyle/>
          <a:p>
            <a:pPr algn="ctr">
              <a:lnSpc>
                <a:spcPts val="2510"/>
              </a:lnSpc>
            </a:pPr>
            <a:r>
              <a:rPr lang="en-US" sz="2000">
                <a:solidFill>
                  <a:srgbClr val="F5F0F0"/>
                </a:solidFill>
                <a:latin typeface="Merriweather"/>
                <a:ea typeface="Merriweather"/>
                <a:cs typeface="Merriweather"/>
                <a:sym typeface="Merriweather"/>
              </a:rPr>
              <a:t>Potential </a:t>
            </a:r>
          </a:p>
          <a:p>
            <a:pPr algn="ctr">
              <a:lnSpc>
                <a:spcPts val="2511"/>
              </a:lnSpc>
            </a:pPr>
            <a:r>
              <a:rPr lang="en-US" sz="2000">
                <a:solidFill>
                  <a:srgbClr val="F5F0F0"/>
                </a:solidFill>
                <a:latin typeface="Merriweather"/>
                <a:ea typeface="Merriweather"/>
                <a:cs typeface="Merriweather"/>
                <a:sym typeface="Merriweather"/>
              </a:rPr>
              <a:t>Fraud</a:t>
            </a:r>
          </a:p>
        </p:txBody>
      </p:sp>
      <p:sp>
        <p:nvSpPr>
          <p:cNvPr name="TextBox 67" id="67"/>
          <p:cNvSpPr txBox="true"/>
          <p:nvPr/>
        </p:nvSpPr>
        <p:spPr>
          <a:xfrm rot="0">
            <a:off x="5666038" y="8931981"/>
            <a:ext cx="1541494" cy="633589"/>
          </a:xfrm>
          <a:prstGeom prst="rect">
            <a:avLst/>
          </a:prstGeom>
        </p:spPr>
        <p:txBody>
          <a:bodyPr anchor="t" rtlCol="false" tIns="0" lIns="0" bIns="0" rIns="0">
            <a:spAutoFit/>
          </a:bodyPr>
          <a:lstStyle/>
          <a:p>
            <a:pPr algn="ctr">
              <a:lnSpc>
                <a:spcPts val="2511"/>
              </a:lnSpc>
            </a:pPr>
            <a:r>
              <a:rPr lang="en-US" sz="2000">
                <a:solidFill>
                  <a:srgbClr val="FEFEFF"/>
                </a:solidFill>
                <a:latin typeface="Merriweather"/>
                <a:ea typeface="Merriweather"/>
                <a:cs typeface="Merriweather"/>
                <a:sym typeface="Merriweather"/>
              </a:rPr>
              <a:t>Transaction   Successful</a:t>
            </a:r>
          </a:p>
        </p:txBody>
      </p:sp>
      <p:sp>
        <p:nvSpPr>
          <p:cNvPr name="TextBox 68" id="68"/>
          <p:cNvSpPr txBox="true"/>
          <p:nvPr/>
        </p:nvSpPr>
        <p:spPr>
          <a:xfrm rot="0">
            <a:off x="4616866" y="2766841"/>
            <a:ext cx="1684011"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Bank System</a:t>
            </a:r>
          </a:p>
        </p:txBody>
      </p:sp>
      <p:sp>
        <p:nvSpPr>
          <p:cNvPr name="TextBox 69" id="69"/>
          <p:cNvSpPr txBox="true"/>
          <p:nvPr/>
        </p:nvSpPr>
        <p:spPr>
          <a:xfrm rot="0">
            <a:off x="13855004" y="2766841"/>
            <a:ext cx="1684011"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Bank System</a:t>
            </a:r>
          </a:p>
        </p:txBody>
      </p:sp>
      <p:sp>
        <p:nvSpPr>
          <p:cNvPr name="TextBox 70" id="70"/>
          <p:cNvSpPr txBox="true"/>
          <p:nvPr/>
        </p:nvSpPr>
        <p:spPr>
          <a:xfrm rot="0">
            <a:off x="13874054" y="1094813"/>
            <a:ext cx="3639839" cy="319264"/>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User Initiate Transaction</a:t>
            </a:r>
          </a:p>
        </p:txBody>
      </p:sp>
      <p:sp>
        <p:nvSpPr>
          <p:cNvPr name="TextBox 71" id="71"/>
          <p:cNvSpPr txBox="true"/>
          <p:nvPr/>
        </p:nvSpPr>
        <p:spPr>
          <a:xfrm rot="0">
            <a:off x="3440085" y="5391827"/>
            <a:ext cx="2015262" cy="307308"/>
          </a:xfrm>
          <a:prstGeom prst="rect">
            <a:avLst/>
          </a:prstGeom>
        </p:spPr>
        <p:txBody>
          <a:bodyPr anchor="t" rtlCol="false" tIns="0" lIns="0" bIns="0" rIns="0">
            <a:spAutoFit/>
          </a:bodyPr>
          <a:lstStyle/>
          <a:p>
            <a:pPr algn="l">
              <a:lnSpc>
                <a:spcPts val="1380"/>
              </a:lnSpc>
            </a:pPr>
            <a:r>
              <a:rPr lang="en-US" sz="1100" u="sng">
                <a:solidFill>
                  <a:srgbClr val="F5F0F0"/>
                </a:solidFill>
                <a:latin typeface="Merriweather"/>
                <a:ea typeface="Merriweather"/>
                <a:cs typeface="Merriweather"/>
                <a:sym typeface="Merriweather"/>
              </a:rPr>
              <a:t>Customer Call Verification:</a:t>
            </a:r>
          </a:p>
          <a:p>
            <a:pPr algn="l">
              <a:lnSpc>
                <a:spcPts val="1130"/>
              </a:lnSpc>
            </a:pPr>
            <a:r>
              <a:rPr lang="en-US" sz="900">
                <a:solidFill>
                  <a:srgbClr val="F5F0F0"/>
                </a:solidFill>
                <a:latin typeface="Merriweather"/>
                <a:ea typeface="Merriweather"/>
                <a:cs typeface="Merriweather"/>
                <a:sym typeface="Merriweather"/>
              </a:rPr>
              <a:t>C</a:t>
            </a:r>
            <a:r>
              <a:rPr lang="en-US" sz="900">
                <a:solidFill>
                  <a:srgbClr val="F5F0F0"/>
                </a:solidFill>
                <a:latin typeface="Merriweather"/>
                <a:ea typeface="Merriweather"/>
                <a:cs typeface="Merriweather"/>
                <a:sym typeface="Merriweather"/>
              </a:rPr>
              <a:t>ontact customer for conformation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2216" y="0"/>
            <a:ext cx="18288000" cy="10689274"/>
            <a:chOff x="0" y="0"/>
            <a:chExt cx="24384000" cy="14252365"/>
          </a:xfrm>
        </p:grpSpPr>
        <p:sp>
          <p:nvSpPr>
            <p:cNvPr name="Freeform 5" id="5"/>
            <p:cNvSpPr/>
            <p:nvPr/>
          </p:nvSpPr>
          <p:spPr>
            <a:xfrm flipH="false" flipV="false" rot="0">
              <a:off x="0" y="0"/>
              <a:ext cx="24384000" cy="14252366"/>
            </a:xfrm>
            <a:custGeom>
              <a:avLst/>
              <a:gdLst/>
              <a:ahLst/>
              <a:cxnLst/>
              <a:rect r="r" b="b" t="t" l="l"/>
              <a:pathLst>
                <a:path h="14252366" w="24384000">
                  <a:moveTo>
                    <a:pt x="0" y="0"/>
                  </a:moveTo>
                  <a:lnTo>
                    <a:pt x="24384000" y="0"/>
                  </a:lnTo>
                  <a:lnTo>
                    <a:pt x="24384000" y="14252366"/>
                  </a:lnTo>
                  <a:lnTo>
                    <a:pt x="0" y="14252366"/>
                  </a:lnTo>
                  <a:close/>
                </a:path>
              </a:pathLst>
            </a:custGeom>
            <a:solidFill>
              <a:srgbClr val="09151A">
                <a:alpha val="68235"/>
              </a:srgbClr>
            </a:solidFill>
          </p:spPr>
        </p:sp>
      </p:grpSp>
      <p:grpSp>
        <p:nvGrpSpPr>
          <p:cNvPr name="Group 6" id="6"/>
          <p:cNvGrpSpPr/>
          <p:nvPr/>
        </p:nvGrpSpPr>
        <p:grpSpPr>
          <a:xfrm rot="0">
            <a:off x="9141784" y="828904"/>
            <a:ext cx="103120" cy="8614559"/>
            <a:chOff x="0" y="0"/>
            <a:chExt cx="34224" cy="2859045"/>
          </a:xfrm>
        </p:grpSpPr>
        <p:sp>
          <p:nvSpPr>
            <p:cNvPr name="Freeform 7" id="7"/>
            <p:cNvSpPr/>
            <p:nvPr/>
          </p:nvSpPr>
          <p:spPr>
            <a:xfrm flipH="false" flipV="false" rot="0">
              <a:off x="0" y="0"/>
              <a:ext cx="34224" cy="2858992"/>
            </a:xfrm>
            <a:custGeom>
              <a:avLst/>
              <a:gdLst/>
              <a:ahLst/>
              <a:cxnLst/>
              <a:rect r="r" b="b" t="t" l="l"/>
              <a:pathLst>
                <a:path h="2858992" w="34224">
                  <a:moveTo>
                    <a:pt x="0" y="73002"/>
                  </a:moveTo>
                  <a:cubicBezTo>
                    <a:pt x="0" y="32729"/>
                    <a:pt x="7672" y="0"/>
                    <a:pt x="17112" y="0"/>
                  </a:cubicBezTo>
                  <a:cubicBezTo>
                    <a:pt x="26552" y="0"/>
                    <a:pt x="34224" y="32729"/>
                    <a:pt x="34224" y="73002"/>
                  </a:cubicBezTo>
                  <a:lnTo>
                    <a:pt x="34224" y="2785990"/>
                  </a:lnTo>
                  <a:cubicBezTo>
                    <a:pt x="34224" y="2826263"/>
                    <a:pt x="26552" y="2858992"/>
                    <a:pt x="17112" y="2858992"/>
                  </a:cubicBezTo>
                  <a:cubicBezTo>
                    <a:pt x="7672" y="2858992"/>
                    <a:pt x="0" y="2826263"/>
                    <a:pt x="0" y="2785990"/>
                  </a:cubicBezTo>
                  <a:close/>
                </a:path>
              </a:pathLst>
            </a:custGeom>
            <a:solidFill>
              <a:srgbClr val="0000FF"/>
            </a:solidFill>
          </p:spPr>
        </p:sp>
      </p:grpSp>
      <p:sp>
        <p:nvSpPr>
          <p:cNvPr name="Freeform 8" id="8"/>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3"/>
            <a:stretch>
              <a:fillRect l="0" t="0" r="0" b="0"/>
            </a:stretch>
          </a:blipFill>
        </p:spPr>
      </p:sp>
      <p:grpSp>
        <p:nvGrpSpPr>
          <p:cNvPr name="Group 9" id="9"/>
          <p:cNvGrpSpPr/>
          <p:nvPr/>
        </p:nvGrpSpPr>
        <p:grpSpPr>
          <a:xfrm rot="0">
            <a:off x="789119" y="301658"/>
            <a:ext cx="7812517" cy="9683684"/>
            <a:chOff x="0" y="0"/>
            <a:chExt cx="10416689" cy="12911579"/>
          </a:xfrm>
        </p:grpSpPr>
        <p:sp>
          <p:nvSpPr>
            <p:cNvPr name="Freeform 10" id="10"/>
            <p:cNvSpPr/>
            <p:nvPr/>
          </p:nvSpPr>
          <p:spPr>
            <a:xfrm flipH="false" flipV="false" rot="0">
              <a:off x="3823438" y="1056764"/>
              <a:ext cx="1046487" cy="1046487"/>
            </a:xfrm>
            <a:custGeom>
              <a:avLst/>
              <a:gdLst/>
              <a:ahLst/>
              <a:cxnLst/>
              <a:rect r="r" b="b" t="t" l="l"/>
              <a:pathLst>
                <a:path h="1046487" w="1046487">
                  <a:moveTo>
                    <a:pt x="0" y="0"/>
                  </a:moveTo>
                  <a:lnTo>
                    <a:pt x="1046487" y="0"/>
                  </a:lnTo>
                  <a:lnTo>
                    <a:pt x="1046487" y="1046487"/>
                  </a:lnTo>
                  <a:lnTo>
                    <a:pt x="0" y="10464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3797581" y="3019819"/>
              <a:ext cx="1098201" cy="974169"/>
            </a:xfrm>
            <a:custGeom>
              <a:avLst/>
              <a:gdLst/>
              <a:ahLst/>
              <a:cxnLst/>
              <a:rect r="r" b="b" t="t" l="l"/>
              <a:pathLst>
                <a:path h="974169" w="1098201">
                  <a:moveTo>
                    <a:pt x="0" y="0"/>
                  </a:moveTo>
                  <a:lnTo>
                    <a:pt x="1098201" y="0"/>
                  </a:lnTo>
                  <a:lnTo>
                    <a:pt x="1098201" y="974169"/>
                  </a:lnTo>
                  <a:lnTo>
                    <a:pt x="0" y="9741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2626524" y="4908388"/>
              <a:ext cx="3440315" cy="2310590"/>
            </a:xfrm>
            <a:custGeom>
              <a:avLst/>
              <a:gdLst/>
              <a:ahLst/>
              <a:cxnLst/>
              <a:rect r="r" b="b" t="t" l="l"/>
              <a:pathLst>
                <a:path h="2310590" w="3440315">
                  <a:moveTo>
                    <a:pt x="0" y="0"/>
                  </a:moveTo>
                  <a:lnTo>
                    <a:pt x="3440315" y="0"/>
                  </a:lnTo>
                  <a:lnTo>
                    <a:pt x="3440315" y="2310590"/>
                  </a:lnTo>
                  <a:lnTo>
                    <a:pt x="0" y="23105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3" id="13"/>
            <p:cNvSpPr/>
            <p:nvPr/>
          </p:nvSpPr>
          <p:spPr>
            <a:xfrm flipH="false" flipV="false" rot="0">
              <a:off x="7937578" y="5231171"/>
              <a:ext cx="2479110" cy="1665024"/>
            </a:xfrm>
            <a:custGeom>
              <a:avLst/>
              <a:gdLst/>
              <a:ahLst/>
              <a:cxnLst/>
              <a:rect r="r" b="b" t="t" l="l"/>
              <a:pathLst>
                <a:path h="1665024" w="2479110">
                  <a:moveTo>
                    <a:pt x="0" y="0"/>
                  </a:moveTo>
                  <a:lnTo>
                    <a:pt x="2479111" y="0"/>
                  </a:lnTo>
                  <a:lnTo>
                    <a:pt x="2479111" y="1665024"/>
                  </a:lnTo>
                  <a:lnTo>
                    <a:pt x="0" y="16650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4" id="14"/>
            <p:cNvSpPr/>
            <p:nvPr/>
          </p:nvSpPr>
          <p:spPr>
            <a:xfrm flipH="false" flipV="false" rot="0">
              <a:off x="3033419" y="8133378"/>
              <a:ext cx="2626524" cy="1764030"/>
            </a:xfrm>
            <a:custGeom>
              <a:avLst/>
              <a:gdLst/>
              <a:ahLst/>
              <a:cxnLst/>
              <a:rect r="r" b="b" t="t" l="l"/>
              <a:pathLst>
                <a:path h="1764030" w="2626524">
                  <a:moveTo>
                    <a:pt x="0" y="0"/>
                  </a:moveTo>
                  <a:lnTo>
                    <a:pt x="2626524" y="0"/>
                  </a:lnTo>
                  <a:lnTo>
                    <a:pt x="2626524" y="1764030"/>
                  </a:lnTo>
                  <a:lnTo>
                    <a:pt x="0" y="17640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0">
              <a:off x="0" y="11147549"/>
              <a:ext cx="2626524" cy="1764030"/>
            </a:xfrm>
            <a:custGeom>
              <a:avLst/>
              <a:gdLst/>
              <a:ahLst/>
              <a:cxnLst/>
              <a:rect r="r" b="b" t="t" l="l"/>
              <a:pathLst>
                <a:path h="1764030" w="2626524">
                  <a:moveTo>
                    <a:pt x="0" y="0"/>
                  </a:moveTo>
                  <a:lnTo>
                    <a:pt x="2626524" y="0"/>
                  </a:lnTo>
                  <a:lnTo>
                    <a:pt x="2626524" y="1764030"/>
                  </a:lnTo>
                  <a:lnTo>
                    <a:pt x="0" y="17640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6" id="16"/>
            <p:cNvSpPr/>
            <p:nvPr/>
          </p:nvSpPr>
          <p:spPr>
            <a:xfrm flipH="false" flipV="false" rot="0">
              <a:off x="6066839" y="11147549"/>
              <a:ext cx="2626524" cy="1764030"/>
            </a:xfrm>
            <a:custGeom>
              <a:avLst/>
              <a:gdLst/>
              <a:ahLst/>
              <a:cxnLst/>
              <a:rect r="r" b="b" t="t" l="l"/>
              <a:pathLst>
                <a:path h="1764030" w="2626524">
                  <a:moveTo>
                    <a:pt x="0" y="0"/>
                  </a:moveTo>
                  <a:lnTo>
                    <a:pt x="2626524" y="0"/>
                  </a:lnTo>
                  <a:lnTo>
                    <a:pt x="2626524" y="1764030"/>
                  </a:lnTo>
                  <a:lnTo>
                    <a:pt x="0" y="17640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7" id="17"/>
            <p:cNvSpPr/>
            <p:nvPr/>
          </p:nvSpPr>
          <p:spPr>
            <a:xfrm flipH="false" flipV="false" rot="5400000">
              <a:off x="4050233" y="2393471"/>
              <a:ext cx="922797" cy="329900"/>
            </a:xfrm>
            <a:custGeom>
              <a:avLst/>
              <a:gdLst/>
              <a:ahLst/>
              <a:cxnLst/>
              <a:rect r="r" b="b" t="t" l="l"/>
              <a:pathLst>
                <a:path h="329900" w="922797">
                  <a:moveTo>
                    <a:pt x="0" y="0"/>
                  </a:moveTo>
                  <a:lnTo>
                    <a:pt x="922796" y="0"/>
                  </a:lnTo>
                  <a:lnTo>
                    <a:pt x="922796" y="329900"/>
                  </a:lnTo>
                  <a:lnTo>
                    <a:pt x="0" y="3299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false" flipV="false" rot="5400000">
              <a:off x="4050233" y="4282040"/>
              <a:ext cx="922797" cy="329900"/>
            </a:xfrm>
            <a:custGeom>
              <a:avLst/>
              <a:gdLst/>
              <a:ahLst/>
              <a:cxnLst/>
              <a:rect r="r" b="b" t="t" l="l"/>
              <a:pathLst>
                <a:path h="329900" w="922797">
                  <a:moveTo>
                    <a:pt x="0" y="0"/>
                  </a:moveTo>
                  <a:lnTo>
                    <a:pt x="922796" y="0"/>
                  </a:lnTo>
                  <a:lnTo>
                    <a:pt x="922796" y="329899"/>
                  </a:lnTo>
                  <a:lnTo>
                    <a:pt x="0" y="3298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5400000">
              <a:off x="4050233" y="7515426"/>
              <a:ext cx="922797" cy="329900"/>
            </a:xfrm>
            <a:custGeom>
              <a:avLst/>
              <a:gdLst/>
              <a:ahLst/>
              <a:cxnLst/>
              <a:rect r="r" b="b" t="t" l="l"/>
              <a:pathLst>
                <a:path h="329900" w="922797">
                  <a:moveTo>
                    <a:pt x="0" y="0"/>
                  </a:moveTo>
                  <a:lnTo>
                    <a:pt x="922796" y="0"/>
                  </a:lnTo>
                  <a:lnTo>
                    <a:pt x="922796" y="329900"/>
                  </a:lnTo>
                  <a:lnTo>
                    <a:pt x="0" y="3299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false" rot="2923317">
              <a:off x="5429202" y="10031737"/>
              <a:ext cx="1567625" cy="560426"/>
            </a:xfrm>
            <a:custGeom>
              <a:avLst/>
              <a:gdLst/>
              <a:ahLst/>
              <a:cxnLst/>
              <a:rect r="r" b="b" t="t" l="l"/>
              <a:pathLst>
                <a:path h="560426" w="1567625">
                  <a:moveTo>
                    <a:pt x="0" y="0"/>
                  </a:moveTo>
                  <a:lnTo>
                    <a:pt x="1567625" y="0"/>
                  </a:lnTo>
                  <a:lnTo>
                    <a:pt x="1567625" y="560426"/>
                  </a:lnTo>
                  <a:lnTo>
                    <a:pt x="0" y="56042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1" id="21"/>
            <p:cNvSpPr/>
            <p:nvPr/>
          </p:nvSpPr>
          <p:spPr>
            <a:xfrm flipH="true" flipV="false" rot="-2700000">
              <a:off x="1498833" y="10043076"/>
              <a:ext cx="1676750" cy="599438"/>
            </a:xfrm>
            <a:custGeom>
              <a:avLst/>
              <a:gdLst/>
              <a:ahLst/>
              <a:cxnLst/>
              <a:rect r="r" b="b" t="t" l="l"/>
              <a:pathLst>
                <a:path h="599438" w="1676750">
                  <a:moveTo>
                    <a:pt x="1676750" y="0"/>
                  </a:moveTo>
                  <a:lnTo>
                    <a:pt x="0" y="0"/>
                  </a:lnTo>
                  <a:lnTo>
                    <a:pt x="0" y="599438"/>
                  </a:lnTo>
                  <a:lnTo>
                    <a:pt x="1676750" y="599438"/>
                  </a:lnTo>
                  <a:lnTo>
                    <a:pt x="167675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false" flipV="false" rot="0">
              <a:off x="6266870" y="5537916"/>
              <a:ext cx="1470677" cy="525767"/>
            </a:xfrm>
            <a:custGeom>
              <a:avLst/>
              <a:gdLst/>
              <a:ahLst/>
              <a:cxnLst/>
              <a:rect r="r" b="b" t="t" l="l"/>
              <a:pathLst>
                <a:path h="525767" w="1470677">
                  <a:moveTo>
                    <a:pt x="0" y="0"/>
                  </a:moveTo>
                  <a:lnTo>
                    <a:pt x="1470677" y="0"/>
                  </a:lnTo>
                  <a:lnTo>
                    <a:pt x="1470677" y="525767"/>
                  </a:lnTo>
                  <a:lnTo>
                    <a:pt x="0" y="52576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p:cNvSpPr/>
            <p:nvPr/>
          </p:nvSpPr>
          <p:spPr>
            <a:xfrm flipH="false" flipV="false" rot="-10800000">
              <a:off x="6266870" y="6063683"/>
              <a:ext cx="1470677" cy="525767"/>
            </a:xfrm>
            <a:custGeom>
              <a:avLst/>
              <a:gdLst/>
              <a:ahLst/>
              <a:cxnLst/>
              <a:rect r="r" b="b" t="t" l="l"/>
              <a:pathLst>
                <a:path h="525767" w="1470677">
                  <a:moveTo>
                    <a:pt x="0" y="0"/>
                  </a:moveTo>
                  <a:lnTo>
                    <a:pt x="1470677" y="0"/>
                  </a:lnTo>
                  <a:lnTo>
                    <a:pt x="1470677" y="525767"/>
                  </a:lnTo>
                  <a:lnTo>
                    <a:pt x="0" y="52576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4" id="24"/>
            <p:cNvSpPr/>
            <p:nvPr/>
          </p:nvSpPr>
          <p:spPr>
            <a:xfrm flipH="false" flipV="false" rot="0">
              <a:off x="2801049" y="5557606"/>
              <a:ext cx="327418" cy="385611"/>
            </a:xfrm>
            <a:custGeom>
              <a:avLst/>
              <a:gdLst/>
              <a:ahLst/>
              <a:cxnLst/>
              <a:rect r="r" b="b" t="t" l="l"/>
              <a:pathLst>
                <a:path h="385611" w="327418">
                  <a:moveTo>
                    <a:pt x="0" y="0"/>
                  </a:moveTo>
                  <a:lnTo>
                    <a:pt x="327419" y="0"/>
                  </a:lnTo>
                  <a:lnTo>
                    <a:pt x="327419" y="385610"/>
                  </a:lnTo>
                  <a:lnTo>
                    <a:pt x="0" y="38561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5" id="25"/>
            <p:cNvSpPr/>
            <p:nvPr/>
          </p:nvSpPr>
          <p:spPr>
            <a:xfrm flipH="false" flipV="false" rot="0">
              <a:off x="5444817" y="5557606"/>
              <a:ext cx="506171" cy="385611"/>
            </a:xfrm>
            <a:custGeom>
              <a:avLst/>
              <a:gdLst/>
              <a:ahLst/>
              <a:cxnLst/>
              <a:rect r="r" b="b" t="t" l="l"/>
              <a:pathLst>
                <a:path h="385611" w="506171">
                  <a:moveTo>
                    <a:pt x="0" y="0"/>
                  </a:moveTo>
                  <a:lnTo>
                    <a:pt x="506172" y="0"/>
                  </a:lnTo>
                  <a:lnTo>
                    <a:pt x="506172" y="385610"/>
                  </a:lnTo>
                  <a:lnTo>
                    <a:pt x="0" y="38561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6" id="26"/>
            <p:cNvSpPr/>
            <p:nvPr/>
          </p:nvSpPr>
          <p:spPr>
            <a:xfrm flipH="false" flipV="false" rot="0">
              <a:off x="2780213" y="6283407"/>
              <a:ext cx="369091" cy="433789"/>
            </a:xfrm>
            <a:custGeom>
              <a:avLst/>
              <a:gdLst/>
              <a:ahLst/>
              <a:cxnLst/>
              <a:rect r="r" b="b" t="t" l="l"/>
              <a:pathLst>
                <a:path h="433789" w="369091">
                  <a:moveTo>
                    <a:pt x="0" y="0"/>
                  </a:moveTo>
                  <a:lnTo>
                    <a:pt x="369091" y="0"/>
                  </a:lnTo>
                  <a:lnTo>
                    <a:pt x="369091" y="433789"/>
                  </a:lnTo>
                  <a:lnTo>
                    <a:pt x="0" y="43378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7" id="27"/>
            <p:cNvSpPr/>
            <p:nvPr/>
          </p:nvSpPr>
          <p:spPr>
            <a:xfrm flipH="false" flipV="false" rot="0">
              <a:off x="5548477" y="6290455"/>
              <a:ext cx="393193" cy="460119"/>
            </a:xfrm>
            <a:custGeom>
              <a:avLst/>
              <a:gdLst/>
              <a:ahLst/>
              <a:cxnLst/>
              <a:rect r="r" b="b" t="t" l="l"/>
              <a:pathLst>
                <a:path h="460119" w="393193">
                  <a:moveTo>
                    <a:pt x="0" y="0"/>
                  </a:moveTo>
                  <a:lnTo>
                    <a:pt x="393193" y="0"/>
                  </a:lnTo>
                  <a:lnTo>
                    <a:pt x="393193" y="460119"/>
                  </a:lnTo>
                  <a:lnTo>
                    <a:pt x="0" y="46011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8" id="28"/>
            <p:cNvSpPr/>
            <p:nvPr/>
          </p:nvSpPr>
          <p:spPr>
            <a:xfrm flipH="false" flipV="false" rot="0">
              <a:off x="3602671" y="9015393"/>
              <a:ext cx="1536814" cy="802637"/>
            </a:xfrm>
            <a:custGeom>
              <a:avLst/>
              <a:gdLst/>
              <a:ahLst/>
              <a:cxnLst/>
              <a:rect r="r" b="b" t="t" l="l"/>
              <a:pathLst>
                <a:path h="802637" w="1536814">
                  <a:moveTo>
                    <a:pt x="0" y="0"/>
                  </a:moveTo>
                  <a:lnTo>
                    <a:pt x="1536814" y="0"/>
                  </a:lnTo>
                  <a:lnTo>
                    <a:pt x="1536814" y="802637"/>
                  </a:lnTo>
                  <a:lnTo>
                    <a:pt x="0" y="802637"/>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9" id="29"/>
            <p:cNvSpPr/>
            <p:nvPr/>
          </p:nvSpPr>
          <p:spPr>
            <a:xfrm flipH="false" flipV="false" rot="0">
              <a:off x="8896327" y="6017679"/>
              <a:ext cx="561613" cy="617774"/>
            </a:xfrm>
            <a:custGeom>
              <a:avLst/>
              <a:gdLst/>
              <a:ahLst/>
              <a:cxnLst/>
              <a:rect r="r" b="b" t="t" l="l"/>
              <a:pathLst>
                <a:path h="617774" w="561613">
                  <a:moveTo>
                    <a:pt x="0" y="0"/>
                  </a:moveTo>
                  <a:lnTo>
                    <a:pt x="561613" y="0"/>
                  </a:lnTo>
                  <a:lnTo>
                    <a:pt x="561613" y="617775"/>
                  </a:lnTo>
                  <a:lnTo>
                    <a:pt x="0" y="61777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30" id="30"/>
            <p:cNvSpPr txBox="true"/>
            <p:nvPr/>
          </p:nvSpPr>
          <p:spPr>
            <a:xfrm rot="0">
              <a:off x="1644820" y="-9525"/>
              <a:ext cx="5733623" cy="675579"/>
            </a:xfrm>
            <a:prstGeom prst="rect">
              <a:avLst/>
            </a:prstGeom>
          </p:spPr>
          <p:txBody>
            <a:bodyPr anchor="t" rtlCol="false" tIns="0" lIns="0" bIns="0" rIns="0">
              <a:spAutoFit/>
            </a:bodyPr>
            <a:lstStyle/>
            <a:p>
              <a:pPr algn="l">
                <a:lnSpc>
                  <a:spcPts val="4151"/>
                </a:lnSpc>
              </a:pPr>
              <a:r>
                <a:rPr lang="en-US" sz="3299" u="sng">
                  <a:solidFill>
                    <a:srgbClr val="DAECFF"/>
                  </a:solidFill>
                  <a:latin typeface="Merriweather"/>
                  <a:ea typeface="Merriweather"/>
                  <a:cs typeface="Merriweather"/>
                  <a:sym typeface="Merriweather"/>
                </a:rPr>
                <a:t>High  Level Diagram</a:t>
              </a:r>
            </a:p>
          </p:txBody>
        </p:sp>
        <p:sp>
          <p:nvSpPr>
            <p:cNvPr name="TextBox 31" id="31"/>
            <p:cNvSpPr txBox="true"/>
            <p:nvPr/>
          </p:nvSpPr>
          <p:spPr>
            <a:xfrm rot="0">
              <a:off x="3403079" y="2409984"/>
              <a:ext cx="789004" cy="419335"/>
            </a:xfrm>
            <a:prstGeom prst="rect">
              <a:avLst/>
            </a:prstGeom>
          </p:spPr>
          <p:txBody>
            <a:bodyPr anchor="t" rtlCol="false" tIns="0" lIns="0" bIns="0" rIns="0">
              <a:spAutoFit/>
            </a:bodyPr>
            <a:lstStyle/>
            <a:p>
              <a:pPr algn="l">
                <a:lnSpc>
                  <a:spcPts val="2511"/>
                </a:lnSpc>
              </a:pPr>
              <a:r>
                <a:rPr lang="en-US" sz="2000">
                  <a:solidFill>
                    <a:srgbClr val="F5F0F0"/>
                  </a:solidFill>
                  <a:latin typeface="Merriweather"/>
                  <a:ea typeface="Merriweather"/>
                  <a:cs typeface="Merriweather"/>
                  <a:sym typeface="Merriweather"/>
                </a:rPr>
                <a:t>APIs</a:t>
              </a:r>
            </a:p>
          </p:txBody>
        </p:sp>
        <p:sp>
          <p:nvSpPr>
            <p:cNvPr name="TextBox 32" id="32"/>
            <p:cNvSpPr txBox="true"/>
            <p:nvPr/>
          </p:nvSpPr>
          <p:spPr>
            <a:xfrm rot="0">
              <a:off x="2874083" y="5122045"/>
              <a:ext cx="2993992" cy="218252"/>
            </a:xfrm>
            <a:prstGeom prst="rect">
              <a:avLst/>
            </a:prstGeom>
          </p:spPr>
          <p:txBody>
            <a:bodyPr anchor="t" rtlCol="false" tIns="0" lIns="0" bIns="0" rIns="0">
              <a:spAutoFit/>
            </a:bodyPr>
            <a:lstStyle/>
            <a:p>
              <a:pPr algn="l">
                <a:lnSpc>
                  <a:spcPts val="1381"/>
                </a:lnSpc>
              </a:pPr>
              <a:r>
                <a:rPr lang="en-US" sz="1100" u="sng">
                  <a:solidFill>
                    <a:srgbClr val="F5F0F0"/>
                  </a:solidFill>
                  <a:latin typeface="Merriweather"/>
                  <a:ea typeface="Merriweather"/>
                  <a:cs typeface="Merriweather"/>
                  <a:sym typeface="Merriweather"/>
                </a:rPr>
                <a:t>Transaction Analysis Services</a:t>
              </a:r>
            </a:p>
          </p:txBody>
        </p:sp>
        <p:sp>
          <p:nvSpPr>
            <p:cNvPr name="TextBox 33" id="33"/>
            <p:cNvSpPr txBox="true"/>
            <p:nvPr/>
          </p:nvSpPr>
          <p:spPr>
            <a:xfrm rot="0">
              <a:off x="3165721" y="5703903"/>
              <a:ext cx="2240996" cy="218252"/>
            </a:xfrm>
            <a:prstGeom prst="rect">
              <a:avLst/>
            </a:prstGeom>
          </p:spPr>
          <p:txBody>
            <a:bodyPr anchor="t" rtlCol="false" tIns="0" lIns="0" bIns="0" rIns="0">
              <a:spAutoFit/>
            </a:bodyPr>
            <a:lstStyle/>
            <a:p>
              <a:pPr algn="l">
                <a:lnSpc>
                  <a:spcPts val="1381"/>
                </a:lnSpc>
              </a:pPr>
              <a:r>
                <a:rPr lang="en-US" sz="1100">
                  <a:solidFill>
                    <a:srgbClr val="F5F0F0"/>
                  </a:solidFill>
                  <a:latin typeface="Merriweather"/>
                  <a:ea typeface="Merriweather"/>
                  <a:cs typeface="Merriweather"/>
                  <a:sym typeface="Merriweather"/>
                </a:rPr>
                <a:t>KYC  and Authentication</a:t>
              </a:r>
            </a:p>
          </p:txBody>
        </p:sp>
        <p:sp>
          <p:nvSpPr>
            <p:cNvPr name="TextBox 34" id="34"/>
            <p:cNvSpPr txBox="true"/>
            <p:nvPr/>
          </p:nvSpPr>
          <p:spPr>
            <a:xfrm rot="0">
              <a:off x="3175578" y="6326566"/>
              <a:ext cx="2269240" cy="446903"/>
            </a:xfrm>
            <a:prstGeom prst="rect">
              <a:avLst/>
            </a:prstGeom>
          </p:spPr>
          <p:txBody>
            <a:bodyPr anchor="t" rtlCol="false" tIns="0" lIns="0" bIns="0" rIns="0">
              <a:spAutoFit/>
            </a:bodyPr>
            <a:lstStyle/>
            <a:p>
              <a:pPr algn="l">
                <a:lnSpc>
                  <a:spcPts val="1380"/>
                </a:lnSpc>
              </a:pPr>
              <a:r>
                <a:rPr lang="en-US" sz="1100">
                  <a:solidFill>
                    <a:srgbClr val="F5F0F0"/>
                  </a:solidFill>
                  <a:latin typeface="Merriweather"/>
                  <a:ea typeface="Merriweather"/>
                  <a:cs typeface="Merriweather"/>
                  <a:sym typeface="Merriweather"/>
                </a:rPr>
                <a:t>Rules Engine &amp; </a:t>
              </a:r>
              <a:r>
                <a:rPr lang="en-US" sz="1100">
                  <a:solidFill>
                    <a:srgbClr val="F5F0F0"/>
                  </a:solidFill>
                  <a:latin typeface="Merriweather"/>
                  <a:ea typeface="Merriweather"/>
                  <a:cs typeface="Merriweather"/>
                  <a:sym typeface="Merriweather"/>
                </a:rPr>
                <a:t>Patterns </a:t>
              </a:r>
            </a:p>
            <a:p>
              <a:pPr algn="l">
                <a:lnSpc>
                  <a:spcPts val="1381"/>
                </a:lnSpc>
              </a:pPr>
              <a:r>
                <a:rPr lang="en-US" sz="1100">
                  <a:solidFill>
                    <a:srgbClr val="F5F0F0"/>
                  </a:solidFill>
                  <a:latin typeface="Merriweather"/>
                  <a:ea typeface="Merriweather"/>
                  <a:cs typeface="Merriweather"/>
                  <a:sym typeface="Merriweather"/>
                </a:rPr>
                <a:t>                   check</a:t>
              </a:r>
            </a:p>
          </p:txBody>
        </p:sp>
        <p:sp>
          <p:nvSpPr>
            <p:cNvPr name="TextBox 35" id="35"/>
            <p:cNvSpPr txBox="true"/>
            <p:nvPr/>
          </p:nvSpPr>
          <p:spPr>
            <a:xfrm rot="0">
              <a:off x="8283566" y="5619531"/>
              <a:ext cx="1787135" cy="252236"/>
            </a:xfrm>
            <a:prstGeom prst="rect">
              <a:avLst/>
            </a:prstGeom>
          </p:spPr>
          <p:txBody>
            <a:bodyPr anchor="t" rtlCol="false" tIns="0" lIns="0" bIns="0" rIns="0">
              <a:spAutoFit/>
            </a:bodyPr>
            <a:lstStyle/>
            <a:p>
              <a:pPr algn="l">
                <a:lnSpc>
                  <a:spcPts val="1506"/>
                </a:lnSpc>
              </a:pPr>
              <a:r>
                <a:rPr lang="en-US" sz="1200">
                  <a:solidFill>
                    <a:srgbClr val="F5F0F0"/>
                  </a:solidFill>
                  <a:latin typeface="Merriweather"/>
                  <a:ea typeface="Merriweather"/>
                  <a:cs typeface="Merriweather"/>
                  <a:sym typeface="Merriweather"/>
                </a:rPr>
                <a:t>Transaction Logs</a:t>
              </a:r>
            </a:p>
          </p:txBody>
        </p:sp>
        <p:sp>
          <p:nvSpPr>
            <p:cNvPr name="TextBox 36" id="36"/>
            <p:cNvSpPr txBox="true"/>
            <p:nvPr/>
          </p:nvSpPr>
          <p:spPr>
            <a:xfrm rot="0">
              <a:off x="3203821" y="8447703"/>
              <a:ext cx="2240996" cy="252236"/>
            </a:xfrm>
            <a:prstGeom prst="rect">
              <a:avLst/>
            </a:prstGeom>
          </p:spPr>
          <p:txBody>
            <a:bodyPr anchor="t" rtlCol="false" tIns="0" lIns="0" bIns="0" rIns="0">
              <a:spAutoFit/>
            </a:bodyPr>
            <a:lstStyle/>
            <a:p>
              <a:pPr algn="l">
                <a:lnSpc>
                  <a:spcPts val="1506"/>
                </a:lnSpc>
              </a:pPr>
              <a:r>
                <a:rPr lang="en-US" sz="1200">
                  <a:solidFill>
                    <a:srgbClr val="F5F0F0"/>
                  </a:solidFill>
                  <a:latin typeface="Merriweather"/>
                  <a:ea typeface="Merriweather"/>
                  <a:cs typeface="Merriweather"/>
                  <a:sym typeface="Merriweather"/>
                </a:rPr>
                <a:t>Decision Orchestrator</a:t>
              </a:r>
            </a:p>
          </p:txBody>
        </p:sp>
        <p:sp>
          <p:nvSpPr>
            <p:cNvPr name="TextBox 37" id="37"/>
            <p:cNvSpPr txBox="true"/>
            <p:nvPr/>
          </p:nvSpPr>
          <p:spPr>
            <a:xfrm rot="0">
              <a:off x="285599" y="11600821"/>
              <a:ext cx="2055326" cy="838435"/>
            </a:xfrm>
            <a:prstGeom prst="rect">
              <a:avLst/>
            </a:prstGeom>
          </p:spPr>
          <p:txBody>
            <a:bodyPr anchor="t" rtlCol="false" tIns="0" lIns="0" bIns="0" rIns="0">
              <a:spAutoFit/>
            </a:bodyPr>
            <a:lstStyle/>
            <a:p>
              <a:pPr algn="ctr">
                <a:lnSpc>
                  <a:spcPts val="2511"/>
                </a:lnSpc>
              </a:pPr>
              <a:r>
                <a:rPr lang="en-US" sz="2000">
                  <a:solidFill>
                    <a:srgbClr val="F5F0F0"/>
                  </a:solidFill>
                  <a:latin typeface="Merriweather"/>
                  <a:ea typeface="Merriweather"/>
                  <a:cs typeface="Merriweather"/>
                  <a:sym typeface="Merriweather"/>
                </a:rPr>
                <a:t>Transaction   Rejected </a:t>
              </a:r>
            </a:p>
          </p:txBody>
        </p:sp>
        <p:sp>
          <p:nvSpPr>
            <p:cNvPr name="TextBox 38" id="38"/>
            <p:cNvSpPr txBox="true"/>
            <p:nvPr/>
          </p:nvSpPr>
          <p:spPr>
            <a:xfrm rot="0">
              <a:off x="6404787" y="11600821"/>
              <a:ext cx="2055326" cy="838435"/>
            </a:xfrm>
            <a:prstGeom prst="rect">
              <a:avLst/>
            </a:prstGeom>
          </p:spPr>
          <p:txBody>
            <a:bodyPr anchor="t" rtlCol="false" tIns="0" lIns="0" bIns="0" rIns="0">
              <a:spAutoFit/>
            </a:bodyPr>
            <a:lstStyle/>
            <a:p>
              <a:pPr algn="ctr">
                <a:lnSpc>
                  <a:spcPts val="2511"/>
                </a:lnSpc>
              </a:pPr>
              <a:r>
                <a:rPr lang="en-US" sz="2000">
                  <a:solidFill>
                    <a:srgbClr val="FEFEFF"/>
                  </a:solidFill>
                  <a:latin typeface="Merriweather"/>
                  <a:ea typeface="Merriweather"/>
                  <a:cs typeface="Merriweather"/>
                  <a:sym typeface="Merriweather"/>
                </a:rPr>
                <a:t>Transaction   Successful</a:t>
              </a:r>
            </a:p>
          </p:txBody>
        </p:sp>
      </p:grpSp>
      <p:sp>
        <p:nvSpPr>
          <p:cNvPr name="Freeform 39" id="39"/>
          <p:cNvSpPr/>
          <p:nvPr/>
        </p:nvSpPr>
        <p:spPr>
          <a:xfrm flipH="false" flipV="false" rot="0">
            <a:off x="10788619" y="1307013"/>
            <a:ext cx="6052088" cy="7672975"/>
          </a:xfrm>
          <a:custGeom>
            <a:avLst/>
            <a:gdLst/>
            <a:ahLst/>
            <a:cxnLst/>
            <a:rect r="r" b="b" t="t" l="l"/>
            <a:pathLst>
              <a:path h="7672975" w="6052088">
                <a:moveTo>
                  <a:pt x="0" y="0"/>
                </a:moveTo>
                <a:lnTo>
                  <a:pt x="6052088" y="0"/>
                </a:lnTo>
                <a:lnTo>
                  <a:pt x="6052088" y="7672974"/>
                </a:lnTo>
                <a:lnTo>
                  <a:pt x="0" y="7672974"/>
                </a:lnTo>
                <a:lnTo>
                  <a:pt x="0" y="0"/>
                </a:lnTo>
                <a:close/>
              </a:path>
            </a:pathLst>
          </a:custGeom>
          <a:blipFill>
            <a:blip r:embed="rId28"/>
            <a:stretch>
              <a:fillRect l="0" t="0" r="0" b="0"/>
            </a:stretch>
          </a:blipFill>
        </p:spPr>
      </p:sp>
      <p:sp>
        <p:nvSpPr>
          <p:cNvPr name="TextBox 40" id="40"/>
          <p:cNvSpPr txBox="true"/>
          <p:nvPr/>
        </p:nvSpPr>
        <p:spPr>
          <a:xfrm rot="0">
            <a:off x="12428607" y="528422"/>
            <a:ext cx="2772112" cy="500278"/>
          </a:xfrm>
          <a:prstGeom prst="rect">
            <a:avLst/>
          </a:prstGeom>
        </p:spPr>
        <p:txBody>
          <a:bodyPr anchor="t" rtlCol="false" tIns="0" lIns="0" bIns="0" rIns="0">
            <a:spAutoFit/>
          </a:bodyPr>
          <a:lstStyle/>
          <a:p>
            <a:pPr algn="l">
              <a:lnSpc>
                <a:spcPts val="4025"/>
              </a:lnSpc>
            </a:pPr>
            <a:r>
              <a:rPr lang="en-US" sz="3199" u="sng">
                <a:solidFill>
                  <a:srgbClr val="DAECFF"/>
                </a:solidFill>
                <a:latin typeface="Merriweather"/>
                <a:ea typeface="Merriweather"/>
                <a:cs typeface="Merriweather"/>
                <a:sym typeface="Merriweather"/>
              </a:rPr>
              <a:t>Code Snippet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80000"/>
              </a:srgbClr>
            </a:solidFill>
          </p:spPr>
        </p:sp>
      </p:grpSp>
      <p:sp>
        <p:nvSpPr>
          <p:cNvPr name="TextBox 6" id="6"/>
          <p:cNvSpPr txBox="true"/>
          <p:nvPr/>
        </p:nvSpPr>
        <p:spPr>
          <a:xfrm rot="0">
            <a:off x="3220615" y="4621344"/>
            <a:ext cx="11846770" cy="1720587"/>
          </a:xfrm>
          <a:prstGeom prst="rect">
            <a:avLst/>
          </a:prstGeom>
        </p:spPr>
        <p:txBody>
          <a:bodyPr anchor="t" rtlCol="false" tIns="0" lIns="0" bIns="0" rIns="0">
            <a:spAutoFit/>
          </a:bodyPr>
          <a:lstStyle/>
          <a:p>
            <a:pPr algn="ctr">
              <a:lnSpc>
                <a:spcPts val="8671"/>
              </a:lnSpc>
            </a:pPr>
            <a:r>
              <a:rPr lang="en-US" sz="15766" i="true" spc="-788">
                <a:solidFill>
                  <a:srgbClr val="FEFEFF"/>
                </a:solidFill>
                <a:latin typeface="Times New Roman MT Condensed Italics"/>
                <a:ea typeface="Times New Roman MT Condensed Italics"/>
                <a:cs typeface="Times New Roman MT Condensed Italics"/>
                <a:sym typeface="Times New Roman MT Condensed Italics"/>
              </a:rPr>
              <a:t>Q &amp; A</a:t>
            </a:r>
          </a:p>
        </p:txBody>
      </p:sp>
      <p:sp>
        <p:nvSpPr>
          <p:cNvPr name="Freeform 7" id="7"/>
          <p:cNvSpPr/>
          <p:nvPr/>
        </p:nvSpPr>
        <p:spPr>
          <a:xfrm flipH="false" flipV="false" rot="5400000">
            <a:off x="336054" y="6857576"/>
            <a:ext cx="3216981" cy="3641866"/>
          </a:xfrm>
          <a:custGeom>
            <a:avLst/>
            <a:gdLst/>
            <a:ahLst/>
            <a:cxnLst/>
            <a:rect r="r" b="b" t="t" l="l"/>
            <a:pathLst>
              <a:path h="3641866" w="3216981">
                <a:moveTo>
                  <a:pt x="0" y="0"/>
                </a:moveTo>
                <a:lnTo>
                  <a:pt x="3216982" y="0"/>
                </a:lnTo>
                <a:lnTo>
                  <a:pt x="3216982" y="3641866"/>
                </a:lnTo>
                <a:lnTo>
                  <a:pt x="0" y="3641866"/>
                </a:lnTo>
                <a:lnTo>
                  <a:pt x="0" y="0"/>
                </a:lnTo>
                <a:close/>
              </a:path>
            </a:pathLst>
          </a:custGeom>
          <a:blipFill>
            <a:blip r:embed="rId3"/>
            <a:stretch>
              <a:fillRect l="0" t="0" r="0" b="0"/>
            </a:stretch>
          </a:blipFill>
        </p:spPr>
      </p:sp>
      <p:sp>
        <p:nvSpPr>
          <p:cNvPr name="Freeform 8" id="8"/>
          <p:cNvSpPr/>
          <p:nvPr/>
        </p:nvSpPr>
        <p:spPr>
          <a:xfrm flipH="false" flipV="false" rot="-5400000">
            <a:off x="14858576" y="-212442"/>
            <a:ext cx="3216981" cy="3641866"/>
          </a:xfrm>
          <a:custGeom>
            <a:avLst/>
            <a:gdLst/>
            <a:ahLst/>
            <a:cxnLst/>
            <a:rect r="r" b="b" t="t" l="l"/>
            <a:pathLst>
              <a:path h="3641866" w="3216981">
                <a:moveTo>
                  <a:pt x="0" y="0"/>
                </a:moveTo>
                <a:lnTo>
                  <a:pt x="3216982" y="0"/>
                </a:lnTo>
                <a:lnTo>
                  <a:pt x="3216982" y="3641866"/>
                </a:lnTo>
                <a:lnTo>
                  <a:pt x="0" y="3641866"/>
                </a:lnTo>
                <a:lnTo>
                  <a:pt x="0" y="0"/>
                </a:lnTo>
                <a:close/>
              </a:path>
            </a:pathLst>
          </a:custGeom>
          <a:blipFill>
            <a:blip r:embed="rId3"/>
            <a:stretch>
              <a:fillRect l="0" t="0" r="0" b="0"/>
            </a:stretch>
          </a:blipFill>
        </p:spPr>
      </p:sp>
      <p:sp>
        <p:nvSpPr>
          <p:cNvPr name="Freeform 9" id="9"/>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1600" y="0"/>
            <a:ext cx="18389600" cy="10287000"/>
            <a:chOff x="0" y="0"/>
            <a:chExt cx="24519467" cy="13716000"/>
          </a:xfrm>
        </p:grpSpPr>
        <p:sp>
          <p:nvSpPr>
            <p:cNvPr name="Freeform 3" id="3" descr="preencoded.png"/>
            <p:cNvSpPr/>
            <p:nvPr/>
          </p:nvSpPr>
          <p:spPr>
            <a:xfrm flipH="false" flipV="false" rot="0">
              <a:off x="0" y="0"/>
              <a:ext cx="24519466" cy="13716000"/>
            </a:xfrm>
            <a:custGeom>
              <a:avLst/>
              <a:gdLst/>
              <a:ahLst/>
              <a:cxnLst/>
              <a:rect r="r" b="b" t="t" l="l"/>
              <a:pathLst>
                <a:path h="13716000" w="24519466">
                  <a:moveTo>
                    <a:pt x="0" y="0"/>
                  </a:moveTo>
                  <a:lnTo>
                    <a:pt x="24519466" y="0"/>
                  </a:lnTo>
                  <a:lnTo>
                    <a:pt x="24519466" y="13716000"/>
                  </a:lnTo>
                  <a:lnTo>
                    <a:pt x="0" y="13716000"/>
                  </a:lnTo>
                  <a:lnTo>
                    <a:pt x="0" y="0"/>
                  </a:lnTo>
                  <a:close/>
                </a:path>
              </a:pathLst>
            </a:custGeom>
            <a:blipFill>
              <a:blip r:embed="rId2"/>
              <a:stretch>
                <a:fillRect l="0" t="-277" r="0" b="-277"/>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77255"/>
              </a:srgbClr>
            </a:solidFill>
          </p:spPr>
        </p:sp>
      </p:grpSp>
      <p:grpSp>
        <p:nvGrpSpPr>
          <p:cNvPr name="Group 6" id="6"/>
          <p:cNvGrpSpPr/>
          <p:nvPr/>
        </p:nvGrpSpPr>
        <p:grpSpPr>
          <a:xfrm rot="0">
            <a:off x="2172802" y="914651"/>
            <a:ext cx="13840796" cy="8343649"/>
            <a:chOff x="0" y="0"/>
            <a:chExt cx="13459368" cy="8113713"/>
          </a:xfrm>
        </p:grpSpPr>
        <p:sp>
          <p:nvSpPr>
            <p:cNvPr name="Freeform 7" id="7" descr="preencoded.png"/>
            <p:cNvSpPr/>
            <p:nvPr/>
          </p:nvSpPr>
          <p:spPr>
            <a:xfrm flipH="false" flipV="false" rot="0">
              <a:off x="0" y="0"/>
              <a:ext cx="13459431" cy="8113776"/>
            </a:xfrm>
            <a:custGeom>
              <a:avLst/>
              <a:gdLst/>
              <a:ahLst/>
              <a:cxnLst/>
              <a:rect r="r" b="b" t="t" l="l"/>
              <a:pathLst>
                <a:path h="8113776" w="13459431">
                  <a:moveTo>
                    <a:pt x="0" y="0"/>
                  </a:moveTo>
                  <a:lnTo>
                    <a:pt x="13459431" y="0"/>
                  </a:lnTo>
                  <a:lnTo>
                    <a:pt x="13459431" y="8113776"/>
                  </a:lnTo>
                  <a:lnTo>
                    <a:pt x="0" y="8113776"/>
                  </a:lnTo>
                  <a:lnTo>
                    <a:pt x="0" y="0"/>
                  </a:lnTo>
                  <a:close/>
                </a:path>
              </a:pathLst>
            </a:custGeom>
            <a:blipFill>
              <a:blip r:embed="rId3">
                <a:alphaModFix amt="16000"/>
              </a:blip>
              <a:stretch>
                <a:fillRect l="0" t="-32943" r="0" b="-32941"/>
              </a:stretch>
            </a:blipFill>
          </p:spPr>
        </p:sp>
      </p:grpSp>
      <p:sp>
        <p:nvSpPr>
          <p:cNvPr name="Freeform 8" id="8"/>
          <p:cNvSpPr/>
          <p:nvPr/>
        </p:nvSpPr>
        <p:spPr>
          <a:xfrm flipH="false" flipV="false" rot="-5311911">
            <a:off x="-1476614" y="8171596"/>
            <a:ext cx="3216981" cy="3641866"/>
          </a:xfrm>
          <a:custGeom>
            <a:avLst/>
            <a:gdLst/>
            <a:ahLst/>
            <a:cxnLst/>
            <a:rect r="r" b="b" t="t" l="l"/>
            <a:pathLst>
              <a:path h="3641866" w="3216981">
                <a:moveTo>
                  <a:pt x="0" y="0"/>
                </a:moveTo>
                <a:lnTo>
                  <a:pt x="3216981" y="0"/>
                </a:lnTo>
                <a:lnTo>
                  <a:pt x="3216981" y="3641866"/>
                </a:lnTo>
                <a:lnTo>
                  <a:pt x="0" y="3641866"/>
                </a:lnTo>
                <a:lnTo>
                  <a:pt x="0" y="0"/>
                </a:lnTo>
                <a:close/>
              </a:path>
            </a:pathLst>
          </a:custGeom>
          <a:blipFill>
            <a:blip r:embed="rId4"/>
            <a:stretch>
              <a:fillRect l="0" t="0" r="0" b="0"/>
            </a:stretch>
          </a:blipFill>
        </p:spPr>
      </p:sp>
      <p:sp>
        <p:nvSpPr>
          <p:cNvPr name="Freeform 9" id="9"/>
          <p:cNvSpPr/>
          <p:nvPr/>
        </p:nvSpPr>
        <p:spPr>
          <a:xfrm flipH="false" flipV="false" rot="5400000">
            <a:off x="16031404" y="-1401056"/>
            <a:ext cx="3216981" cy="3641866"/>
          </a:xfrm>
          <a:custGeom>
            <a:avLst/>
            <a:gdLst/>
            <a:ahLst/>
            <a:cxnLst/>
            <a:rect r="r" b="b" t="t" l="l"/>
            <a:pathLst>
              <a:path h="3641866" w="3216981">
                <a:moveTo>
                  <a:pt x="0" y="0"/>
                </a:moveTo>
                <a:lnTo>
                  <a:pt x="3216982" y="0"/>
                </a:lnTo>
                <a:lnTo>
                  <a:pt x="3216982" y="3641866"/>
                </a:lnTo>
                <a:lnTo>
                  <a:pt x="0" y="3641866"/>
                </a:lnTo>
                <a:lnTo>
                  <a:pt x="0" y="0"/>
                </a:lnTo>
                <a:close/>
              </a:path>
            </a:pathLst>
          </a:custGeom>
          <a:blipFill>
            <a:blip r:embed="rId4"/>
            <a:stretch>
              <a:fillRect l="0" t="0" r="0" b="0"/>
            </a:stretch>
          </a:blipFill>
        </p:spPr>
      </p:sp>
      <p:sp>
        <p:nvSpPr>
          <p:cNvPr name="TextBox 10" id="10"/>
          <p:cNvSpPr txBox="true"/>
          <p:nvPr/>
        </p:nvSpPr>
        <p:spPr>
          <a:xfrm rot="0">
            <a:off x="4982565" y="3514268"/>
            <a:ext cx="8221270" cy="3072712"/>
          </a:xfrm>
          <a:prstGeom prst="rect">
            <a:avLst/>
          </a:prstGeom>
        </p:spPr>
        <p:txBody>
          <a:bodyPr anchor="t" rtlCol="false" tIns="0" lIns="0" bIns="0" rIns="0">
            <a:spAutoFit/>
          </a:bodyPr>
          <a:lstStyle/>
          <a:p>
            <a:pPr algn="ctr">
              <a:lnSpc>
                <a:spcPts val="11324"/>
              </a:lnSpc>
            </a:pPr>
            <a:r>
              <a:rPr lang="en-US" sz="15099" spc="-166">
                <a:solidFill>
                  <a:srgbClr val="FEFEFF"/>
                </a:solidFill>
                <a:latin typeface="Shrikhand"/>
                <a:ea typeface="Shrikhand"/>
                <a:cs typeface="Shrikhand"/>
                <a:sym typeface="Shrikhand"/>
              </a:rPr>
              <a:t>THANK</a:t>
            </a:r>
          </a:p>
          <a:p>
            <a:pPr algn="ctr">
              <a:lnSpc>
                <a:spcPts val="11324"/>
              </a:lnSpc>
            </a:pPr>
            <a:r>
              <a:rPr lang="en-US" sz="15099" spc="-166">
                <a:solidFill>
                  <a:srgbClr val="FEFEFF"/>
                </a:solidFill>
                <a:latin typeface="Shrikhand"/>
                <a:ea typeface="Shrikhand"/>
                <a:cs typeface="Shrikhand"/>
                <a:sym typeface="Shrikhand"/>
              </a:rPr>
              <a:t>YOU</a:t>
            </a:r>
          </a:p>
        </p:txBody>
      </p:sp>
      <p:sp>
        <p:nvSpPr>
          <p:cNvPr name="Freeform 11" id="11"/>
          <p:cNvSpPr/>
          <p:nvPr/>
        </p:nvSpPr>
        <p:spPr>
          <a:xfrm flipH="false" flipV="false" rot="0">
            <a:off x="17259300" y="9258300"/>
            <a:ext cx="1028700" cy="1028700"/>
          </a:xfrm>
          <a:custGeom>
            <a:avLst/>
            <a:gdLst/>
            <a:ahLst/>
            <a:cxnLst/>
            <a:rect r="r" b="b" t="t" l="l"/>
            <a:pathLst>
              <a:path h="1028700" w="1028700">
                <a:moveTo>
                  <a:pt x="0" y="0"/>
                </a:moveTo>
                <a:lnTo>
                  <a:pt x="1028700" y="0"/>
                </a:lnTo>
                <a:lnTo>
                  <a:pt x="1028700" y="1028700"/>
                </a:lnTo>
                <a:lnTo>
                  <a:pt x="0" y="1028700"/>
                </a:lnTo>
                <a:lnTo>
                  <a:pt x="0" y="0"/>
                </a:lnTo>
                <a:close/>
              </a:path>
            </a:pathLst>
          </a:custGeom>
          <a:blipFill>
            <a:blip r:embed="rId5"/>
            <a:stretch>
              <a:fillRect l="0" t="0" r="0" b="0"/>
            </a:stretch>
          </a:blipFill>
        </p:spPr>
      </p:sp>
      <p:sp>
        <p:nvSpPr>
          <p:cNvPr name="TextBox 12" id="12"/>
          <p:cNvSpPr txBox="true"/>
          <p:nvPr/>
        </p:nvSpPr>
        <p:spPr>
          <a:xfrm rot="0">
            <a:off x="7026450" y="7761925"/>
            <a:ext cx="4235100" cy="366395"/>
          </a:xfrm>
          <a:prstGeom prst="rect">
            <a:avLst/>
          </a:prstGeom>
        </p:spPr>
        <p:txBody>
          <a:bodyPr anchor="t" rtlCol="false" tIns="0" lIns="0" bIns="0" rIns="0">
            <a:spAutoFit/>
          </a:bodyPr>
          <a:lstStyle/>
          <a:p>
            <a:pPr algn="ctr">
              <a:lnSpc>
                <a:spcPts val="1869"/>
              </a:lnSpc>
            </a:pPr>
            <a:r>
              <a:rPr lang="en-US" sz="3399" spc="-169">
                <a:solidFill>
                  <a:srgbClr val="FEFEFF"/>
                </a:solidFill>
                <a:latin typeface="Times New Roman MT Condensed"/>
                <a:ea typeface="Times New Roman MT Condensed"/>
                <a:cs typeface="Times New Roman MT Condensed"/>
                <a:sym typeface="Times New Roman MT Condensed"/>
              </a:rPr>
              <a:t>Telegram ID : @mayurkr</a:t>
            </a:r>
          </a:p>
        </p:txBody>
      </p:sp>
      <p:sp>
        <p:nvSpPr>
          <p:cNvPr name="TextBox 13" id="13"/>
          <p:cNvSpPr txBox="true"/>
          <p:nvPr/>
        </p:nvSpPr>
        <p:spPr>
          <a:xfrm rot="0">
            <a:off x="7026450" y="7065889"/>
            <a:ext cx="4235100" cy="366395"/>
          </a:xfrm>
          <a:prstGeom prst="rect">
            <a:avLst/>
          </a:prstGeom>
        </p:spPr>
        <p:txBody>
          <a:bodyPr anchor="t" rtlCol="false" tIns="0" lIns="0" bIns="0" rIns="0">
            <a:spAutoFit/>
          </a:bodyPr>
          <a:lstStyle/>
          <a:p>
            <a:pPr algn="ctr">
              <a:lnSpc>
                <a:spcPts val="1869"/>
              </a:lnSpc>
            </a:pPr>
            <a:r>
              <a:rPr lang="en-US" sz="3399" spc="-169">
                <a:solidFill>
                  <a:srgbClr val="FEFEFF"/>
                </a:solidFill>
                <a:latin typeface="Times New Roman MT Condensed"/>
                <a:ea typeface="Times New Roman MT Condensed"/>
                <a:cs typeface="Times New Roman MT Condensed"/>
                <a:sym typeface="Times New Roman MT Condensed"/>
              </a:rPr>
              <a:t>Email ID : mayur@rescape.io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DAGzCIiVR3s</dc:identifier>
  <dcterms:modified xsi:type="dcterms:W3CDTF">2011-08-01T06:04:30Z</dcterms:modified>
  <cp:revision>1</cp:revision>
  <dc:title>Code Meets Capital: How Technology Has Revolutionized Finance</dc:title>
</cp:coreProperties>
</file>